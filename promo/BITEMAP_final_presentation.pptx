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【0:20】挨拶＋一言。「レビューサイトの★3.5は、みんなの平均。BITEMAPは、あなたの味覚で店を選ぶアプリです」。右の画面は本番アプリのホーム。</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50】課題は2つ。①平均点は誰の舌でもない。同じ一杯でも★5と★2の人がいて、表示されるのは★3.7。②自分の記録は続かない。入力が面倒。この2つに、記録の手間をAIで消し、たまった記録から味覚をデータ化する、という答えを出しました。</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50】使い方は3ステップ。①撮って選ぶだけ。場所は写真の位置情報から、ジャンルはAIが判定。人が入れるのは店名と★だけ。②地図とアルバムに自動で整理。③味覚でつながる。ここが核心なので次で説明し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00】核心の味覚一致率。共通で行った店の★を突き合わせ、相関と評価差から0〜100%を出します。この79%で他の人の評価を重み付けすると、同じ店が全体では★3.6、あなた向けには★4.5になる。3つの工夫：偶然の一致を防ぐ信頼度ルールは人が定義。検証では近い人79%・真逆27%。地図・ホーム・店舗詳細すべてでこの値を使ってい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【1:15】実機・実データの録画（74秒・表示は★3以上の記録のみ・BGM小音量入り）。①ホーム：味覚一致83%のバッジと「あなた向け／全体」評価 ②アルバム：自分の食日記としての写真グリッド→お店の記録 ③地図：訪問順にピンが1本ずつ増えていく → 渋谷へズーム → ピンをタップして店舗シート ④検索：ジャンル別の写真一覧 ⑤ふりかえり：統計。再生できない場合は本番URLをブラウザで開いて実演。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【0:50】AIの使い方を1枚で。①開発はClaude Codeにコードを全量書かせ、人は要望・検証・採否に専念。このループを295回。アプリ内では写真のジャンル判定にClaude APIを使い、迷ったら人が選ぶ。②プロンプトは3層：ルールはCLAUDE.mdに、要望は現象で、判定は制約で。③人の判断の代表例：2列UIの差し戻し、SVGアイコン不採用、信頼度ルール、スクロール修正の差し戻し。原則は、AIの出力は提案、採否は実機で決める。詳細は補足スライドに。</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【0:40】予選後の改善は4点、いずれも実利用で見つけたもの。特にv290→291は、1回目の修正で直ったと報告されたものを実機で差し戻し、計測で本当の原因を特定させた例。進め方は予選と同じループです。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【0:25】数字で。295バージョン、実運用で208店舗、70以上のジャンル、1回の記録は1分。本番公開済みで、制作者が毎日使っています。個人情報は本人の領域にのみ保存。</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【0:30】オリジナリティは、平均ではなく個人の味覚をデータ化する切り口と、記録のハードルをAIで極限まで下げた設計。今後はフォロー外へのおすすめ拡大と、次に行く店のAI提案。課題は正直に：Google Places API やクラウドは使うほど課金されるため、多人数への一般公開はコストの壁がある。今は利用者自身のキーと無料のOpenStreetMap検索で運用。加えて共通店数の確保とAI判定の根拠可視化。</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【0:20】まとめ3点。平均ではなく個人の味覚。AIは実装と判定、判断は人。295回のループで毎日使えるアプリに。ご清聴ありがとうございました。</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質疑応答の予備。発表では飛ばす（発表者ツールで参照）。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【0:45】AIは2か所。開発ではClaude Codeにコードを全量書かせ、人は要望・検証・採否に専念。このループを295回。アプリ内では写真のジャンル判定にClaude APIを使い、自信がなければ空欄にして人が選ぶ。AIは提案役、決定は人、が一貫した方針です。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50】プロンプト設計は3層。①CLAUDE.mdに毎回守るルールを明文化し、会話をまたいで共有。②要望は現象ベースで伝え、原因特定はAIに任せる。実物のプロンプトはこの3つ。③アプリ内の分類器はenum制約とconfidentフラグ、JSONスキーマ出力で、幻覚を出さず、迷ったら人に委ねる設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50】AIの提案をそのまま採用しなかった代表例。写真一覧の2列化は一覧性が落ちて3バージョン差し戻し。SVGアイコンは絵柄が不統一で不採用。一致率の信頼度ルールは人が定義。ジャンル判定は所有権ルール。最後は決勝までに起きた例で、1回目の修正を「まだ滑らかでない」と差し戻し、計測で原因を特定させました。共通原則は、AIの出力は提案、採否は実機で決め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質疑で「一般の人にどう伝えるか」と聞かれたときの参考。発表では使わない。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pn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slideLayout" Target="../slideLayouts/slideLayout1.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video" Target="../media/media-5-1.mp4"/><Relationship Id="rId2" Type="http://schemas.microsoft.com/office/2007/relationships/media" Target="../media/media-5-1.mp4"/><Relationship Id="rId3" Type="http://schemas.openxmlformats.org/officeDocument/2006/relationships/image" Target="../media/image-5-3.png"/><Relationship Id="rId4" Type="http://schemas.openxmlformats.org/officeDocument/2006/relationships/slideLayout" Target="../slideLayouts/slideLayout1.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Slide-10-image-1.png"/><Relationship Id="rId2" Type="http://schemas.openxmlformats.org/officeDocument/2006/relationships/image" Target="../media/image-10-2.png"/><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video" Target="../media/media-15-1.mp4"/><Relationship Id="rId2" Type="http://schemas.microsoft.com/office/2007/relationships/media" Target="../media/media-15-1.mp4"/><Relationship Id="rId3" Type="http://schemas.openxmlformats.org/officeDocument/2006/relationships/image" Target="../media/image-15-3.png"/><Relationship Id="rId4" Type="http://schemas.openxmlformats.org/officeDocument/2006/relationships/slideLayout" Target="../slideLayouts/slideLayout1.xml"/><Relationship Id="rId5"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640080" y="548640"/>
            <a:ext cx="7315200" cy="365760"/>
          </a:xfrm>
          <a:prstGeom prst="rect">
            <a:avLst/>
          </a:prstGeom>
          <a:noFill/>
          <a:ln/>
        </p:spPr>
        <p:txBody>
          <a:bodyPr wrap="square" lIns="0" tIns="0" rIns="0" bIns="0" rtlCol="0" anchor="ctr"/>
          <a:lstStyle/>
          <a:p>
            <a:pPr indent="0" marL="0">
              <a:buNone/>
            </a:pPr>
            <a:r>
              <a:rPr lang="en-US" sz="1200" b="1" spc="200" kern="0" dirty="0">
                <a:solidFill>
                  <a:srgbClr val="FFE1D2"/>
                </a:solidFill>
                <a:latin typeface="Yu Gothic" pitchFamily="34" charset="0"/>
                <a:ea typeface="Yu Gothic" pitchFamily="34" charset="-122"/>
                <a:cs typeface="Yu Gothic" pitchFamily="34" charset="-120"/>
              </a:rPr>
              <a:t>2026 AI INNOVATORS CUP @ SHIBAURA ｜ 決勝 ｜ オープンテーマ部門</a:t>
            </a:r>
            <a:endParaRPr lang="en-US" sz="1200" dirty="0"/>
          </a:p>
        </p:txBody>
      </p:sp>
      <p:sp>
        <p:nvSpPr>
          <p:cNvPr id="3" name="Text 1"/>
          <p:cNvSpPr txBox="1"/>
          <p:nvPr/>
        </p:nvSpPr>
        <p:spPr>
          <a:xfrm>
            <a:off x="640080" y="1463040"/>
            <a:ext cx="7315200" cy="1371600"/>
          </a:xfrm>
          <a:prstGeom prst="rect">
            <a:avLst/>
          </a:prstGeom>
          <a:noFill/>
          <a:ln/>
        </p:spPr>
        <p:txBody>
          <a:bodyPr wrap="square" lIns="0" tIns="0" rIns="0" bIns="0" rtlCol="0" anchor="ctr"/>
          <a:lstStyle/>
          <a:p>
            <a:pPr indent="0" marL="0">
              <a:buNone/>
            </a:pPr>
            <a:r>
              <a:rPr lang="en-US" sz="8800" b="1" spc="400" kern="0" dirty="0">
                <a:solidFill>
                  <a:srgbClr val="FFFFFF"/>
                </a:solidFill>
                <a:latin typeface="Cambria" pitchFamily="34" charset="0"/>
                <a:ea typeface="Cambria" pitchFamily="34" charset="-122"/>
                <a:cs typeface="Cambria" pitchFamily="34" charset="-120"/>
              </a:rPr>
              <a:t>BITEMAP</a:t>
            </a:r>
            <a:endParaRPr lang="en-US" sz="8800" dirty="0"/>
          </a:p>
        </p:txBody>
      </p:sp>
      <p:sp>
        <p:nvSpPr>
          <p:cNvPr id="4" name="Text 2"/>
          <p:cNvSpPr txBox="1"/>
          <p:nvPr/>
        </p:nvSpPr>
        <p:spPr>
          <a:xfrm>
            <a:off x="640080" y="2971800"/>
            <a:ext cx="7315200" cy="640080"/>
          </a:xfrm>
          <a:prstGeom prst="rect">
            <a:avLst/>
          </a:prstGeom>
          <a:noFill/>
          <a:ln/>
        </p:spPr>
        <p:txBody>
          <a:bodyPr wrap="square" lIns="0" tIns="0" rIns="0" bIns="0" rtlCol="0" anchor="t"/>
          <a:lstStyle/>
          <a:p>
            <a:pPr algn="l" indent="0" marL="0">
              <a:buNone/>
            </a:pPr>
            <a:r>
              <a:rPr lang="en-US" sz="3200" dirty="0">
                <a:solidFill>
                  <a:srgbClr val="FFFFFF"/>
                </a:solidFill>
                <a:latin typeface="Yu Gothic" pitchFamily="34" charset="0"/>
                <a:ea typeface="Yu Gothic" pitchFamily="34" charset="-122"/>
                <a:cs typeface="Yu Gothic" pitchFamily="34" charset="-120"/>
              </a:rPr>
              <a:t>その</a:t>
            </a:r>
            <a:pPr algn="l" indent="0" marL="0">
              <a:buNone/>
            </a:pPr>
            <a:r>
              <a:rPr lang="en-US" sz="3200" b="1" dirty="0">
                <a:solidFill>
                  <a:srgbClr val="FFD75E"/>
                </a:solidFill>
                <a:latin typeface="Yu Gothic" pitchFamily="34" charset="0"/>
                <a:ea typeface="Yu Gothic" pitchFamily="34" charset="-122"/>
                <a:cs typeface="Yu Gothic" pitchFamily="34" charset="-120"/>
              </a:rPr>
              <a:t>★3.5</a:t>
            </a:r>
            <a:pPr algn="l" indent="0" marL="0">
              <a:buNone/>
            </a:pPr>
            <a:r>
              <a:rPr lang="en-US" sz="3200" dirty="0">
                <a:solidFill>
                  <a:srgbClr val="FFFFFF"/>
                </a:solidFill>
                <a:latin typeface="Yu Gothic" pitchFamily="34" charset="0"/>
                <a:ea typeface="Yu Gothic" pitchFamily="34" charset="-122"/>
                <a:cs typeface="Yu Gothic" pitchFamily="34" charset="-120"/>
              </a:rPr>
              <a:t>は、みんなの平均。</a:t>
            </a:r>
            <a:endParaRPr lang="en-US" sz="3200" dirty="0"/>
          </a:p>
        </p:txBody>
      </p:sp>
      <p:sp>
        <p:nvSpPr>
          <p:cNvPr id="5" name="Text 3"/>
          <p:cNvSpPr txBox="1"/>
          <p:nvPr/>
        </p:nvSpPr>
        <p:spPr>
          <a:xfrm>
            <a:off x="640080" y="3611880"/>
            <a:ext cx="7315200" cy="548640"/>
          </a:xfrm>
          <a:prstGeom prst="rect">
            <a:avLst/>
          </a:prstGeom>
          <a:noFill/>
          <a:ln/>
        </p:spPr>
        <p:txBody>
          <a:bodyPr wrap="square" lIns="0" tIns="0" rIns="0" bIns="0" rtlCol="0" anchor="ctr"/>
          <a:lstStyle/>
          <a:p>
            <a:pPr indent="0" marL="0">
              <a:buNone/>
            </a:pPr>
            <a:r>
              <a:rPr lang="en-US" sz="2400" b="1" dirty="0">
                <a:solidFill>
                  <a:srgbClr val="FFFFFF"/>
                </a:solidFill>
                <a:latin typeface="Yu Gothic" pitchFamily="34" charset="0"/>
                <a:ea typeface="Yu Gothic" pitchFamily="34" charset="-122"/>
                <a:cs typeface="Yu Gothic" pitchFamily="34" charset="-120"/>
              </a:rPr>
              <a:t>BITEMAPは「あなたの味覚」で店を選ぶ。</a:t>
            </a:r>
            <a:endParaRPr lang="en-US" sz="2400" dirty="0"/>
          </a:p>
        </p:txBody>
      </p:sp>
      <p:sp>
        <p:nvSpPr>
          <p:cNvPr id="6" name="Text 4"/>
          <p:cNvSpPr txBox="1"/>
          <p:nvPr/>
        </p:nvSpPr>
        <p:spPr>
          <a:xfrm>
            <a:off x="640080" y="4343400"/>
            <a:ext cx="7315200" cy="822960"/>
          </a:xfrm>
          <a:prstGeom prst="rect">
            <a:avLst/>
          </a:prstGeom>
          <a:noFill/>
          <a:ln/>
        </p:spPr>
        <p:txBody>
          <a:bodyPr wrap="square" lIns="0" tIns="0" rIns="0" bIns="0" rtlCol="0" anchor="ctr"/>
          <a:lstStyle/>
          <a:p>
            <a:pPr indent="0" marL="0">
              <a:buNone/>
            </a:pPr>
            <a:r>
              <a:rPr lang="en-US" sz="1400" dirty="0">
                <a:solidFill>
                  <a:srgbClr val="FFE9DF"/>
                </a:solidFill>
                <a:latin typeface="Yu Gothic" pitchFamily="34" charset="0"/>
                <a:ea typeface="Yu Gothic" pitchFamily="34" charset="-122"/>
                <a:cs typeface="Yu Gothic" pitchFamily="34" charset="-120"/>
              </a:rPr>
              <a:t>自分だけの食の記録（アルバム・地図・統計） × 味覚一致率でパーソナライズされる評価</a:t>
            </a:r>
            <a:endParaRPr lang="en-US" sz="1400" dirty="0"/>
          </a:p>
          <a:p>
            <a:pPr indent="0" marL="0">
              <a:buNone/>
            </a:pPr>
            <a:r>
              <a:rPr lang="en-US" sz="1400" dirty="0">
                <a:solidFill>
                  <a:srgbClr val="FFE9DF"/>
                </a:solidFill>
                <a:latin typeface="Yu Gothic" pitchFamily="34" charset="0"/>
                <a:ea typeface="Yu Gothic" pitchFamily="34" charset="-122"/>
                <a:cs typeface="Yu Gothic" pitchFamily="34" charset="-120"/>
              </a:rPr>
              <a:t>AIと二人三脚で開発した PWA アプリ（本番公開・実運用中）</a:t>
            </a:r>
            <a:endParaRPr lang="en-US" sz="1400" dirty="0"/>
          </a:p>
        </p:txBody>
      </p:sp>
      <p:sp>
        <p:nvSpPr>
          <p:cNvPr id="7" name="Text 5"/>
          <p:cNvSpPr txBox="1"/>
          <p:nvPr/>
        </p:nvSpPr>
        <p:spPr>
          <a:xfrm>
            <a:off x="640080" y="5257800"/>
            <a:ext cx="7315200" cy="320040"/>
          </a:xfrm>
          <a:prstGeom prst="rect">
            <a:avLst/>
          </a:prstGeom>
          <a:noFill/>
          <a:ln/>
        </p:spPr>
        <p:txBody>
          <a:bodyPr wrap="square" lIns="0" tIns="0" rIns="0" bIns="0" rtlCol="0" anchor="ctr"/>
          <a:lstStyle/>
          <a:p>
            <a:pPr indent="0" marL="0">
              <a:buNone/>
            </a:pPr>
            <a:r>
              <a:rPr lang="en-US" sz="1100" dirty="0">
                <a:solidFill>
                  <a:srgbClr val="FFE1D2"/>
                </a:solidFill>
                <a:latin typeface="Yu Gothic" pitchFamily="34" charset="0"/>
                <a:ea typeface="Yu Gothic" pitchFamily="34" charset="-122"/>
                <a:cs typeface="Yu Gothic" pitchFamily="34" charset="-120"/>
              </a:rPr>
              <a:t>実機画面はすべて本人アカウントの実データ（208店舗）</a:t>
            </a:r>
            <a:endParaRPr lang="en-US" sz="1100" dirty="0"/>
          </a:p>
        </p:txBody>
      </p:sp>
      <p:sp>
        <p:nvSpPr>
          <p:cNvPr id="8" name="Text 6"/>
          <p:cNvSpPr txBox="1"/>
          <p:nvPr/>
        </p:nvSpPr>
        <p:spPr>
          <a:xfrm>
            <a:off x="640080" y="5760720"/>
            <a:ext cx="7315200" cy="457200"/>
          </a:xfrm>
          <a:prstGeom prst="rect">
            <a:avLst/>
          </a:prstGeom>
          <a:noFill/>
          <a:ln/>
        </p:spPr>
        <p:txBody>
          <a:bodyPr wrap="square" lIns="0" tIns="0" rIns="0" bIns="0" rtlCol="0" anchor="ctr"/>
          <a:lstStyle/>
          <a:p>
            <a:pPr indent="0" marL="0">
              <a:buNone/>
            </a:pPr>
            <a:r>
              <a:rPr lang="en-US" sz="1600" b="1" dirty="0">
                <a:solidFill>
                  <a:srgbClr val="FFFFFF"/>
                </a:solidFill>
                <a:latin typeface="Yu Gothic" pitchFamily="34" charset="0"/>
                <a:ea typeface="Yu Gothic" pitchFamily="34" charset="-122"/>
                <a:cs typeface="Yu Gothic" pitchFamily="34" charset="-120"/>
              </a:rPr>
              <a:t>［チーム名 ／ 氏名 ／ 学部学科］</a:t>
            </a:r>
            <a:endParaRPr lang="en-US" sz="1600" dirty="0"/>
          </a:p>
        </p:txBody>
      </p:sp>
      <p:sp>
        <p:nvSpPr>
          <p:cNvPr id="9" name="Shape 7"/>
          <p:cNvSpPr/>
          <p:nvPr/>
        </p:nvSpPr>
        <p:spPr>
          <a:xfrm>
            <a:off x="8860536" y="448056"/>
            <a:ext cx="2813925" cy="5961888"/>
          </a:xfrm>
          <a:prstGeom prst="roundRect">
            <a:avLst>
              <a:gd name="adj" fmla="val 7149"/>
            </a:avLst>
          </a:prstGeom>
          <a:solidFill>
            <a:srgbClr val="1F1E1D"/>
          </a:solidFill>
          <a:ln w="12700">
            <a:solidFill>
              <a:srgbClr val="1F1E1D"/>
            </a:solidFill>
            <a:prstDash val="solid"/>
          </a:ln>
          <a:effectLst>
            <a:outerShdw sx="100000" sy="100000" kx="0" ky="0" algn="bl" rotWithShape="0" blurRad="76200" dist="25400" dir="5400000">
              <a:srgbClr val="000000">
                <a:alpha val="12000"/>
              </a:srgbClr>
            </a:outerShdw>
          </a:effectLst>
        </p:spPr>
      </p:sp>
      <p:pic>
        <p:nvPicPr>
          <p:cNvPr id="10" name="Image 0" descr="/tmp/claude-0/-home-user-gourmet-app/8edbdaa3-b81a-5c49-b452-bda755b7f07f/scratchpad/real/shots/home.png">    </p:cNvPr>
          <p:cNvPicPr>
            <a:picLocks noChangeAspect="1"/>
          </p:cNvPicPr>
          <p:nvPr/>
        </p:nvPicPr>
        <p:blipFill>
          <a:blip r:embed="rId2"/>
          <a:stretch>
            <a:fillRect/>
          </a:stretch>
        </p:blipFill>
        <p:spPr>
          <a:xfrm>
            <a:off x="8915400" y="502920"/>
            <a:ext cx="2704197" cy="585216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7315200" cy="320040"/>
          </a:xfrm>
          <a:prstGeom prst="rect">
            <a:avLst/>
          </a:prstGeom>
          <a:noFill/>
          <a:ln/>
        </p:spPr>
        <p:txBody>
          <a:bodyPr wrap="square" lIns="0" tIns="0" rIns="0" bIns="0" rtlCol="0" anchor="ctr"/>
          <a:lstStyle/>
          <a:p>
            <a:pPr indent="0" marL="0">
              <a:buNone/>
            </a:pPr>
            <a:r>
              <a:rPr lang="en-US" sz="1300" b="1" spc="200" kern="0" dirty="0">
                <a:solidFill>
                  <a:srgbClr val="C6613F"/>
                </a:solidFill>
                <a:latin typeface="Yu Gothic" pitchFamily="34" charset="0"/>
                <a:ea typeface="Yu Gothic" pitchFamily="34" charset="-122"/>
                <a:cs typeface="Yu Gothic" pitchFamily="34" charset="-120"/>
              </a:rPr>
              <a:t>課題</a:t>
            </a:r>
            <a:endParaRPr lang="en-US" sz="1300" dirty="0"/>
          </a:p>
        </p:txBody>
      </p:sp>
      <p:sp>
        <p:nvSpPr>
          <p:cNvPr id="3" name="Text 1"/>
          <p:cNvSpPr txBox="1"/>
          <p:nvPr/>
        </p:nvSpPr>
        <p:spPr>
          <a:xfrm>
            <a:off x="548640" y="621792"/>
            <a:ext cx="11064240" cy="685800"/>
          </a:xfrm>
          <a:prstGeom prst="rect">
            <a:avLst/>
          </a:prstGeom>
          <a:noFill/>
          <a:ln/>
        </p:spPr>
        <p:txBody>
          <a:bodyPr wrap="square" lIns="0" tIns="0" rIns="0" bIns="0" rtlCol="0" anchor="ctr"/>
          <a:lstStyle/>
          <a:p>
            <a:pPr indent="0" marL="0">
              <a:buNone/>
            </a:pPr>
            <a:r>
              <a:rPr lang="en-US" sz="3000" b="1" dirty="0">
                <a:solidFill>
                  <a:srgbClr val="1F1E1D"/>
                </a:solidFill>
                <a:latin typeface="Yu Gothic" pitchFamily="34" charset="0"/>
                <a:ea typeface="Yu Gothic" pitchFamily="34" charset="-122"/>
                <a:cs typeface="Yu Gothic" pitchFamily="34" charset="-120"/>
              </a:rPr>
              <a:t>おいしいは、人の数だけある。</a:t>
            </a:r>
            <a:endParaRPr lang="en-US" sz="3000" dirty="0"/>
          </a:p>
        </p:txBody>
      </p:sp>
      <p:sp>
        <p:nvSpPr>
          <p:cNvPr id="4" name="Shape 2"/>
          <p:cNvSpPr/>
          <p:nvPr/>
        </p:nvSpPr>
        <p:spPr>
          <a:xfrm>
            <a:off x="548640" y="1600200"/>
            <a:ext cx="5120640" cy="2011680"/>
          </a:xfrm>
          <a:prstGeom prst="roundRect">
            <a:avLst>
              <a:gd name="adj" fmla="val 5455"/>
            </a:avLst>
          </a:prstGeom>
          <a:solidFill>
            <a:srgbClr val="FFFFFF"/>
          </a:solidFill>
          <a:ln w="12700">
            <a:solidFill>
              <a:srgbClr val="EAE3D8"/>
            </a:solidFill>
            <a:prstDash val="solid"/>
          </a:ln>
          <a:effectLst>
            <a:outerShdw sx="100000" sy="100000" kx="0" ky="0" algn="bl" rotWithShape="0" blurRad="76200" dist="25400" dir="5400000">
              <a:srgbClr val="000000">
                <a:alpha val="12000"/>
              </a:srgbClr>
            </a:outerShdw>
          </a:effectLst>
        </p:spPr>
      </p:sp>
      <p:sp>
        <p:nvSpPr>
          <p:cNvPr id="5" name="Shape 3"/>
          <p:cNvSpPr/>
          <p:nvPr/>
        </p:nvSpPr>
        <p:spPr>
          <a:xfrm>
            <a:off x="777240" y="1828800"/>
            <a:ext cx="384048" cy="384048"/>
          </a:xfrm>
          <a:prstGeom prst="ellipse">
            <a:avLst/>
          </a:prstGeom>
          <a:solidFill>
            <a:srgbClr val="C6613F"/>
          </a:solidFill>
          <a:ln w="12700">
            <a:solidFill>
              <a:srgbClr val="C6613F"/>
            </a:solidFill>
            <a:prstDash val="solid"/>
          </a:ln>
        </p:spPr>
      </p:sp>
      <p:sp>
        <p:nvSpPr>
          <p:cNvPr id="6" name="Text 4"/>
          <p:cNvSpPr txBox="1"/>
          <p:nvPr/>
        </p:nvSpPr>
        <p:spPr>
          <a:xfrm>
            <a:off x="777240" y="182880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Yu Gothic" pitchFamily="34" charset="0"/>
                <a:ea typeface="Yu Gothic" pitchFamily="34" charset="-122"/>
                <a:cs typeface="Yu Gothic" pitchFamily="34" charset="-120"/>
              </a:rPr>
              <a:t>1</a:t>
            </a:r>
            <a:endParaRPr lang="en-US" sz="1300" dirty="0"/>
          </a:p>
        </p:txBody>
      </p:sp>
      <p:sp>
        <p:nvSpPr>
          <p:cNvPr id="7" name="Text 5"/>
          <p:cNvSpPr txBox="1"/>
          <p:nvPr/>
        </p:nvSpPr>
        <p:spPr>
          <a:xfrm>
            <a:off x="1280160" y="1810512"/>
            <a:ext cx="4206240" cy="411480"/>
          </a:xfrm>
          <a:prstGeom prst="rect">
            <a:avLst/>
          </a:prstGeom>
          <a:noFill/>
          <a:ln/>
        </p:spPr>
        <p:txBody>
          <a:bodyPr wrap="square" lIns="0" tIns="0" rIns="0" bIns="0" rtlCol="0" anchor="ctr"/>
          <a:lstStyle/>
          <a:p>
            <a:pPr indent="0" marL="0">
              <a:buNone/>
            </a:pPr>
            <a:r>
              <a:rPr lang="en-US" sz="1700" b="1" dirty="0">
                <a:solidFill>
                  <a:srgbClr val="1F1E1D"/>
                </a:solidFill>
                <a:latin typeface="Yu Gothic" pitchFamily="34" charset="0"/>
                <a:ea typeface="Yu Gothic" pitchFamily="34" charset="-122"/>
                <a:cs typeface="Yu Gothic" pitchFamily="34" charset="-120"/>
              </a:rPr>
              <a:t>★の平均点は、あなたの舌ではない</a:t>
            </a:r>
            <a:endParaRPr lang="en-US" sz="1700" dirty="0"/>
          </a:p>
        </p:txBody>
      </p:sp>
      <p:sp>
        <p:nvSpPr>
          <p:cNvPr id="8" name="Text 6"/>
          <p:cNvSpPr txBox="1"/>
          <p:nvPr/>
        </p:nvSpPr>
        <p:spPr>
          <a:xfrm>
            <a:off x="777240" y="2286000"/>
            <a:ext cx="4663440" cy="1280160"/>
          </a:xfrm>
          <a:prstGeom prst="rect">
            <a:avLst/>
          </a:prstGeom>
          <a:noFill/>
          <a:ln/>
        </p:spPr>
        <p:txBody>
          <a:bodyPr wrap="square" lIns="0" tIns="0" rIns="0" bIns="0" rtlCol="0" anchor="t"/>
          <a:lstStyle/>
          <a:p>
            <a:pPr marL="342900" indent="-342900">
              <a:spcAft>
                <a:spcPts val="500"/>
              </a:spcAft>
              <a:buSzPct val="100000"/>
              <a:buChar char="•"/>
            </a:pPr>
            <a:r>
              <a:rPr lang="en-US" sz="1350" dirty="0">
                <a:solidFill>
                  <a:srgbClr val="6E6960"/>
                </a:solidFill>
                <a:latin typeface="Yu Gothic" pitchFamily="34" charset="0"/>
                <a:ea typeface="Yu Gothic" pitchFamily="34" charset="-122"/>
                <a:cs typeface="Yu Gothic" pitchFamily="34" charset="-120"/>
              </a:rPr>
              <a:t>同じ一杯でも ★5 の人と ★2 の人がいる</a:t>
            </a:r>
            <a:endParaRPr lang="en-US" sz="1350" dirty="0"/>
          </a:p>
          <a:p>
            <a:pPr marL="342900" indent="-342900">
              <a:spcAft>
                <a:spcPts val="500"/>
              </a:spcAft>
              <a:buSzPct val="100000"/>
              <a:buChar char="•"/>
            </a:pPr>
            <a:r>
              <a:rPr lang="en-US" sz="1350" dirty="0">
                <a:solidFill>
                  <a:srgbClr val="6E6960"/>
                </a:solidFill>
                <a:latin typeface="Yu Gothic" pitchFamily="34" charset="0"/>
                <a:ea typeface="Yu Gothic" pitchFamily="34" charset="-122"/>
                <a:cs typeface="Yu Gothic" pitchFamily="34" charset="-120"/>
              </a:rPr>
              <a:t>レビューサイトは「他人の平均」しか教えてくれない</a:t>
            </a:r>
            <a:endParaRPr lang="en-US" sz="1350" dirty="0"/>
          </a:p>
          <a:p>
            <a:pPr marL="342900" indent="-342900">
              <a:spcAft>
                <a:spcPts val="500"/>
              </a:spcAft>
              <a:buSzPct val="100000"/>
              <a:buChar char="•"/>
            </a:pPr>
            <a:r>
              <a:rPr lang="en-US" sz="1350" dirty="0">
                <a:solidFill>
                  <a:srgbClr val="6E6960"/>
                </a:solidFill>
                <a:latin typeface="Yu Gothic" pitchFamily="34" charset="0"/>
                <a:ea typeface="Yu Gothic" pitchFamily="34" charset="-122"/>
                <a:cs typeface="Yu Gothic" pitchFamily="34" charset="-120"/>
              </a:rPr>
              <a:t>人気店に行っても、自分には刺さらないことがある</a:t>
            </a:r>
            <a:endParaRPr lang="en-US" sz="1350" dirty="0"/>
          </a:p>
        </p:txBody>
      </p:sp>
      <p:sp>
        <p:nvSpPr>
          <p:cNvPr id="9" name="Shape 7"/>
          <p:cNvSpPr/>
          <p:nvPr/>
        </p:nvSpPr>
        <p:spPr>
          <a:xfrm>
            <a:off x="548640" y="3840480"/>
            <a:ext cx="5120640" cy="2011680"/>
          </a:xfrm>
          <a:prstGeom prst="roundRect">
            <a:avLst>
              <a:gd name="adj" fmla="val 5455"/>
            </a:avLst>
          </a:prstGeom>
          <a:solidFill>
            <a:srgbClr val="FFFFFF"/>
          </a:solidFill>
          <a:ln w="12700">
            <a:solidFill>
              <a:srgbClr val="EAE3D8"/>
            </a:solidFill>
            <a:prstDash val="solid"/>
          </a:ln>
          <a:effectLst>
            <a:outerShdw sx="100000" sy="100000" kx="0" ky="0" algn="bl" rotWithShape="0" blurRad="76200" dist="25400" dir="5400000">
              <a:srgbClr val="000000">
                <a:alpha val="12000"/>
              </a:srgbClr>
            </a:outerShdw>
          </a:effectLst>
        </p:spPr>
      </p:sp>
      <p:sp>
        <p:nvSpPr>
          <p:cNvPr id="10" name="Shape 8"/>
          <p:cNvSpPr/>
          <p:nvPr/>
        </p:nvSpPr>
        <p:spPr>
          <a:xfrm>
            <a:off x="777240" y="4069080"/>
            <a:ext cx="384048" cy="384048"/>
          </a:xfrm>
          <a:prstGeom prst="ellipse">
            <a:avLst/>
          </a:prstGeom>
          <a:solidFill>
            <a:srgbClr val="C6613F"/>
          </a:solidFill>
          <a:ln w="12700">
            <a:solidFill>
              <a:srgbClr val="C6613F"/>
            </a:solidFill>
            <a:prstDash val="solid"/>
          </a:ln>
        </p:spPr>
      </p:sp>
      <p:sp>
        <p:nvSpPr>
          <p:cNvPr id="11" name="Text 9"/>
          <p:cNvSpPr txBox="1"/>
          <p:nvPr/>
        </p:nvSpPr>
        <p:spPr>
          <a:xfrm>
            <a:off x="777240" y="406908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Yu Gothic" pitchFamily="34" charset="0"/>
                <a:ea typeface="Yu Gothic" pitchFamily="34" charset="-122"/>
                <a:cs typeface="Yu Gothic" pitchFamily="34" charset="-120"/>
              </a:rPr>
              <a:t>2</a:t>
            </a:r>
            <a:endParaRPr lang="en-US" sz="1300" dirty="0"/>
          </a:p>
        </p:txBody>
      </p:sp>
      <p:sp>
        <p:nvSpPr>
          <p:cNvPr id="12" name="Text 10"/>
          <p:cNvSpPr txBox="1"/>
          <p:nvPr/>
        </p:nvSpPr>
        <p:spPr>
          <a:xfrm>
            <a:off x="1280160" y="4050792"/>
            <a:ext cx="4206240" cy="411480"/>
          </a:xfrm>
          <a:prstGeom prst="rect">
            <a:avLst/>
          </a:prstGeom>
          <a:noFill/>
          <a:ln/>
        </p:spPr>
        <p:txBody>
          <a:bodyPr wrap="square" lIns="0" tIns="0" rIns="0" bIns="0" rtlCol="0" anchor="ctr"/>
          <a:lstStyle/>
          <a:p>
            <a:pPr indent="0" marL="0">
              <a:buNone/>
            </a:pPr>
            <a:r>
              <a:rPr lang="en-US" sz="1700" b="1" dirty="0">
                <a:solidFill>
                  <a:srgbClr val="1F1E1D"/>
                </a:solidFill>
                <a:latin typeface="Yu Gothic" pitchFamily="34" charset="0"/>
                <a:ea typeface="Yu Gothic" pitchFamily="34" charset="-122"/>
                <a:cs typeface="Yu Gothic" pitchFamily="34" charset="-120"/>
              </a:rPr>
              <a:t>自分の記録は、続かない</a:t>
            </a:r>
            <a:endParaRPr lang="en-US" sz="1700" dirty="0"/>
          </a:p>
        </p:txBody>
      </p:sp>
      <p:sp>
        <p:nvSpPr>
          <p:cNvPr id="13" name="Text 11"/>
          <p:cNvSpPr txBox="1"/>
          <p:nvPr/>
        </p:nvSpPr>
        <p:spPr>
          <a:xfrm>
            <a:off x="777240" y="4526280"/>
            <a:ext cx="4663440" cy="1280160"/>
          </a:xfrm>
          <a:prstGeom prst="rect">
            <a:avLst/>
          </a:prstGeom>
          <a:noFill/>
          <a:ln/>
        </p:spPr>
        <p:txBody>
          <a:bodyPr wrap="square" lIns="0" tIns="0" rIns="0" bIns="0" rtlCol="0" anchor="t"/>
          <a:lstStyle/>
          <a:p>
            <a:pPr marL="342900" indent="-342900">
              <a:spcAft>
                <a:spcPts val="500"/>
              </a:spcAft>
              <a:buSzPct val="100000"/>
              <a:buChar char="•"/>
            </a:pPr>
            <a:r>
              <a:rPr lang="en-US" sz="1350" dirty="0">
                <a:solidFill>
                  <a:srgbClr val="6E6960"/>
                </a:solidFill>
                <a:latin typeface="Yu Gothic" pitchFamily="34" charset="0"/>
                <a:ea typeface="Yu Gothic" pitchFamily="34" charset="-122"/>
                <a:cs typeface="Yu Gothic" pitchFamily="34" charset="-120"/>
              </a:rPr>
              <a:t>食べた記録は写真フォルダに埋もれる</a:t>
            </a:r>
            <a:endParaRPr lang="en-US" sz="1350" dirty="0"/>
          </a:p>
          <a:p>
            <a:pPr marL="342900" indent="-342900">
              <a:spcAft>
                <a:spcPts val="500"/>
              </a:spcAft>
              <a:buSzPct val="100000"/>
              <a:buChar char="•"/>
            </a:pPr>
            <a:r>
              <a:rPr lang="en-US" sz="1350" dirty="0">
                <a:solidFill>
                  <a:srgbClr val="6E6960"/>
                </a:solidFill>
                <a:latin typeface="Yu Gothic" pitchFamily="34" charset="0"/>
                <a:ea typeface="Yu Gothic" pitchFamily="34" charset="-122"/>
                <a:cs typeface="Yu Gothic" pitchFamily="34" charset="-120"/>
              </a:rPr>
              <a:t>記録アプリは店名・住所・ジャンル…入力が面倒で三日坊主</a:t>
            </a:r>
            <a:endParaRPr lang="en-US" sz="1350" dirty="0"/>
          </a:p>
          <a:p>
            <a:pPr marL="342900" indent="-342900">
              <a:spcAft>
                <a:spcPts val="500"/>
              </a:spcAft>
              <a:buSzPct val="100000"/>
              <a:buChar char="•"/>
            </a:pPr>
            <a:r>
              <a:rPr lang="en-US" sz="1350" dirty="0">
                <a:solidFill>
                  <a:srgbClr val="6E6960"/>
                </a:solidFill>
                <a:latin typeface="Yu Gothic" pitchFamily="34" charset="0"/>
                <a:ea typeface="Yu Gothic" pitchFamily="34" charset="-122"/>
                <a:cs typeface="Yu Gothic" pitchFamily="34" charset="-120"/>
              </a:rPr>
              <a:t>「自分の味覚」はデータとして残らない</a:t>
            </a:r>
            <a:endParaRPr lang="en-US" sz="1350" dirty="0"/>
          </a:p>
        </p:txBody>
      </p:sp>
      <p:pic>
        <p:nvPicPr>
          <p:cNvPr id="14" name="Image 0" descr="/tmp/claude-0/-home-user-gourmet-app/8edbdaa3-b81a-5c49-b452-bda755b7f07f/scratchpad/final/shots/insight.png">    </p:cNvPr>
          <p:cNvPicPr>
            <a:picLocks noChangeAspect="1"/>
          </p:cNvPicPr>
          <p:nvPr/>
        </p:nvPicPr>
        <p:blipFill>
          <a:blip r:embed="rId1"/>
          <a:stretch>
            <a:fillRect/>
          </a:stretch>
        </p:blipFill>
        <p:spPr>
          <a:xfrm>
            <a:off x="5943600" y="1600200"/>
            <a:ext cx="5715000" cy="3218688"/>
          </a:xfrm>
          <a:prstGeom prst="rect">
            <a:avLst/>
          </a:prstGeom>
          <a:effectLst>
            <a:outerShdw sx="100000" sy="100000" kx="0" ky="0" algn="bl" rotWithShape="0" blurRad="76200" dist="25400" dir="5400000">
              <a:srgbClr val="000000">
                <a:alpha val="12000"/>
              </a:srgbClr>
            </a:outerShdw>
          </a:effectLst>
        </p:spPr>
      </p:pic>
      <p:sp>
        <p:nvSpPr>
          <p:cNvPr id="15" name="Text 12"/>
          <p:cNvSpPr txBox="1"/>
          <p:nvPr/>
        </p:nvSpPr>
        <p:spPr>
          <a:xfrm>
            <a:off x="5943600" y="4937760"/>
            <a:ext cx="5715000" cy="365760"/>
          </a:xfrm>
          <a:prstGeom prst="rect">
            <a:avLst/>
          </a:prstGeom>
          <a:noFill/>
          <a:ln/>
        </p:spPr>
        <p:txBody>
          <a:bodyPr wrap="square" lIns="0" tIns="0" rIns="0" bIns="0" rtlCol="0" anchor="ctr"/>
          <a:lstStyle/>
          <a:p>
            <a:pPr algn="ctr" indent="0" marL="0">
              <a:buNone/>
            </a:pPr>
            <a:r>
              <a:rPr lang="en-US" sz="1150" dirty="0">
                <a:solidFill>
                  <a:srgbClr val="8A857D"/>
                </a:solidFill>
                <a:latin typeface="Yu Gothic" pitchFamily="34" charset="0"/>
                <a:ea typeface="Yu Gothic" pitchFamily="34" charset="-122"/>
                <a:cs typeface="Yu Gothic" pitchFamily="34" charset="-120"/>
              </a:rPr>
              <a:t>同じ一杯を3人が食べたら ★5.0／★2.0／★4.0 ― サイトの表示は「★3.7」</a:t>
            </a:r>
            <a:endParaRPr lang="en-US" sz="1150" dirty="0"/>
          </a:p>
        </p:txBody>
      </p:sp>
      <p:sp>
        <p:nvSpPr>
          <p:cNvPr id="16" name="Text 13"/>
          <p:cNvSpPr txBox="1"/>
          <p:nvPr/>
        </p:nvSpPr>
        <p:spPr>
          <a:xfrm>
            <a:off x="5943600" y="5440680"/>
            <a:ext cx="5715000" cy="822960"/>
          </a:xfrm>
          <a:prstGeom prst="rect">
            <a:avLst/>
          </a:prstGeom>
          <a:noFill/>
          <a:ln/>
        </p:spPr>
        <p:txBody>
          <a:bodyPr wrap="square" lIns="0" tIns="0" rIns="0" bIns="0" rtlCol="0" anchor="t"/>
          <a:lstStyle/>
          <a:p>
            <a:pPr algn="l" indent="0" marL="0">
              <a:buNone/>
            </a:pPr>
            <a:r>
              <a:rPr lang="en-US" sz="1400" b="1" dirty="0">
                <a:solidFill>
                  <a:srgbClr val="C6613F"/>
                </a:solidFill>
                <a:latin typeface="Yu Gothic" pitchFamily="34" charset="0"/>
                <a:ea typeface="Yu Gothic" pitchFamily="34" charset="-122"/>
                <a:cs typeface="Yu Gothic" pitchFamily="34" charset="-120"/>
              </a:rPr>
              <a:t>BITEMAPの答え：</a:t>
            </a:r>
            <a:pPr algn="l" indent="0" marL="0">
              <a:buNone/>
            </a:pPr>
            <a:r>
              <a:rPr lang="en-US" sz="1400" dirty="0">
                <a:solidFill>
                  <a:srgbClr val="1F1E1D"/>
                </a:solidFill>
                <a:latin typeface="Yu Gothic" pitchFamily="34" charset="0"/>
                <a:ea typeface="Yu Gothic" pitchFamily="34" charset="-122"/>
                <a:cs typeface="Yu Gothic" pitchFamily="34" charset="-120"/>
              </a:rPr>
              <a:t>①記録の手間はAIが消す　②たまった記録から「自分の味覚」をデータ化する　③自分の食日記としても、SNSとしても使える</a:t>
            </a:r>
            <a:endParaRPr lang="en-US" sz="1400" dirty="0"/>
          </a:p>
        </p:txBody>
      </p:sp>
      <p:sp>
        <p:nvSpPr>
          <p:cNvPr id="17" name="Text 14"/>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8A857D"/>
                </a:solidFill>
                <a:latin typeface="Yu Gothic" pitchFamily="34" charset="0"/>
                <a:ea typeface="Yu Gothic" pitchFamily="34" charset="-122"/>
                <a:cs typeface="Yu Gothic" pitchFamily="34" charset="-120"/>
              </a:rPr>
              <a:t>BITEMAP ｜ 2026 AI Innovators Cup @ Shibaura 決勝</a:t>
            </a:r>
            <a:endParaRPr lang="en-US" sz="900" dirty="0"/>
          </a:p>
        </p:txBody>
      </p:sp>
      <p:sp>
        <p:nvSpPr>
          <p:cNvPr id="18" name="Text 15"/>
          <p:cNvSpPr txBox="1"/>
          <p:nvPr/>
        </p:nvSpPr>
        <p:spPr>
          <a:xfrm>
            <a:off x="11155680" y="6446520"/>
            <a:ext cx="457200" cy="274320"/>
          </a:xfrm>
          <a:prstGeom prst="rect">
            <a:avLst/>
          </a:prstGeom>
          <a:noFill/>
          <a:ln/>
        </p:spPr>
        <p:txBody>
          <a:bodyPr wrap="square" lIns="0" tIns="0" rIns="0" bIns="0" rtlCol="0" anchor="ctr"/>
          <a:lstStyle/>
          <a:p>
            <a:pPr algn="r" indent="0" marL="0">
              <a:buNone/>
            </a:pPr>
            <a:r>
              <a:rPr lang="en-US" sz="900" dirty="0">
                <a:solidFill>
                  <a:srgbClr val="8A857D"/>
                </a:solidFill>
                <a:latin typeface="Yu Gothic" pitchFamily="34" charset="0"/>
                <a:ea typeface="Yu Gothic" pitchFamily="34" charset="-122"/>
                <a:cs typeface="Yu Gothic"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7315200" cy="320040"/>
          </a:xfrm>
          <a:prstGeom prst="rect">
            <a:avLst/>
          </a:prstGeom>
          <a:noFill/>
          <a:ln/>
        </p:spPr>
        <p:txBody>
          <a:bodyPr wrap="square" lIns="0" tIns="0" rIns="0" bIns="0" rtlCol="0" anchor="ctr"/>
          <a:lstStyle/>
          <a:p>
            <a:pPr indent="0" marL="0">
              <a:buNone/>
            </a:pPr>
            <a:r>
              <a:rPr lang="en-US" sz="1300" b="1" spc="200" kern="0" dirty="0">
                <a:solidFill>
                  <a:srgbClr val="C6613F"/>
                </a:solidFill>
                <a:latin typeface="Yu Gothic" pitchFamily="34" charset="0"/>
                <a:ea typeface="Yu Gothic" pitchFamily="34" charset="-122"/>
                <a:cs typeface="Yu Gothic" pitchFamily="34" charset="-120"/>
              </a:rPr>
              <a:t>BITEMAP とは</a:t>
            </a:r>
            <a:endParaRPr lang="en-US" sz="1300" dirty="0"/>
          </a:p>
        </p:txBody>
      </p:sp>
      <p:sp>
        <p:nvSpPr>
          <p:cNvPr id="3" name="Text 1"/>
          <p:cNvSpPr txBox="1"/>
          <p:nvPr/>
        </p:nvSpPr>
        <p:spPr>
          <a:xfrm>
            <a:off x="548640" y="621792"/>
            <a:ext cx="11064240" cy="685800"/>
          </a:xfrm>
          <a:prstGeom prst="rect">
            <a:avLst/>
          </a:prstGeom>
          <a:noFill/>
          <a:ln/>
        </p:spPr>
        <p:txBody>
          <a:bodyPr wrap="square" lIns="0" tIns="0" rIns="0" bIns="0" rtlCol="0" anchor="ctr"/>
          <a:lstStyle/>
          <a:p>
            <a:pPr indent="0" marL="0">
              <a:buNone/>
            </a:pPr>
            <a:r>
              <a:rPr lang="en-US" sz="3000" b="1" dirty="0">
                <a:solidFill>
                  <a:srgbClr val="1F1E1D"/>
                </a:solidFill>
                <a:latin typeface="Yu Gothic" pitchFamily="34" charset="0"/>
                <a:ea typeface="Yu Gothic" pitchFamily="34" charset="-122"/>
                <a:cs typeface="Yu Gothic" pitchFamily="34" charset="-120"/>
              </a:rPr>
              <a:t>撮るだけで、グルメ地図が育つ</a:t>
            </a:r>
            <a:endParaRPr lang="en-US" sz="3000" dirty="0"/>
          </a:p>
        </p:txBody>
      </p:sp>
      <p:sp>
        <p:nvSpPr>
          <p:cNvPr id="4" name="Shape 2"/>
          <p:cNvSpPr/>
          <p:nvPr/>
        </p:nvSpPr>
        <p:spPr>
          <a:xfrm>
            <a:off x="548640" y="1508760"/>
            <a:ext cx="3566160" cy="4800600"/>
          </a:xfrm>
          <a:prstGeom prst="roundRect">
            <a:avLst>
              <a:gd name="adj" fmla="val 3077"/>
            </a:avLst>
          </a:prstGeom>
          <a:solidFill>
            <a:srgbClr val="FFFFFF"/>
          </a:solidFill>
          <a:ln w="12700">
            <a:solidFill>
              <a:srgbClr val="EAE3D8"/>
            </a:solidFill>
            <a:prstDash val="solid"/>
          </a:ln>
          <a:effectLst>
            <a:outerShdw sx="100000" sy="100000" kx="0" ky="0" algn="bl" rotWithShape="0" blurRad="76200" dist="25400" dir="5400000">
              <a:srgbClr val="000000">
                <a:alpha val="12000"/>
              </a:srgbClr>
            </a:outerShdw>
          </a:effectLst>
        </p:spPr>
      </p:sp>
      <p:sp>
        <p:nvSpPr>
          <p:cNvPr id="5" name="Shape 3"/>
          <p:cNvSpPr/>
          <p:nvPr/>
        </p:nvSpPr>
        <p:spPr>
          <a:xfrm>
            <a:off x="777240" y="1737360"/>
            <a:ext cx="384048" cy="384048"/>
          </a:xfrm>
          <a:prstGeom prst="ellipse">
            <a:avLst/>
          </a:prstGeom>
          <a:solidFill>
            <a:srgbClr val="C6613F"/>
          </a:solidFill>
          <a:ln w="12700">
            <a:solidFill>
              <a:srgbClr val="C6613F"/>
            </a:solidFill>
            <a:prstDash val="solid"/>
          </a:ln>
        </p:spPr>
      </p:sp>
      <p:sp>
        <p:nvSpPr>
          <p:cNvPr id="6" name="Text 4"/>
          <p:cNvSpPr txBox="1"/>
          <p:nvPr/>
        </p:nvSpPr>
        <p:spPr>
          <a:xfrm>
            <a:off x="777240" y="173736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Yu Gothic" pitchFamily="34" charset="0"/>
                <a:ea typeface="Yu Gothic" pitchFamily="34" charset="-122"/>
                <a:cs typeface="Yu Gothic" pitchFamily="34" charset="-120"/>
              </a:rPr>
              <a:t>1</a:t>
            </a:r>
            <a:endParaRPr lang="en-US" sz="1300" dirty="0"/>
          </a:p>
        </p:txBody>
      </p:sp>
      <p:sp>
        <p:nvSpPr>
          <p:cNvPr id="7" name="Text 5"/>
          <p:cNvSpPr txBox="1"/>
          <p:nvPr/>
        </p:nvSpPr>
        <p:spPr>
          <a:xfrm>
            <a:off x="1261872" y="1719072"/>
            <a:ext cx="2743200" cy="411480"/>
          </a:xfrm>
          <a:prstGeom prst="rect">
            <a:avLst/>
          </a:prstGeom>
          <a:noFill/>
          <a:ln/>
        </p:spPr>
        <p:txBody>
          <a:bodyPr wrap="square" lIns="0" tIns="0" rIns="0" bIns="0" rtlCol="0" anchor="ctr"/>
          <a:lstStyle/>
          <a:p>
            <a:pPr indent="0" marL="0">
              <a:buNone/>
            </a:pPr>
            <a:r>
              <a:rPr lang="en-US" sz="1700" b="1" dirty="0">
                <a:solidFill>
                  <a:srgbClr val="1F1E1D"/>
                </a:solidFill>
                <a:latin typeface="Yu Gothic" pitchFamily="34" charset="0"/>
                <a:ea typeface="Yu Gothic" pitchFamily="34" charset="-122"/>
                <a:cs typeface="Yu Gothic" pitchFamily="34" charset="-120"/>
              </a:rPr>
              <a:t>撮って選ぶだけ</a:t>
            </a:r>
            <a:endParaRPr lang="en-US" sz="1700" dirty="0"/>
          </a:p>
        </p:txBody>
      </p:sp>
      <p:sp>
        <p:nvSpPr>
          <p:cNvPr id="8" name="Text 6"/>
          <p:cNvSpPr txBox="1"/>
          <p:nvPr/>
        </p:nvSpPr>
        <p:spPr>
          <a:xfrm>
            <a:off x="777240" y="2194560"/>
            <a:ext cx="3108960" cy="960120"/>
          </a:xfrm>
          <a:prstGeom prst="rect">
            <a:avLst/>
          </a:prstGeom>
          <a:noFill/>
          <a:ln/>
        </p:spPr>
        <p:txBody>
          <a:bodyPr wrap="square" lIns="0" tIns="0" rIns="0" bIns="0" rtlCol="0" anchor="ctr"/>
          <a:lstStyle/>
          <a:p>
            <a:pPr indent="0" marL="0">
              <a:buNone/>
            </a:pPr>
            <a:r>
              <a:rPr lang="en-US" sz="1150" dirty="0">
                <a:solidFill>
                  <a:srgbClr val="6E6960"/>
                </a:solidFill>
                <a:latin typeface="Yu Gothic" pitchFamily="34" charset="0"/>
                <a:ea typeface="Yu Gothic" pitchFamily="34" charset="-122"/>
                <a:cs typeface="Yu Gothic" pitchFamily="34" charset="-120"/>
              </a:rPr>
              <a:t>写真のEXIF位置から周辺の店を自動提示。料理ジャンルはAIが写真から判定。手で入れるのは店名と★だけ（0.5刻み）。</a:t>
            </a:r>
            <a:endParaRPr lang="en-US" sz="1150" dirty="0"/>
          </a:p>
        </p:txBody>
      </p:sp>
      <p:sp>
        <p:nvSpPr>
          <p:cNvPr id="9" name="Shape 7"/>
          <p:cNvSpPr/>
          <p:nvPr/>
        </p:nvSpPr>
        <p:spPr>
          <a:xfrm>
            <a:off x="1682496" y="3191256"/>
            <a:ext cx="1440700" cy="2990088"/>
          </a:xfrm>
          <a:prstGeom prst="roundRect">
            <a:avLst>
              <a:gd name="adj" fmla="val 13963"/>
            </a:avLst>
          </a:prstGeom>
          <a:solidFill>
            <a:srgbClr val="1F1E1D"/>
          </a:solidFill>
          <a:ln w="12700">
            <a:solidFill>
              <a:srgbClr val="1F1E1D"/>
            </a:solidFill>
            <a:prstDash val="solid"/>
          </a:ln>
          <a:effectLst>
            <a:outerShdw sx="100000" sy="100000" kx="0" ky="0" algn="bl" rotWithShape="0" blurRad="76200" dist="25400" dir="5400000">
              <a:srgbClr val="000000">
                <a:alpha val="12000"/>
              </a:srgbClr>
            </a:outerShdw>
          </a:effectLst>
        </p:spPr>
      </p:sp>
      <p:pic>
        <p:nvPicPr>
          <p:cNvPr id="10" name="Image 0" descr="/tmp/claude-0/-home-user-gourmet-app/8edbdaa3-b81a-5c49-b452-bda755b7f07f/scratchpad/final/shots/register.png">    </p:cNvPr>
          <p:cNvPicPr>
            <a:picLocks noChangeAspect="1"/>
          </p:cNvPicPr>
          <p:nvPr/>
        </p:nvPicPr>
        <p:blipFill>
          <a:blip r:embed="rId1"/>
          <a:stretch>
            <a:fillRect/>
          </a:stretch>
        </p:blipFill>
        <p:spPr>
          <a:xfrm>
            <a:off x="1737360" y="3246120"/>
            <a:ext cx="1330972" cy="2880360"/>
          </a:xfrm>
          <a:prstGeom prst="rect">
            <a:avLst/>
          </a:prstGeom>
        </p:spPr>
      </p:pic>
      <p:sp>
        <p:nvSpPr>
          <p:cNvPr id="11" name="Shape 8"/>
          <p:cNvSpPr/>
          <p:nvPr/>
        </p:nvSpPr>
        <p:spPr>
          <a:xfrm>
            <a:off x="4315968" y="1508760"/>
            <a:ext cx="3566160" cy="4800600"/>
          </a:xfrm>
          <a:prstGeom prst="roundRect">
            <a:avLst>
              <a:gd name="adj" fmla="val 3077"/>
            </a:avLst>
          </a:prstGeom>
          <a:solidFill>
            <a:srgbClr val="FFFFFF"/>
          </a:solidFill>
          <a:ln w="12700">
            <a:solidFill>
              <a:srgbClr val="EAE3D8"/>
            </a:solidFill>
            <a:prstDash val="solid"/>
          </a:ln>
          <a:effectLst>
            <a:outerShdw sx="100000" sy="100000" kx="0" ky="0" algn="bl" rotWithShape="0" blurRad="76200" dist="25400" dir="5400000">
              <a:srgbClr val="000000">
                <a:alpha val="12000"/>
              </a:srgbClr>
            </a:outerShdw>
          </a:effectLst>
        </p:spPr>
      </p:sp>
      <p:sp>
        <p:nvSpPr>
          <p:cNvPr id="12" name="Shape 9"/>
          <p:cNvSpPr/>
          <p:nvPr/>
        </p:nvSpPr>
        <p:spPr>
          <a:xfrm>
            <a:off x="4544568" y="1737360"/>
            <a:ext cx="384048" cy="384048"/>
          </a:xfrm>
          <a:prstGeom prst="ellipse">
            <a:avLst/>
          </a:prstGeom>
          <a:solidFill>
            <a:srgbClr val="C6613F"/>
          </a:solidFill>
          <a:ln w="12700">
            <a:solidFill>
              <a:srgbClr val="C6613F"/>
            </a:solidFill>
            <a:prstDash val="solid"/>
          </a:ln>
        </p:spPr>
      </p:sp>
      <p:sp>
        <p:nvSpPr>
          <p:cNvPr id="13" name="Text 10"/>
          <p:cNvSpPr txBox="1"/>
          <p:nvPr/>
        </p:nvSpPr>
        <p:spPr>
          <a:xfrm>
            <a:off x="4544568" y="173736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Yu Gothic" pitchFamily="34" charset="0"/>
                <a:ea typeface="Yu Gothic" pitchFamily="34" charset="-122"/>
                <a:cs typeface="Yu Gothic" pitchFamily="34" charset="-120"/>
              </a:rPr>
              <a:t>2</a:t>
            </a:r>
            <a:endParaRPr lang="en-US" sz="1300" dirty="0"/>
          </a:p>
        </p:txBody>
      </p:sp>
      <p:sp>
        <p:nvSpPr>
          <p:cNvPr id="14" name="Text 11"/>
          <p:cNvSpPr txBox="1"/>
          <p:nvPr/>
        </p:nvSpPr>
        <p:spPr>
          <a:xfrm>
            <a:off x="5029200" y="1719072"/>
            <a:ext cx="2743200" cy="411480"/>
          </a:xfrm>
          <a:prstGeom prst="rect">
            <a:avLst/>
          </a:prstGeom>
          <a:noFill/>
          <a:ln/>
        </p:spPr>
        <p:txBody>
          <a:bodyPr wrap="square" lIns="0" tIns="0" rIns="0" bIns="0" rtlCol="0" anchor="ctr"/>
          <a:lstStyle/>
          <a:p>
            <a:pPr indent="0" marL="0">
              <a:buNone/>
            </a:pPr>
            <a:r>
              <a:rPr lang="en-US" sz="1700" b="1" dirty="0">
                <a:solidFill>
                  <a:srgbClr val="1F1E1D"/>
                </a:solidFill>
                <a:latin typeface="Yu Gothic" pitchFamily="34" charset="0"/>
                <a:ea typeface="Yu Gothic" pitchFamily="34" charset="-122"/>
                <a:cs typeface="Yu Gothic" pitchFamily="34" charset="-120"/>
              </a:rPr>
              <a:t>自分の記録が育つ</a:t>
            </a:r>
            <a:endParaRPr lang="en-US" sz="1700" dirty="0"/>
          </a:p>
        </p:txBody>
      </p:sp>
      <p:sp>
        <p:nvSpPr>
          <p:cNvPr id="15" name="Text 12"/>
          <p:cNvSpPr txBox="1"/>
          <p:nvPr/>
        </p:nvSpPr>
        <p:spPr>
          <a:xfrm>
            <a:off x="4544568" y="2194560"/>
            <a:ext cx="3108960" cy="960120"/>
          </a:xfrm>
          <a:prstGeom prst="rect">
            <a:avLst/>
          </a:prstGeom>
          <a:noFill/>
          <a:ln/>
        </p:spPr>
        <p:txBody>
          <a:bodyPr wrap="square" lIns="0" tIns="0" rIns="0" bIns="0" rtlCol="0" anchor="ctr"/>
          <a:lstStyle/>
          <a:p>
            <a:pPr indent="0" marL="0">
              <a:buNone/>
            </a:pPr>
            <a:r>
              <a:rPr lang="en-US" sz="1150" dirty="0">
                <a:solidFill>
                  <a:srgbClr val="6E6960"/>
                </a:solidFill>
                <a:latin typeface="Yu Gothic" pitchFamily="34" charset="0"/>
                <a:ea typeface="Yu Gothic" pitchFamily="34" charset="-122"/>
                <a:cs typeface="Yu Gothic" pitchFamily="34" charset="-120"/>
              </a:rPr>
              <a:t>訪問店は評価色のピンに。写真は店ごとに自動整理され、「いつ・何を・何点」がすぐ見返せる。SNSであると同時に、自分だけの食日記・地図・統計として毎日使える。</a:t>
            </a:r>
            <a:endParaRPr lang="en-US" sz="1150" dirty="0"/>
          </a:p>
        </p:txBody>
      </p:sp>
      <p:sp>
        <p:nvSpPr>
          <p:cNvPr id="16" name="Shape 13"/>
          <p:cNvSpPr/>
          <p:nvPr/>
        </p:nvSpPr>
        <p:spPr>
          <a:xfrm>
            <a:off x="5449824" y="3191256"/>
            <a:ext cx="1440700" cy="2990088"/>
          </a:xfrm>
          <a:prstGeom prst="roundRect">
            <a:avLst>
              <a:gd name="adj" fmla="val 13963"/>
            </a:avLst>
          </a:prstGeom>
          <a:solidFill>
            <a:srgbClr val="1F1E1D"/>
          </a:solidFill>
          <a:ln w="12700">
            <a:solidFill>
              <a:srgbClr val="1F1E1D"/>
            </a:solidFill>
            <a:prstDash val="solid"/>
          </a:ln>
          <a:effectLst>
            <a:outerShdw sx="100000" sy="100000" kx="0" ky="0" algn="bl" rotWithShape="0" blurRad="76200" dist="25400" dir="5400000">
              <a:srgbClr val="000000">
                <a:alpha val="12000"/>
              </a:srgbClr>
            </a:outerShdw>
          </a:effectLst>
        </p:spPr>
      </p:sp>
      <p:pic>
        <p:nvPicPr>
          <p:cNvPr id="17" name="Image 1" descr="/tmp/claude-0/-home-user-gourmet-app/8edbdaa3-b81a-5c49-b452-bda755b7f07f/scratchpad/real/shots/map.png">    </p:cNvPr>
          <p:cNvPicPr>
            <a:picLocks noChangeAspect="1"/>
          </p:cNvPicPr>
          <p:nvPr/>
        </p:nvPicPr>
        <p:blipFill>
          <a:blip r:embed="rId2"/>
          <a:stretch>
            <a:fillRect/>
          </a:stretch>
        </p:blipFill>
        <p:spPr>
          <a:xfrm>
            <a:off x="5504688" y="3246120"/>
            <a:ext cx="1330972" cy="2880360"/>
          </a:xfrm>
          <a:prstGeom prst="rect">
            <a:avLst/>
          </a:prstGeom>
        </p:spPr>
      </p:pic>
      <p:sp>
        <p:nvSpPr>
          <p:cNvPr id="18" name="Shape 14"/>
          <p:cNvSpPr/>
          <p:nvPr/>
        </p:nvSpPr>
        <p:spPr>
          <a:xfrm>
            <a:off x="8083296" y="1508760"/>
            <a:ext cx="3566160" cy="4800600"/>
          </a:xfrm>
          <a:prstGeom prst="roundRect">
            <a:avLst>
              <a:gd name="adj" fmla="val 3077"/>
            </a:avLst>
          </a:prstGeom>
          <a:solidFill>
            <a:srgbClr val="FFFFFF"/>
          </a:solidFill>
          <a:ln w="12700">
            <a:solidFill>
              <a:srgbClr val="EAE3D8"/>
            </a:solidFill>
            <a:prstDash val="solid"/>
          </a:ln>
          <a:effectLst>
            <a:outerShdw sx="100000" sy="100000" kx="0" ky="0" algn="bl" rotWithShape="0" blurRad="76200" dist="25400" dir="5400000">
              <a:srgbClr val="000000">
                <a:alpha val="12000"/>
              </a:srgbClr>
            </a:outerShdw>
          </a:effectLst>
        </p:spPr>
      </p:sp>
      <p:sp>
        <p:nvSpPr>
          <p:cNvPr id="19" name="Shape 15"/>
          <p:cNvSpPr/>
          <p:nvPr/>
        </p:nvSpPr>
        <p:spPr>
          <a:xfrm>
            <a:off x="8311896" y="1737360"/>
            <a:ext cx="384048" cy="384048"/>
          </a:xfrm>
          <a:prstGeom prst="ellipse">
            <a:avLst/>
          </a:prstGeom>
          <a:solidFill>
            <a:srgbClr val="C6613F"/>
          </a:solidFill>
          <a:ln w="12700">
            <a:solidFill>
              <a:srgbClr val="C6613F"/>
            </a:solidFill>
            <a:prstDash val="solid"/>
          </a:ln>
        </p:spPr>
      </p:sp>
      <p:sp>
        <p:nvSpPr>
          <p:cNvPr id="20" name="Text 16"/>
          <p:cNvSpPr txBox="1"/>
          <p:nvPr/>
        </p:nvSpPr>
        <p:spPr>
          <a:xfrm>
            <a:off x="8311896" y="173736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Yu Gothic" pitchFamily="34" charset="0"/>
                <a:ea typeface="Yu Gothic" pitchFamily="34" charset="-122"/>
                <a:cs typeface="Yu Gothic" pitchFamily="34" charset="-120"/>
              </a:rPr>
              <a:t>3</a:t>
            </a:r>
            <a:endParaRPr lang="en-US" sz="1300" dirty="0"/>
          </a:p>
        </p:txBody>
      </p:sp>
      <p:sp>
        <p:nvSpPr>
          <p:cNvPr id="21" name="Text 17"/>
          <p:cNvSpPr txBox="1"/>
          <p:nvPr/>
        </p:nvSpPr>
        <p:spPr>
          <a:xfrm>
            <a:off x="8796528" y="1719072"/>
            <a:ext cx="2743200" cy="411480"/>
          </a:xfrm>
          <a:prstGeom prst="rect">
            <a:avLst/>
          </a:prstGeom>
          <a:noFill/>
          <a:ln/>
        </p:spPr>
        <p:txBody>
          <a:bodyPr wrap="square" lIns="0" tIns="0" rIns="0" bIns="0" rtlCol="0" anchor="ctr"/>
          <a:lstStyle/>
          <a:p>
            <a:pPr indent="0" marL="0">
              <a:buNone/>
            </a:pPr>
            <a:r>
              <a:rPr lang="en-US" sz="1700" b="1" dirty="0">
                <a:solidFill>
                  <a:srgbClr val="1F1E1D"/>
                </a:solidFill>
                <a:latin typeface="Yu Gothic" pitchFamily="34" charset="0"/>
                <a:ea typeface="Yu Gothic" pitchFamily="34" charset="-122"/>
                <a:cs typeface="Yu Gothic" pitchFamily="34" charset="-120"/>
              </a:rPr>
              <a:t>味覚でつながる</a:t>
            </a:r>
            <a:endParaRPr lang="en-US" sz="1700" dirty="0"/>
          </a:p>
        </p:txBody>
      </p:sp>
      <p:sp>
        <p:nvSpPr>
          <p:cNvPr id="22" name="Text 18"/>
          <p:cNvSpPr txBox="1"/>
          <p:nvPr/>
        </p:nvSpPr>
        <p:spPr>
          <a:xfrm>
            <a:off x="8311896" y="2194560"/>
            <a:ext cx="3108960" cy="960120"/>
          </a:xfrm>
          <a:prstGeom prst="rect">
            <a:avLst/>
          </a:prstGeom>
          <a:noFill/>
          <a:ln/>
        </p:spPr>
        <p:txBody>
          <a:bodyPr wrap="square" lIns="0" tIns="0" rIns="0" bIns="0" rtlCol="0" anchor="ctr"/>
          <a:lstStyle/>
          <a:p>
            <a:pPr indent="0" marL="0">
              <a:buNone/>
            </a:pPr>
            <a:r>
              <a:rPr lang="en-US" sz="1150" dirty="0">
                <a:solidFill>
                  <a:srgbClr val="6E6960"/>
                </a:solidFill>
                <a:latin typeface="Yu Gothic" pitchFamily="34" charset="0"/>
                <a:ea typeface="Yu Gothic" pitchFamily="34" charset="-122"/>
                <a:cs typeface="Yu Gothic" pitchFamily="34" charset="-120"/>
              </a:rPr>
              <a:t>フォロー・いいね・コメント。味覚の近い人の投稿ほど上に出て、店の評価は「あなた向け」に並び替わる。</a:t>
            </a:r>
            <a:endParaRPr lang="en-US" sz="1150" dirty="0"/>
          </a:p>
        </p:txBody>
      </p:sp>
      <p:sp>
        <p:nvSpPr>
          <p:cNvPr id="23" name="Shape 19"/>
          <p:cNvSpPr/>
          <p:nvPr/>
        </p:nvSpPr>
        <p:spPr>
          <a:xfrm>
            <a:off x="9217152" y="3191256"/>
            <a:ext cx="1440700" cy="2990088"/>
          </a:xfrm>
          <a:prstGeom prst="roundRect">
            <a:avLst>
              <a:gd name="adj" fmla="val 13963"/>
            </a:avLst>
          </a:prstGeom>
          <a:solidFill>
            <a:srgbClr val="1F1E1D"/>
          </a:solidFill>
          <a:ln w="12700">
            <a:solidFill>
              <a:srgbClr val="1F1E1D"/>
            </a:solidFill>
            <a:prstDash val="solid"/>
          </a:ln>
          <a:effectLst>
            <a:outerShdw sx="100000" sy="100000" kx="0" ky="0" algn="bl" rotWithShape="0" blurRad="76200" dist="25400" dir="5400000">
              <a:srgbClr val="000000">
                <a:alpha val="12000"/>
              </a:srgbClr>
            </a:outerShdw>
          </a:effectLst>
        </p:spPr>
      </p:sp>
      <p:pic>
        <p:nvPicPr>
          <p:cNvPr id="24" name="Image 2" descr="/tmp/claude-0/-home-user-gourmet-app/8edbdaa3-b81a-5c49-b452-bda755b7f07f/scratchpad/real/shots/home.png">    </p:cNvPr>
          <p:cNvPicPr>
            <a:picLocks noChangeAspect="1"/>
          </p:cNvPicPr>
          <p:nvPr/>
        </p:nvPicPr>
        <p:blipFill>
          <a:blip r:embed="rId3"/>
          <a:stretch>
            <a:fillRect/>
          </a:stretch>
        </p:blipFill>
        <p:spPr>
          <a:xfrm>
            <a:off x="9272016" y="3246120"/>
            <a:ext cx="1330972" cy="2880360"/>
          </a:xfrm>
          <a:prstGeom prst="rect">
            <a:avLst/>
          </a:prstGeom>
        </p:spPr>
      </p:pic>
      <p:sp>
        <p:nvSpPr>
          <p:cNvPr id="25" name="Text 20"/>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8A857D"/>
                </a:solidFill>
                <a:latin typeface="Yu Gothic" pitchFamily="34" charset="0"/>
                <a:ea typeface="Yu Gothic" pitchFamily="34" charset="-122"/>
                <a:cs typeface="Yu Gothic" pitchFamily="34" charset="-120"/>
              </a:rPr>
              <a:t>BITEMAP ｜ 2026 AI Innovators Cup @ Shibaura 決勝</a:t>
            </a:r>
            <a:endParaRPr lang="en-US" sz="900" dirty="0"/>
          </a:p>
        </p:txBody>
      </p:sp>
      <p:sp>
        <p:nvSpPr>
          <p:cNvPr id="26" name="Text 21"/>
          <p:cNvSpPr txBox="1"/>
          <p:nvPr/>
        </p:nvSpPr>
        <p:spPr>
          <a:xfrm>
            <a:off x="11155680" y="6446520"/>
            <a:ext cx="457200" cy="274320"/>
          </a:xfrm>
          <a:prstGeom prst="rect">
            <a:avLst/>
          </a:prstGeom>
          <a:noFill/>
          <a:ln/>
        </p:spPr>
        <p:txBody>
          <a:bodyPr wrap="square" lIns="0" tIns="0" rIns="0" bIns="0" rtlCol="0" anchor="ctr"/>
          <a:lstStyle/>
          <a:p>
            <a:pPr algn="r" indent="0" marL="0">
              <a:buNone/>
            </a:pPr>
            <a:r>
              <a:rPr lang="en-US" sz="900" dirty="0">
                <a:solidFill>
                  <a:srgbClr val="8A857D"/>
                </a:solidFill>
                <a:latin typeface="Yu Gothic" pitchFamily="34" charset="0"/>
                <a:ea typeface="Yu Gothic" pitchFamily="34" charset="-122"/>
                <a:cs typeface="Yu Gothic"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7315200" cy="320040"/>
          </a:xfrm>
          <a:prstGeom prst="rect">
            <a:avLst/>
          </a:prstGeom>
          <a:noFill/>
          <a:ln/>
        </p:spPr>
        <p:txBody>
          <a:bodyPr wrap="square" lIns="0" tIns="0" rIns="0" bIns="0" rtlCol="0" anchor="ctr"/>
          <a:lstStyle/>
          <a:p>
            <a:pPr indent="0" marL="0">
              <a:buNone/>
            </a:pPr>
            <a:r>
              <a:rPr lang="en-US" sz="1300" b="1" spc="200" kern="0" dirty="0">
                <a:solidFill>
                  <a:srgbClr val="C6613F"/>
                </a:solidFill>
                <a:latin typeface="Yu Gothic" pitchFamily="34" charset="0"/>
                <a:ea typeface="Yu Gothic" pitchFamily="34" charset="-122"/>
                <a:cs typeface="Yu Gothic" pitchFamily="34" charset="-120"/>
              </a:rPr>
              <a:t>核心アイデア</a:t>
            </a:r>
            <a:endParaRPr lang="en-US" sz="1300" dirty="0"/>
          </a:p>
        </p:txBody>
      </p:sp>
      <p:sp>
        <p:nvSpPr>
          <p:cNvPr id="3" name="Text 1"/>
          <p:cNvSpPr txBox="1"/>
          <p:nvPr/>
        </p:nvSpPr>
        <p:spPr>
          <a:xfrm>
            <a:off x="548640" y="621792"/>
            <a:ext cx="11064240" cy="685800"/>
          </a:xfrm>
          <a:prstGeom prst="rect">
            <a:avLst/>
          </a:prstGeom>
          <a:noFill/>
          <a:ln/>
        </p:spPr>
        <p:txBody>
          <a:bodyPr wrap="square" lIns="0" tIns="0" rIns="0" bIns="0" rtlCol="0" anchor="ctr"/>
          <a:lstStyle/>
          <a:p>
            <a:pPr indent="0" marL="0">
              <a:buNone/>
            </a:pPr>
            <a:r>
              <a:rPr lang="en-US" sz="3000" b="1" dirty="0">
                <a:solidFill>
                  <a:srgbClr val="1F1E1D"/>
                </a:solidFill>
                <a:latin typeface="Yu Gothic" pitchFamily="34" charset="0"/>
                <a:ea typeface="Yu Gothic" pitchFamily="34" charset="-122"/>
                <a:cs typeface="Yu Gothic" pitchFamily="34" charset="-120"/>
              </a:rPr>
              <a:t>味覚一致率 ― 評価を、あなた仕様に重み付けする</a:t>
            </a:r>
            <a:endParaRPr lang="en-US" sz="3000" dirty="0"/>
          </a:p>
        </p:txBody>
      </p:sp>
      <p:sp>
        <p:nvSpPr>
          <p:cNvPr id="4" name="Shape 2"/>
          <p:cNvSpPr/>
          <p:nvPr/>
        </p:nvSpPr>
        <p:spPr>
          <a:xfrm>
            <a:off x="548640" y="1508760"/>
            <a:ext cx="3931920" cy="2514600"/>
          </a:xfrm>
          <a:prstGeom prst="roundRect">
            <a:avLst>
              <a:gd name="adj" fmla="val 4364"/>
            </a:avLst>
          </a:prstGeom>
          <a:solidFill>
            <a:srgbClr val="FFFFFF"/>
          </a:solidFill>
          <a:ln w="12700">
            <a:solidFill>
              <a:srgbClr val="EAE3D8"/>
            </a:solidFill>
            <a:prstDash val="solid"/>
          </a:ln>
          <a:effectLst>
            <a:outerShdw sx="100000" sy="100000" kx="0" ky="0" algn="bl" rotWithShape="0" blurRad="76200" dist="25400" dir="5400000">
              <a:srgbClr val="000000">
                <a:alpha val="12000"/>
              </a:srgbClr>
            </a:outerShdw>
          </a:effectLst>
        </p:spPr>
      </p:sp>
      <p:sp>
        <p:nvSpPr>
          <p:cNvPr id="5" name="Text 3"/>
          <p:cNvSpPr txBox="1"/>
          <p:nvPr/>
        </p:nvSpPr>
        <p:spPr>
          <a:xfrm>
            <a:off x="777240" y="1645920"/>
            <a:ext cx="3566160" cy="320040"/>
          </a:xfrm>
          <a:prstGeom prst="rect">
            <a:avLst/>
          </a:prstGeom>
          <a:noFill/>
          <a:ln/>
        </p:spPr>
        <p:txBody>
          <a:bodyPr wrap="square" lIns="0" tIns="0" rIns="0" bIns="0" rtlCol="0" anchor="ctr"/>
          <a:lstStyle/>
          <a:p>
            <a:pPr indent="0" marL="0">
              <a:buNone/>
            </a:pPr>
            <a:r>
              <a:rPr lang="en-US" sz="1250" b="1" dirty="0">
                <a:solidFill>
                  <a:srgbClr val="1F1E1D"/>
                </a:solidFill>
                <a:latin typeface="Yu Gothic" pitchFamily="34" charset="0"/>
                <a:ea typeface="Yu Gothic" pitchFamily="34" charset="-122"/>
                <a:cs typeface="Yu Gothic" pitchFamily="34" charset="-120"/>
              </a:rPr>
              <a:t>共通で行った店の★を突き合わせる</a:t>
            </a:r>
            <a:endParaRPr lang="en-US" sz="125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777240" y="2011680"/>
          <a:ext cx="3474720" cy="914400"/>
        </p:xfrm>
        <a:graphic>
          <a:graphicData uri="http://schemas.openxmlformats.org/drawingml/2006/table">
            <a:tbl>
              <a:tblPr/>
              <a:tblGrid>
                <a:gridCol w="1645920"/>
                <a:gridCol w="822960"/>
                <a:gridCol w="1005840"/>
              </a:tblGrid>
              <a:tr h="310896">
                <a:tc>
                  <a:txBody>
                    <a:bodyPr/>
                    <a:lstStyle/>
                    <a:p>
                      <a:pPr algn="l" indent="0" marL="0">
                        <a:buNone/>
                      </a:pPr>
                      <a:r>
                        <a:rPr lang="en-US" sz="1100" b="1" dirty="0">
                          <a:solidFill>
                            <a:srgbClr val="C6613F"/>
                          </a:solidFill>
                          <a:latin typeface="Yu Gothic" pitchFamily="34" charset="0"/>
                          <a:ea typeface="Yu Gothic" pitchFamily="34" charset="-122"/>
                          <a:cs typeface="Yu Gothic" pitchFamily="34" charset="-120"/>
                        </a:rPr>
                        <a:t>店</a:t>
                      </a:r>
                      <a:endParaRPr lang="en-US" sz="1100" dirty="0">
                        <a:latin typeface="Yu Gothic" charset="0"/>
                        <a:ea typeface="Yu Gothic" charset="0"/>
                        <a:cs typeface="Yu Gothic" charset="0"/>
                      </a:endParaRPr>
                    </a:p>
                  </a:txBody>
                  <a:tcPr marL="91440" marR="91440" marT="45720" marB="45720">
                    <a:lnL w="9525" cap="flat" cmpd="sng" algn="ctr">
                      <a:solidFill>
                        <a:srgbClr val="EAE3D8"/>
                      </a:solidFill>
                      <a:prstDash val="solid"/>
                      <a:round/>
                      <a:headEnd type="none" w="med" len="med"/>
                      <a:tailEnd type="none" w="med" len="med"/>
                    </a:lnL>
                    <a:lnR w="9525" cap="flat" cmpd="sng" algn="ctr">
                      <a:solidFill>
                        <a:srgbClr val="EAE3D8"/>
                      </a:solidFill>
                      <a:prstDash val="solid"/>
                      <a:round/>
                      <a:headEnd type="none" w="med" len="med"/>
                      <a:tailEnd type="none" w="med" len="med"/>
                    </a:lnR>
                    <a:lnT w="9525" cap="flat" cmpd="sng" algn="ctr">
                      <a:solidFill>
                        <a:srgbClr val="EAE3D8"/>
                      </a:solidFill>
                      <a:prstDash val="solid"/>
                      <a:round/>
                      <a:headEnd type="none" w="med" len="med"/>
                      <a:tailEnd type="none" w="med" len="med"/>
                    </a:lnT>
                    <a:lnB w="9525" cap="flat" cmpd="sng" algn="ctr">
                      <a:solidFill>
                        <a:srgbClr val="EAE3D8"/>
                      </a:solidFill>
                      <a:prstDash val="solid"/>
                      <a:round/>
                      <a:headEnd type="none" w="med" len="med"/>
                      <a:tailEnd type="none" w="med" len="med"/>
                    </a:lnB>
                    <a:solidFill>
                      <a:srgbClr val="FBEFE9"/>
                    </a:solidFill>
                  </a:tcPr>
                </a:tc>
                <a:tc>
                  <a:txBody>
                    <a:bodyPr/>
                    <a:lstStyle/>
                    <a:p>
                      <a:pPr algn="ctr" indent="0" marL="0">
                        <a:buNone/>
                      </a:pPr>
                      <a:r>
                        <a:rPr lang="en-US" sz="1100" b="1" dirty="0">
                          <a:solidFill>
                            <a:srgbClr val="C6613F"/>
                          </a:solidFill>
                          <a:latin typeface="Yu Gothic" pitchFamily="34" charset="0"/>
                          <a:ea typeface="Yu Gothic" pitchFamily="34" charset="-122"/>
                          <a:cs typeface="Yu Gothic" pitchFamily="34" charset="-120"/>
                        </a:rPr>
                        <a:t>自分</a:t>
                      </a:r>
                      <a:endParaRPr lang="en-US" sz="1100" dirty="0">
                        <a:latin typeface="Yu Gothic" charset="0"/>
                        <a:ea typeface="Yu Gothic" charset="0"/>
                        <a:cs typeface="Yu Gothic" charset="0"/>
                      </a:endParaRPr>
                    </a:p>
                  </a:txBody>
                  <a:tcPr marL="91440" marR="91440" marT="45720" marB="45720">
                    <a:lnL w="9525" cap="flat" cmpd="sng" algn="ctr">
                      <a:solidFill>
                        <a:srgbClr val="EAE3D8"/>
                      </a:solidFill>
                      <a:prstDash val="solid"/>
                      <a:round/>
                      <a:headEnd type="none" w="med" len="med"/>
                      <a:tailEnd type="none" w="med" len="med"/>
                    </a:lnL>
                    <a:lnR w="9525" cap="flat" cmpd="sng" algn="ctr">
                      <a:solidFill>
                        <a:srgbClr val="EAE3D8"/>
                      </a:solidFill>
                      <a:prstDash val="solid"/>
                      <a:round/>
                      <a:headEnd type="none" w="med" len="med"/>
                      <a:tailEnd type="none" w="med" len="med"/>
                    </a:lnR>
                    <a:lnT w="9525" cap="flat" cmpd="sng" algn="ctr">
                      <a:solidFill>
                        <a:srgbClr val="EAE3D8"/>
                      </a:solidFill>
                      <a:prstDash val="solid"/>
                      <a:round/>
                      <a:headEnd type="none" w="med" len="med"/>
                      <a:tailEnd type="none" w="med" len="med"/>
                    </a:lnT>
                    <a:lnB w="9525" cap="flat" cmpd="sng" algn="ctr">
                      <a:solidFill>
                        <a:srgbClr val="EAE3D8"/>
                      </a:solidFill>
                      <a:prstDash val="solid"/>
                      <a:round/>
                      <a:headEnd type="none" w="med" len="med"/>
                      <a:tailEnd type="none" w="med" len="med"/>
                    </a:lnB>
                    <a:solidFill>
                      <a:srgbClr val="FBEFE9"/>
                    </a:solidFill>
                  </a:tcPr>
                </a:tc>
                <a:tc>
                  <a:txBody>
                    <a:bodyPr/>
                    <a:lstStyle/>
                    <a:p>
                      <a:pPr algn="ctr" indent="0" marL="0">
                        <a:buNone/>
                      </a:pPr>
                      <a:r>
                        <a:rPr lang="en-US" sz="1100" b="1" dirty="0">
                          <a:solidFill>
                            <a:srgbClr val="C6613F"/>
                          </a:solidFill>
                          <a:latin typeface="Yu Gothic" pitchFamily="34" charset="0"/>
                          <a:ea typeface="Yu Gothic" pitchFamily="34" charset="-122"/>
                          <a:cs typeface="Yu Gothic" pitchFamily="34" charset="-120"/>
                        </a:rPr>
                        <a:t>ゆかりさん</a:t>
                      </a:r>
                      <a:endParaRPr lang="en-US" sz="1100" dirty="0">
                        <a:latin typeface="Yu Gothic" charset="0"/>
                        <a:ea typeface="Yu Gothic" charset="0"/>
                        <a:cs typeface="Yu Gothic" charset="0"/>
                      </a:endParaRPr>
                    </a:p>
                  </a:txBody>
                  <a:tcPr marL="91440" marR="91440" marT="45720" marB="45720">
                    <a:lnL w="9525" cap="flat" cmpd="sng" algn="ctr">
                      <a:solidFill>
                        <a:srgbClr val="EAE3D8"/>
                      </a:solidFill>
                      <a:prstDash val="solid"/>
                      <a:round/>
                      <a:headEnd type="none" w="med" len="med"/>
                      <a:tailEnd type="none" w="med" len="med"/>
                    </a:lnL>
                    <a:lnR w="9525" cap="flat" cmpd="sng" algn="ctr">
                      <a:solidFill>
                        <a:srgbClr val="EAE3D8"/>
                      </a:solidFill>
                      <a:prstDash val="solid"/>
                      <a:round/>
                      <a:headEnd type="none" w="med" len="med"/>
                      <a:tailEnd type="none" w="med" len="med"/>
                    </a:lnR>
                    <a:lnT w="9525" cap="flat" cmpd="sng" algn="ctr">
                      <a:solidFill>
                        <a:srgbClr val="EAE3D8"/>
                      </a:solidFill>
                      <a:prstDash val="solid"/>
                      <a:round/>
                      <a:headEnd type="none" w="med" len="med"/>
                      <a:tailEnd type="none" w="med" len="med"/>
                    </a:lnT>
                    <a:lnB w="9525" cap="flat" cmpd="sng" algn="ctr">
                      <a:solidFill>
                        <a:srgbClr val="EAE3D8"/>
                      </a:solidFill>
                      <a:prstDash val="solid"/>
                      <a:round/>
                      <a:headEnd type="none" w="med" len="med"/>
                      <a:tailEnd type="none" w="med" len="med"/>
                    </a:lnB>
                    <a:solidFill>
                      <a:srgbClr val="FBEFE9"/>
                    </a:solidFill>
                  </a:tcPr>
                </a:tc>
              </a:tr>
              <a:tr h="310896">
                <a:tc>
                  <a:txBody>
                    <a:bodyPr/>
                    <a:lstStyle/>
                    <a:p>
                      <a:pPr algn="l" indent="0" marL="0">
                        <a:buNone/>
                      </a:pPr>
                      <a:r>
                        <a:rPr lang="en-US" sz="1100" dirty="0">
                          <a:solidFill>
                            <a:srgbClr val="1F1E1D"/>
                          </a:solidFill>
                          <a:latin typeface="Yu Gothic" pitchFamily="34" charset="0"/>
                          <a:ea typeface="Yu Gothic" pitchFamily="34" charset="-122"/>
                          <a:cs typeface="Yu Gothic" pitchFamily="34" charset="-120"/>
                        </a:rPr>
                        <a:t>麺屋 こがね</a:t>
                      </a:r>
                      <a:endParaRPr lang="en-US" sz="1100" dirty="0">
                        <a:latin typeface="Yu Gothic" charset="0"/>
                        <a:ea typeface="Yu Gothic" charset="0"/>
                        <a:cs typeface="Yu Gothic" charset="0"/>
                      </a:endParaRPr>
                    </a:p>
                  </a:txBody>
                  <a:tcPr marL="91440" marR="91440" marT="45720" marB="45720">
                    <a:lnL w="9525" cap="flat" cmpd="sng" algn="ctr">
                      <a:solidFill>
                        <a:srgbClr val="EAE3D8"/>
                      </a:solidFill>
                      <a:prstDash val="solid"/>
                      <a:round/>
                      <a:headEnd type="none" w="med" len="med"/>
                      <a:tailEnd type="none" w="med" len="med"/>
                    </a:lnL>
                    <a:lnR w="9525" cap="flat" cmpd="sng" algn="ctr">
                      <a:solidFill>
                        <a:srgbClr val="EAE3D8"/>
                      </a:solidFill>
                      <a:prstDash val="solid"/>
                      <a:round/>
                      <a:headEnd type="none" w="med" len="med"/>
                      <a:tailEnd type="none" w="med" len="med"/>
                    </a:lnR>
                    <a:lnT w="9525" cap="flat" cmpd="sng" algn="ctr">
                      <a:solidFill>
                        <a:srgbClr val="EAE3D8"/>
                      </a:solidFill>
                      <a:prstDash val="solid"/>
                      <a:round/>
                      <a:headEnd type="none" w="med" len="med"/>
                      <a:tailEnd type="none" w="med" len="med"/>
                    </a:lnT>
                    <a:lnB w="9525" cap="flat" cmpd="sng" algn="ctr">
                      <a:solidFill>
                        <a:srgbClr val="EAE3D8"/>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F1E1D"/>
                          </a:solidFill>
                          <a:latin typeface="Yu Gothic" pitchFamily="34" charset="0"/>
                          <a:ea typeface="Yu Gothic" pitchFamily="34" charset="-122"/>
                          <a:cs typeface="Yu Gothic" pitchFamily="34" charset="-120"/>
                        </a:rPr>
                        <a:t>4.5</a:t>
                      </a:r>
                      <a:endParaRPr lang="en-US" sz="1100" dirty="0">
                        <a:latin typeface="Yu Gothic" charset="0"/>
                        <a:ea typeface="Yu Gothic" charset="0"/>
                        <a:cs typeface="Yu Gothic" charset="0"/>
                      </a:endParaRPr>
                    </a:p>
                  </a:txBody>
                  <a:tcPr marL="91440" marR="91440" marT="45720" marB="45720">
                    <a:lnL w="9525" cap="flat" cmpd="sng" algn="ctr">
                      <a:solidFill>
                        <a:srgbClr val="EAE3D8"/>
                      </a:solidFill>
                      <a:prstDash val="solid"/>
                      <a:round/>
                      <a:headEnd type="none" w="med" len="med"/>
                      <a:tailEnd type="none" w="med" len="med"/>
                    </a:lnL>
                    <a:lnR w="9525" cap="flat" cmpd="sng" algn="ctr">
                      <a:solidFill>
                        <a:srgbClr val="EAE3D8"/>
                      </a:solidFill>
                      <a:prstDash val="solid"/>
                      <a:round/>
                      <a:headEnd type="none" w="med" len="med"/>
                      <a:tailEnd type="none" w="med" len="med"/>
                    </a:lnR>
                    <a:lnT w="9525" cap="flat" cmpd="sng" algn="ctr">
                      <a:solidFill>
                        <a:srgbClr val="EAE3D8"/>
                      </a:solidFill>
                      <a:prstDash val="solid"/>
                      <a:round/>
                      <a:headEnd type="none" w="med" len="med"/>
                      <a:tailEnd type="none" w="med" len="med"/>
                    </a:lnT>
                    <a:lnB w="9525" cap="flat" cmpd="sng" algn="ctr">
                      <a:solidFill>
                        <a:srgbClr val="EAE3D8"/>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F1E1D"/>
                          </a:solidFill>
                          <a:latin typeface="Yu Gothic" pitchFamily="34" charset="0"/>
                          <a:ea typeface="Yu Gothic" pitchFamily="34" charset="-122"/>
                          <a:cs typeface="Yu Gothic" pitchFamily="34" charset="-120"/>
                        </a:rPr>
                        <a:t>4.5</a:t>
                      </a:r>
                      <a:endParaRPr lang="en-US" sz="1100" dirty="0">
                        <a:latin typeface="Yu Gothic" charset="0"/>
                        <a:ea typeface="Yu Gothic" charset="0"/>
                        <a:cs typeface="Yu Gothic" charset="0"/>
                      </a:endParaRPr>
                    </a:p>
                  </a:txBody>
                  <a:tcPr marL="91440" marR="91440" marT="45720" marB="45720">
                    <a:lnL w="9525" cap="flat" cmpd="sng" algn="ctr">
                      <a:solidFill>
                        <a:srgbClr val="EAE3D8"/>
                      </a:solidFill>
                      <a:prstDash val="solid"/>
                      <a:round/>
                      <a:headEnd type="none" w="med" len="med"/>
                      <a:tailEnd type="none" w="med" len="med"/>
                    </a:lnL>
                    <a:lnR w="9525" cap="flat" cmpd="sng" algn="ctr">
                      <a:solidFill>
                        <a:srgbClr val="EAE3D8"/>
                      </a:solidFill>
                      <a:prstDash val="solid"/>
                      <a:round/>
                      <a:headEnd type="none" w="med" len="med"/>
                      <a:tailEnd type="none" w="med" len="med"/>
                    </a:lnR>
                    <a:lnT w="9525" cap="flat" cmpd="sng" algn="ctr">
                      <a:solidFill>
                        <a:srgbClr val="EAE3D8"/>
                      </a:solidFill>
                      <a:prstDash val="solid"/>
                      <a:round/>
                      <a:headEnd type="none" w="med" len="med"/>
                      <a:tailEnd type="none" w="med" len="med"/>
                    </a:lnT>
                    <a:lnB w="9525" cap="flat" cmpd="sng" algn="ctr">
                      <a:solidFill>
                        <a:srgbClr val="EAE3D8"/>
                      </a:solidFill>
                      <a:prstDash val="solid"/>
                      <a:round/>
                      <a:headEnd type="none" w="med" len="med"/>
                      <a:tailEnd type="none" w="med" len="med"/>
                    </a:lnB>
                    <a:solidFill>
                      <a:srgbClr val="FFFFFF"/>
                    </a:solidFill>
                  </a:tcPr>
                </a:tc>
              </a:tr>
              <a:tr h="310896">
                <a:tc>
                  <a:txBody>
                    <a:bodyPr/>
                    <a:lstStyle/>
                    <a:p>
                      <a:pPr algn="l" indent="0" marL="0">
                        <a:buNone/>
                      </a:pPr>
                      <a:r>
                        <a:rPr lang="en-US" sz="1100" dirty="0">
                          <a:solidFill>
                            <a:srgbClr val="1F1E1D"/>
                          </a:solidFill>
                          <a:latin typeface="Yu Gothic" pitchFamily="34" charset="0"/>
                          <a:ea typeface="Yu Gothic" pitchFamily="34" charset="-122"/>
                          <a:cs typeface="Yu Gothic" pitchFamily="34" charset="-120"/>
                        </a:rPr>
                        <a:t>寿司処 まる海</a:t>
                      </a:r>
                      <a:endParaRPr lang="en-US" sz="1100" dirty="0">
                        <a:latin typeface="Yu Gothic" charset="0"/>
                        <a:ea typeface="Yu Gothic" charset="0"/>
                        <a:cs typeface="Yu Gothic" charset="0"/>
                      </a:endParaRPr>
                    </a:p>
                  </a:txBody>
                  <a:tcPr marL="91440" marR="91440" marT="45720" marB="45720">
                    <a:lnL w="9525" cap="flat" cmpd="sng" algn="ctr">
                      <a:solidFill>
                        <a:srgbClr val="EAE3D8"/>
                      </a:solidFill>
                      <a:prstDash val="solid"/>
                      <a:round/>
                      <a:headEnd type="none" w="med" len="med"/>
                      <a:tailEnd type="none" w="med" len="med"/>
                    </a:lnL>
                    <a:lnR w="9525" cap="flat" cmpd="sng" algn="ctr">
                      <a:solidFill>
                        <a:srgbClr val="EAE3D8"/>
                      </a:solidFill>
                      <a:prstDash val="solid"/>
                      <a:round/>
                      <a:headEnd type="none" w="med" len="med"/>
                      <a:tailEnd type="none" w="med" len="med"/>
                    </a:lnR>
                    <a:lnT w="9525" cap="flat" cmpd="sng" algn="ctr">
                      <a:solidFill>
                        <a:srgbClr val="EAE3D8"/>
                      </a:solidFill>
                      <a:prstDash val="solid"/>
                      <a:round/>
                      <a:headEnd type="none" w="med" len="med"/>
                      <a:tailEnd type="none" w="med" len="med"/>
                    </a:lnT>
                    <a:lnB w="9525" cap="flat" cmpd="sng" algn="ctr">
                      <a:solidFill>
                        <a:srgbClr val="EAE3D8"/>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F1E1D"/>
                          </a:solidFill>
                          <a:latin typeface="Yu Gothic" pitchFamily="34" charset="0"/>
                          <a:ea typeface="Yu Gothic" pitchFamily="34" charset="-122"/>
                          <a:cs typeface="Yu Gothic" pitchFamily="34" charset="-120"/>
                        </a:rPr>
                        <a:t>5.0</a:t>
                      </a:r>
                      <a:endParaRPr lang="en-US" sz="1100" dirty="0">
                        <a:latin typeface="Yu Gothic" charset="0"/>
                        <a:ea typeface="Yu Gothic" charset="0"/>
                        <a:cs typeface="Yu Gothic" charset="0"/>
                      </a:endParaRPr>
                    </a:p>
                  </a:txBody>
                  <a:tcPr marL="91440" marR="91440" marT="45720" marB="45720">
                    <a:lnL w="9525" cap="flat" cmpd="sng" algn="ctr">
                      <a:solidFill>
                        <a:srgbClr val="EAE3D8"/>
                      </a:solidFill>
                      <a:prstDash val="solid"/>
                      <a:round/>
                      <a:headEnd type="none" w="med" len="med"/>
                      <a:tailEnd type="none" w="med" len="med"/>
                    </a:lnL>
                    <a:lnR w="9525" cap="flat" cmpd="sng" algn="ctr">
                      <a:solidFill>
                        <a:srgbClr val="EAE3D8"/>
                      </a:solidFill>
                      <a:prstDash val="solid"/>
                      <a:round/>
                      <a:headEnd type="none" w="med" len="med"/>
                      <a:tailEnd type="none" w="med" len="med"/>
                    </a:lnR>
                    <a:lnT w="9525" cap="flat" cmpd="sng" algn="ctr">
                      <a:solidFill>
                        <a:srgbClr val="EAE3D8"/>
                      </a:solidFill>
                      <a:prstDash val="solid"/>
                      <a:round/>
                      <a:headEnd type="none" w="med" len="med"/>
                      <a:tailEnd type="none" w="med" len="med"/>
                    </a:lnT>
                    <a:lnB w="9525" cap="flat" cmpd="sng" algn="ctr">
                      <a:solidFill>
                        <a:srgbClr val="EAE3D8"/>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F1E1D"/>
                          </a:solidFill>
                          <a:latin typeface="Yu Gothic" pitchFamily="34" charset="0"/>
                          <a:ea typeface="Yu Gothic" pitchFamily="34" charset="-122"/>
                          <a:cs typeface="Yu Gothic" pitchFamily="34" charset="-120"/>
                        </a:rPr>
                        <a:t>4.5</a:t>
                      </a:r>
                      <a:endParaRPr lang="en-US" sz="1100" dirty="0">
                        <a:latin typeface="Yu Gothic" charset="0"/>
                        <a:ea typeface="Yu Gothic" charset="0"/>
                        <a:cs typeface="Yu Gothic" charset="0"/>
                      </a:endParaRPr>
                    </a:p>
                  </a:txBody>
                  <a:tcPr marL="91440" marR="91440" marT="45720" marB="45720">
                    <a:lnL w="9525" cap="flat" cmpd="sng" algn="ctr">
                      <a:solidFill>
                        <a:srgbClr val="EAE3D8"/>
                      </a:solidFill>
                      <a:prstDash val="solid"/>
                      <a:round/>
                      <a:headEnd type="none" w="med" len="med"/>
                      <a:tailEnd type="none" w="med" len="med"/>
                    </a:lnL>
                    <a:lnR w="9525" cap="flat" cmpd="sng" algn="ctr">
                      <a:solidFill>
                        <a:srgbClr val="EAE3D8"/>
                      </a:solidFill>
                      <a:prstDash val="solid"/>
                      <a:round/>
                      <a:headEnd type="none" w="med" len="med"/>
                      <a:tailEnd type="none" w="med" len="med"/>
                    </a:lnR>
                    <a:lnT w="9525" cap="flat" cmpd="sng" algn="ctr">
                      <a:solidFill>
                        <a:srgbClr val="EAE3D8"/>
                      </a:solidFill>
                      <a:prstDash val="solid"/>
                      <a:round/>
                      <a:headEnd type="none" w="med" len="med"/>
                      <a:tailEnd type="none" w="med" len="med"/>
                    </a:lnT>
                    <a:lnB w="9525" cap="flat" cmpd="sng" algn="ctr">
                      <a:solidFill>
                        <a:srgbClr val="EAE3D8"/>
                      </a:solidFill>
                      <a:prstDash val="solid"/>
                      <a:round/>
                      <a:headEnd type="none" w="med" len="med"/>
                      <a:tailEnd type="none" w="med" len="med"/>
                    </a:lnB>
                    <a:solidFill>
                      <a:srgbClr val="FFFFFF"/>
                    </a:solidFill>
                  </a:tcPr>
                </a:tc>
              </a:tr>
              <a:tr h="310896">
                <a:tc>
                  <a:txBody>
                    <a:bodyPr/>
                    <a:lstStyle/>
                    <a:p>
                      <a:pPr algn="l" indent="0" marL="0">
                        <a:buNone/>
                      </a:pPr>
                      <a:r>
                        <a:rPr lang="en-US" sz="1100" dirty="0">
                          <a:solidFill>
                            <a:srgbClr val="1F1E1D"/>
                          </a:solidFill>
                          <a:latin typeface="Yu Gothic" pitchFamily="34" charset="0"/>
                          <a:ea typeface="Yu Gothic" pitchFamily="34" charset="-122"/>
                          <a:cs typeface="Yu Gothic" pitchFamily="34" charset="-120"/>
                        </a:rPr>
                        <a:t>カフェ ひだまり</a:t>
                      </a:r>
                      <a:endParaRPr lang="en-US" sz="1100" dirty="0">
                        <a:latin typeface="Yu Gothic" charset="0"/>
                        <a:ea typeface="Yu Gothic" charset="0"/>
                        <a:cs typeface="Yu Gothic" charset="0"/>
                      </a:endParaRPr>
                    </a:p>
                  </a:txBody>
                  <a:tcPr marL="91440" marR="91440" marT="45720" marB="45720">
                    <a:lnL w="9525" cap="flat" cmpd="sng" algn="ctr">
                      <a:solidFill>
                        <a:srgbClr val="EAE3D8"/>
                      </a:solidFill>
                      <a:prstDash val="solid"/>
                      <a:round/>
                      <a:headEnd type="none" w="med" len="med"/>
                      <a:tailEnd type="none" w="med" len="med"/>
                    </a:lnL>
                    <a:lnR w="9525" cap="flat" cmpd="sng" algn="ctr">
                      <a:solidFill>
                        <a:srgbClr val="EAE3D8"/>
                      </a:solidFill>
                      <a:prstDash val="solid"/>
                      <a:round/>
                      <a:headEnd type="none" w="med" len="med"/>
                      <a:tailEnd type="none" w="med" len="med"/>
                    </a:lnR>
                    <a:lnT w="9525" cap="flat" cmpd="sng" algn="ctr">
                      <a:solidFill>
                        <a:srgbClr val="EAE3D8"/>
                      </a:solidFill>
                      <a:prstDash val="solid"/>
                      <a:round/>
                      <a:headEnd type="none" w="med" len="med"/>
                      <a:tailEnd type="none" w="med" len="med"/>
                    </a:lnT>
                    <a:lnB w="9525" cap="flat" cmpd="sng" algn="ctr">
                      <a:solidFill>
                        <a:srgbClr val="EAE3D8"/>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F1E1D"/>
                          </a:solidFill>
                          <a:latin typeface="Yu Gothic" pitchFamily="34" charset="0"/>
                          <a:ea typeface="Yu Gothic" pitchFamily="34" charset="-122"/>
                          <a:cs typeface="Yu Gothic" pitchFamily="34" charset="-120"/>
                        </a:rPr>
                        <a:t>3.0</a:t>
                      </a:r>
                      <a:endParaRPr lang="en-US" sz="1100" dirty="0">
                        <a:latin typeface="Yu Gothic" charset="0"/>
                        <a:ea typeface="Yu Gothic" charset="0"/>
                        <a:cs typeface="Yu Gothic" charset="0"/>
                      </a:endParaRPr>
                    </a:p>
                  </a:txBody>
                  <a:tcPr marL="91440" marR="91440" marT="45720" marB="45720">
                    <a:lnL w="9525" cap="flat" cmpd="sng" algn="ctr">
                      <a:solidFill>
                        <a:srgbClr val="EAE3D8"/>
                      </a:solidFill>
                      <a:prstDash val="solid"/>
                      <a:round/>
                      <a:headEnd type="none" w="med" len="med"/>
                      <a:tailEnd type="none" w="med" len="med"/>
                    </a:lnL>
                    <a:lnR w="9525" cap="flat" cmpd="sng" algn="ctr">
                      <a:solidFill>
                        <a:srgbClr val="EAE3D8"/>
                      </a:solidFill>
                      <a:prstDash val="solid"/>
                      <a:round/>
                      <a:headEnd type="none" w="med" len="med"/>
                      <a:tailEnd type="none" w="med" len="med"/>
                    </a:lnR>
                    <a:lnT w="9525" cap="flat" cmpd="sng" algn="ctr">
                      <a:solidFill>
                        <a:srgbClr val="EAE3D8"/>
                      </a:solidFill>
                      <a:prstDash val="solid"/>
                      <a:round/>
                      <a:headEnd type="none" w="med" len="med"/>
                      <a:tailEnd type="none" w="med" len="med"/>
                    </a:lnT>
                    <a:lnB w="9525" cap="flat" cmpd="sng" algn="ctr">
                      <a:solidFill>
                        <a:srgbClr val="EAE3D8"/>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F1E1D"/>
                          </a:solidFill>
                          <a:latin typeface="Yu Gothic" pitchFamily="34" charset="0"/>
                          <a:ea typeface="Yu Gothic" pitchFamily="34" charset="-122"/>
                          <a:cs typeface="Yu Gothic" pitchFamily="34" charset="-120"/>
                        </a:rPr>
                        <a:t>3.5</a:t>
                      </a:r>
                      <a:endParaRPr lang="en-US" sz="1100" dirty="0">
                        <a:latin typeface="Yu Gothic" charset="0"/>
                        <a:ea typeface="Yu Gothic" charset="0"/>
                        <a:cs typeface="Yu Gothic" charset="0"/>
                      </a:endParaRPr>
                    </a:p>
                  </a:txBody>
                  <a:tcPr marL="91440" marR="91440" marT="45720" marB="45720">
                    <a:lnL w="9525" cap="flat" cmpd="sng" algn="ctr">
                      <a:solidFill>
                        <a:srgbClr val="EAE3D8"/>
                      </a:solidFill>
                      <a:prstDash val="solid"/>
                      <a:round/>
                      <a:headEnd type="none" w="med" len="med"/>
                      <a:tailEnd type="none" w="med" len="med"/>
                    </a:lnL>
                    <a:lnR w="9525" cap="flat" cmpd="sng" algn="ctr">
                      <a:solidFill>
                        <a:srgbClr val="EAE3D8"/>
                      </a:solidFill>
                      <a:prstDash val="solid"/>
                      <a:round/>
                      <a:headEnd type="none" w="med" len="med"/>
                      <a:tailEnd type="none" w="med" len="med"/>
                    </a:lnR>
                    <a:lnT w="9525" cap="flat" cmpd="sng" algn="ctr">
                      <a:solidFill>
                        <a:srgbClr val="EAE3D8"/>
                      </a:solidFill>
                      <a:prstDash val="solid"/>
                      <a:round/>
                      <a:headEnd type="none" w="med" len="med"/>
                      <a:tailEnd type="none" w="med" len="med"/>
                    </a:lnT>
                    <a:lnB w="9525" cap="flat" cmpd="sng" algn="ctr">
                      <a:solidFill>
                        <a:srgbClr val="EAE3D8"/>
                      </a:solidFill>
                      <a:prstDash val="solid"/>
                      <a:round/>
                      <a:headEnd type="none" w="med" len="med"/>
                      <a:tailEnd type="none" w="med" len="med"/>
                    </a:lnB>
                    <a:solidFill>
                      <a:srgbClr val="FFFFFF"/>
                    </a:solidFill>
                  </a:tcPr>
                </a:tc>
              </a:tr>
              <a:tr h="310896">
                <a:tc>
                  <a:txBody>
                    <a:bodyPr/>
                    <a:lstStyle/>
                    <a:p>
                      <a:pPr algn="l" indent="0" marL="0">
                        <a:buNone/>
                      </a:pPr>
                      <a:r>
                        <a:rPr lang="en-US" sz="1100" dirty="0">
                          <a:solidFill>
                            <a:srgbClr val="1F1E1D"/>
                          </a:solidFill>
                          <a:latin typeface="Yu Gothic" pitchFamily="34" charset="0"/>
                          <a:ea typeface="Yu Gothic" pitchFamily="34" charset="-122"/>
                          <a:cs typeface="Yu Gothic" pitchFamily="34" charset="-120"/>
                        </a:rPr>
                        <a:t>天ぷら 松波</a:t>
                      </a:r>
                      <a:endParaRPr lang="en-US" sz="1100" dirty="0">
                        <a:latin typeface="Yu Gothic" charset="0"/>
                        <a:ea typeface="Yu Gothic" charset="0"/>
                        <a:cs typeface="Yu Gothic" charset="0"/>
                      </a:endParaRPr>
                    </a:p>
                  </a:txBody>
                  <a:tcPr marL="91440" marR="91440" marT="45720" marB="45720">
                    <a:lnL w="9525" cap="flat" cmpd="sng" algn="ctr">
                      <a:solidFill>
                        <a:srgbClr val="EAE3D8"/>
                      </a:solidFill>
                      <a:prstDash val="solid"/>
                      <a:round/>
                      <a:headEnd type="none" w="med" len="med"/>
                      <a:tailEnd type="none" w="med" len="med"/>
                    </a:lnL>
                    <a:lnR w="9525" cap="flat" cmpd="sng" algn="ctr">
                      <a:solidFill>
                        <a:srgbClr val="EAE3D8"/>
                      </a:solidFill>
                      <a:prstDash val="solid"/>
                      <a:round/>
                      <a:headEnd type="none" w="med" len="med"/>
                      <a:tailEnd type="none" w="med" len="med"/>
                    </a:lnR>
                    <a:lnT w="9525" cap="flat" cmpd="sng" algn="ctr">
                      <a:solidFill>
                        <a:srgbClr val="EAE3D8"/>
                      </a:solidFill>
                      <a:prstDash val="solid"/>
                      <a:round/>
                      <a:headEnd type="none" w="med" len="med"/>
                      <a:tailEnd type="none" w="med" len="med"/>
                    </a:lnT>
                    <a:lnB w="9525" cap="flat" cmpd="sng" algn="ctr">
                      <a:solidFill>
                        <a:srgbClr val="EAE3D8"/>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F1E1D"/>
                          </a:solidFill>
                          <a:latin typeface="Yu Gothic" pitchFamily="34" charset="0"/>
                          <a:ea typeface="Yu Gothic" pitchFamily="34" charset="-122"/>
                          <a:cs typeface="Yu Gothic" pitchFamily="34" charset="-120"/>
                        </a:rPr>
                        <a:t>5.0</a:t>
                      </a:r>
                      <a:endParaRPr lang="en-US" sz="1100" dirty="0">
                        <a:latin typeface="Yu Gothic" charset="0"/>
                        <a:ea typeface="Yu Gothic" charset="0"/>
                        <a:cs typeface="Yu Gothic" charset="0"/>
                      </a:endParaRPr>
                    </a:p>
                  </a:txBody>
                  <a:tcPr marL="91440" marR="91440" marT="45720" marB="45720">
                    <a:lnL w="9525" cap="flat" cmpd="sng" algn="ctr">
                      <a:solidFill>
                        <a:srgbClr val="EAE3D8"/>
                      </a:solidFill>
                      <a:prstDash val="solid"/>
                      <a:round/>
                      <a:headEnd type="none" w="med" len="med"/>
                      <a:tailEnd type="none" w="med" len="med"/>
                    </a:lnL>
                    <a:lnR w="9525" cap="flat" cmpd="sng" algn="ctr">
                      <a:solidFill>
                        <a:srgbClr val="EAE3D8"/>
                      </a:solidFill>
                      <a:prstDash val="solid"/>
                      <a:round/>
                      <a:headEnd type="none" w="med" len="med"/>
                      <a:tailEnd type="none" w="med" len="med"/>
                    </a:lnR>
                    <a:lnT w="9525" cap="flat" cmpd="sng" algn="ctr">
                      <a:solidFill>
                        <a:srgbClr val="EAE3D8"/>
                      </a:solidFill>
                      <a:prstDash val="solid"/>
                      <a:round/>
                      <a:headEnd type="none" w="med" len="med"/>
                      <a:tailEnd type="none" w="med" len="med"/>
                    </a:lnT>
                    <a:lnB w="9525" cap="flat" cmpd="sng" algn="ctr">
                      <a:solidFill>
                        <a:srgbClr val="EAE3D8"/>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F1E1D"/>
                          </a:solidFill>
                          <a:latin typeface="Yu Gothic" pitchFamily="34" charset="0"/>
                          <a:ea typeface="Yu Gothic" pitchFamily="34" charset="-122"/>
                          <a:cs typeface="Yu Gothic" pitchFamily="34" charset="-120"/>
                        </a:rPr>
                        <a:t>5.0</a:t>
                      </a:r>
                      <a:endParaRPr lang="en-US" sz="1100" dirty="0">
                        <a:latin typeface="Yu Gothic" charset="0"/>
                        <a:ea typeface="Yu Gothic" charset="0"/>
                        <a:cs typeface="Yu Gothic" charset="0"/>
                      </a:endParaRPr>
                    </a:p>
                  </a:txBody>
                  <a:tcPr marL="91440" marR="91440" marT="45720" marB="45720">
                    <a:lnL w="9525" cap="flat" cmpd="sng" algn="ctr">
                      <a:solidFill>
                        <a:srgbClr val="EAE3D8"/>
                      </a:solidFill>
                      <a:prstDash val="solid"/>
                      <a:round/>
                      <a:headEnd type="none" w="med" len="med"/>
                      <a:tailEnd type="none" w="med" len="med"/>
                    </a:lnL>
                    <a:lnR w="9525" cap="flat" cmpd="sng" algn="ctr">
                      <a:solidFill>
                        <a:srgbClr val="EAE3D8"/>
                      </a:solidFill>
                      <a:prstDash val="solid"/>
                      <a:round/>
                      <a:headEnd type="none" w="med" len="med"/>
                      <a:tailEnd type="none" w="med" len="med"/>
                    </a:lnR>
                    <a:lnT w="9525" cap="flat" cmpd="sng" algn="ctr">
                      <a:solidFill>
                        <a:srgbClr val="EAE3D8"/>
                      </a:solidFill>
                      <a:prstDash val="solid"/>
                      <a:round/>
                      <a:headEnd type="none" w="med" len="med"/>
                      <a:tailEnd type="none" w="med" len="med"/>
                    </a:lnT>
                    <a:lnB w="9525" cap="flat" cmpd="sng" algn="ctr">
                      <a:solidFill>
                        <a:srgbClr val="EAE3D8"/>
                      </a:solidFill>
                      <a:prstDash val="solid"/>
                      <a:round/>
                      <a:headEnd type="none" w="med" len="med"/>
                      <a:tailEnd type="none" w="med" len="med"/>
                    </a:lnB>
                    <a:solidFill>
                      <a:srgbClr val="FFFFFF"/>
                    </a:solidFill>
                  </a:tcPr>
                </a:tc>
              </a:tr>
            </a:tbl>
          </a:graphicData>
        </a:graphic>
      </p:graphicFrame>
      <p:sp>
        <p:nvSpPr>
          <p:cNvPr id="7" name="Text 4"/>
          <p:cNvSpPr txBox="1"/>
          <p:nvPr/>
        </p:nvSpPr>
        <p:spPr>
          <a:xfrm>
            <a:off x="777240" y="3657600"/>
            <a:ext cx="3566160" cy="274320"/>
          </a:xfrm>
          <a:prstGeom prst="rect">
            <a:avLst/>
          </a:prstGeom>
          <a:noFill/>
          <a:ln/>
        </p:spPr>
        <p:txBody>
          <a:bodyPr wrap="square" lIns="0" tIns="0" rIns="0" bIns="0" rtlCol="0" anchor="ctr"/>
          <a:lstStyle/>
          <a:p>
            <a:pPr indent="0" marL="0">
              <a:buNone/>
            </a:pPr>
            <a:r>
              <a:rPr lang="en-US" sz="1000" dirty="0">
                <a:solidFill>
                  <a:srgbClr val="8A857D"/>
                </a:solidFill>
                <a:latin typeface="Yu Gothic" pitchFamily="34" charset="0"/>
                <a:ea typeface="Yu Gothic" pitchFamily="34" charset="-122"/>
                <a:cs typeface="Yu Gothic" pitchFamily="34" charset="-120"/>
              </a:rPr>
              <a:t>ピアソン相関（上下の付け方）0.7 ＋ 評価差の近さ 0.3</a:t>
            </a:r>
            <a:endParaRPr lang="en-US" sz="1000" dirty="0"/>
          </a:p>
        </p:txBody>
      </p:sp>
      <p:sp>
        <p:nvSpPr>
          <p:cNvPr id="8" name="Shape 5"/>
          <p:cNvSpPr/>
          <p:nvPr/>
        </p:nvSpPr>
        <p:spPr>
          <a:xfrm>
            <a:off x="4617720" y="2606040"/>
            <a:ext cx="457200" cy="310896"/>
          </a:xfrm>
          <a:prstGeom prst="rightArrow">
            <a:avLst/>
          </a:prstGeom>
          <a:solidFill>
            <a:srgbClr val="D9CFC2"/>
          </a:solidFill>
          <a:ln w="12700">
            <a:solidFill>
              <a:srgbClr val="D9CFC2"/>
            </a:solidFill>
            <a:prstDash val="solid"/>
          </a:ln>
        </p:spPr>
      </p:sp>
      <p:sp>
        <p:nvSpPr>
          <p:cNvPr id="9" name="Shape 6"/>
          <p:cNvSpPr/>
          <p:nvPr/>
        </p:nvSpPr>
        <p:spPr>
          <a:xfrm>
            <a:off x="5257800" y="1783080"/>
            <a:ext cx="2011680" cy="2011680"/>
          </a:xfrm>
          <a:prstGeom prst="ellipse">
            <a:avLst/>
          </a:prstGeom>
          <a:solidFill>
            <a:srgbClr val="FBEFE9"/>
          </a:solidFill>
          <a:ln w="25400">
            <a:solidFill>
              <a:srgbClr val="C6613F"/>
            </a:solidFill>
            <a:prstDash val="solid"/>
          </a:ln>
        </p:spPr>
      </p:sp>
      <p:sp>
        <p:nvSpPr>
          <p:cNvPr id="10" name="Text 7"/>
          <p:cNvSpPr txBox="1"/>
          <p:nvPr/>
        </p:nvSpPr>
        <p:spPr>
          <a:xfrm>
            <a:off x="5257800" y="2103120"/>
            <a:ext cx="2011680" cy="822960"/>
          </a:xfrm>
          <a:prstGeom prst="rect">
            <a:avLst/>
          </a:prstGeom>
          <a:noFill/>
          <a:ln/>
        </p:spPr>
        <p:txBody>
          <a:bodyPr wrap="square" lIns="0" tIns="0" rIns="0" bIns="0" rtlCol="0" anchor="ctr"/>
          <a:lstStyle/>
          <a:p>
            <a:pPr algn="ctr" indent="0" marL="0">
              <a:buNone/>
            </a:pPr>
            <a:r>
              <a:rPr lang="en-US" sz="4000" b="1" dirty="0">
                <a:solidFill>
                  <a:srgbClr val="B4552F"/>
                </a:solidFill>
                <a:latin typeface="Yu Gothic" pitchFamily="34" charset="0"/>
                <a:ea typeface="Yu Gothic" pitchFamily="34" charset="-122"/>
                <a:cs typeface="Yu Gothic" pitchFamily="34" charset="-120"/>
              </a:rPr>
              <a:t>79%</a:t>
            </a:r>
            <a:endParaRPr lang="en-US" sz="4000" dirty="0"/>
          </a:p>
        </p:txBody>
      </p:sp>
      <p:sp>
        <p:nvSpPr>
          <p:cNvPr id="11" name="Text 8"/>
          <p:cNvSpPr txBox="1"/>
          <p:nvPr/>
        </p:nvSpPr>
        <p:spPr>
          <a:xfrm>
            <a:off x="5257800" y="2880360"/>
            <a:ext cx="2011680" cy="365760"/>
          </a:xfrm>
          <a:prstGeom prst="rect">
            <a:avLst/>
          </a:prstGeom>
          <a:noFill/>
          <a:ln/>
        </p:spPr>
        <p:txBody>
          <a:bodyPr wrap="square" lIns="0" tIns="0" rIns="0" bIns="0" rtlCol="0" anchor="ctr"/>
          <a:lstStyle/>
          <a:p>
            <a:pPr algn="ctr" indent="0" marL="0">
              <a:buNone/>
            </a:pPr>
            <a:r>
              <a:rPr lang="en-US" sz="1300" b="1" dirty="0">
                <a:solidFill>
                  <a:srgbClr val="C6613F"/>
                </a:solidFill>
                <a:latin typeface="Yu Gothic" pitchFamily="34" charset="0"/>
                <a:ea typeface="Yu Gothic" pitchFamily="34" charset="-122"/>
                <a:cs typeface="Yu Gothic" pitchFamily="34" charset="-120"/>
              </a:rPr>
              <a:t>味覚一致率</a:t>
            </a:r>
            <a:endParaRPr lang="en-US" sz="1300" dirty="0"/>
          </a:p>
        </p:txBody>
      </p:sp>
      <p:sp>
        <p:nvSpPr>
          <p:cNvPr id="12" name="Shape 9"/>
          <p:cNvSpPr/>
          <p:nvPr/>
        </p:nvSpPr>
        <p:spPr>
          <a:xfrm>
            <a:off x="7406640" y="2606040"/>
            <a:ext cx="457200" cy="310896"/>
          </a:xfrm>
          <a:prstGeom prst="rightArrow">
            <a:avLst/>
          </a:prstGeom>
          <a:solidFill>
            <a:srgbClr val="D9CFC2"/>
          </a:solidFill>
          <a:ln w="12700">
            <a:solidFill>
              <a:srgbClr val="D9CFC2"/>
            </a:solidFill>
            <a:prstDash val="solid"/>
          </a:ln>
        </p:spPr>
      </p:sp>
      <p:sp>
        <p:nvSpPr>
          <p:cNvPr id="13" name="Shape 10"/>
          <p:cNvSpPr/>
          <p:nvPr/>
        </p:nvSpPr>
        <p:spPr>
          <a:xfrm>
            <a:off x="8046720" y="1600200"/>
            <a:ext cx="1737360" cy="1371600"/>
          </a:xfrm>
          <a:prstGeom prst="roundRect">
            <a:avLst>
              <a:gd name="adj" fmla="val 8000"/>
            </a:avLst>
          </a:prstGeom>
          <a:solidFill>
            <a:srgbClr val="FBEFE9"/>
          </a:solidFill>
          <a:ln w="12700">
            <a:solidFill>
              <a:srgbClr val="EFD3C6"/>
            </a:solidFill>
            <a:prstDash val="solid"/>
          </a:ln>
          <a:effectLst>
            <a:outerShdw sx="100000" sy="100000" kx="0" ky="0" algn="bl" rotWithShape="0" blurRad="76200" dist="25400" dir="5400000">
              <a:srgbClr val="000000">
                <a:alpha val="12000"/>
              </a:srgbClr>
            </a:outerShdw>
          </a:effectLst>
        </p:spPr>
      </p:sp>
      <p:sp>
        <p:nvSpPr>
          <p:cNvPr id="14" name="Text 11"/>
          <p:cNvSpPr txBox="1"/>
          <p:nvPr/>
        </p:nvSpPr>
        <p:spPr>
          <a:xfrm>
            <a:off x="8046720" y="1691640"/>
            <a:ext cx="1737360" cy="274320"/>
          </a:xfrm>
          <a:prstGeom prst="rect">
            <a:avLst/>
          </a:prstGeom>
          <a:noFill/>
          <a:ln/>
        </p:spPr>
        <p:txBody>
          <a:bodyPr wrap="square" lIns="0" tIns="0" rIns="0" bIns="0" rtlCol="0" anchor="ctr"/>
          <a:lstStyle/>
          <a:p>
            <a:pPr algn="ctr" indent="0" marL="0">
              <a:buNone/>
            </a:pPr>
            <a:r>
              <a:rPr lang="en-US" sz="1050" b="1" dirty="0">
                <a:solidFill>
                  <a:srgbClr val="C6613F"/>
                </a:solidFill>
                <a:latin typeface="Yu Gothic" pitchFamily="34" charset="0"/>
                <a:ea typeface="Yu Gothic" pitchFamily="34" charset="-122"/>
                <a:cs typeface="Yu Gothic" pitchFamily="34" charset="-120"/>
              </a:rPr>
              <a:t>あなた向け評価</a:t>
            </a:r>
            <a:endParaRPr lang="en-US" sz="1050" dirty="0"/>
          </a:p>
        </p:txBody>
      </p:sp>
      <p:sp>
        <p:nvSpPr>
          <p:cNvPr id="15" name="Text 12"/>
          <p:cNvSpPr txBox="1"/>
          <p:nvPr/>
        </p:nvSpPr>
        <p:spPr>
          <a:xfrm>
            <a:off x="8046720" y="1965960"/>
            <a:ext cx="1737360" cy="640080"/>
          </a:xfrm>
          <a:prstGeom prst="rect">
            <a:avLst/>
          </a:prstGeom>
          <a:noFill/>
          <a:ln/>
        </p:spPr>
        <p:txBody>
          <a:bodyPr wrap="square" lIns="0" tIns="0" rIns="0" bIns="0" rtlCol="0" anchor="ctr"/>
          <a:lstStyle/>
          <a:p>
            <a:pPr algn="ctr" indent="0" marL="0">
              <a:buNone/>
            </a:pPr>
            <a:r>
              <a:rPr lang="en-US" sz="3000" b="1" dirty="0">
                <a:solidFill>
                  <a:srgbClr val="B4552F"/>
                </a:solidFill>
                <a:latin typeface="Yu Gothic" pitchFamily="34" charset="0"/>
                <a:ea typeface="Yu Gothic" pitchFamily="34" charset="-122"/>
                <a:cs typeface="Yu Gothic" pitchFamily="34" charset="-120"/>
              </a:rPr>
              <a:t>★4.5</a:t>
            </a:r>
            <a:endParaRPr lang="en-US" sz="3000" dirty="0"/>
          </a:p>
        </p:txBody>
      </p:sp>
      <p:sp>
        <p:nvSpPr>
          <p:cNvPr id="16" name="Text 13"/>
          <p:cNvSpPr txBox="1"/>
          <p:nvPr/>
        </p:nvSpPr>
        <p:spPr>
          <a:xfrm>
            <a:off x="8046720" y="2606040"/>
            <a:ext cx="1737360" cy="274320"/>
          </a:xfrm>
          <a:prstGeom prst="rect">
            <a:avLst/>
          </a:prstGeom>
          <a:noFill/>
          <a:ln/>
        </p:spPr>
        <p:txBody>
          <a:bodyPr wrap="square" lIns="0" tIns="0" rIns="0" bIns="0" rtlCol="0" anchor="ctr"/>
          <a:lstStyle/>
          <a:p>
            <a:pPr algn="ctr" indent="0" marL="0">
              <a:buNone/>
            </a:pPr>
            <a:r>
              <a:rPr lang="en-US" sz="850" dirty="0">
                <a:solidFill>
                  <a:srgbClr val="C6613F"/>
                </a:solidFill>
                <a:latin typeface="Yu Gothic" pitchFamily="34" charset="0"/>
                <a:ea typeface="Yu Gothic" pitchFamily="34" charset="-122"/>
                <a:cs typeface="Yu Gothic" pitchFamily="34" charset="-120"/>
              </a:rPr>
              <a:t>一致率で重み付けした平均</a:t>
            </a:r>
            <a:endParaRPr lang="en-US" sz="850" dirty="0"/>
          </a:p>
        </p:txBody>
      </p:sp>
      <p:sp>
        <p:nvSpPr>
          <p:cNvPr id="17" name="Shape 14"/>
          <p:cNvSpPr/>
          <p:nvPr/>
        </p:nvSpPr>
        <p:spPr>
          <a:xfrm>
            <a:off x="9921240" y="1600200"/>
            <a:ext cx="1737360" cy="1371600"/>
          </a:xfrm>
          <a:prstGeom prst="roundRect">
            <a:avLst>
              <a:gd name="adj" fmla="val 8000"/>
            </a:avLst>
          </a:prstGeom>
          <a:solidFill>
            <a:srgbClr val="FFFFFF"/>
          </a:solidFill>
          <a:ln w="12700">
            <a:solidFill>
              <a:srgbClr val="EAE3D8"/>
            </a:solidFill>
            <a:prstDash val="solid"/>
          </a:ln>
          <a:effectLst>
            <a:outerShdw sx="100000" sy="100000" kx="0" ky="0" algn="bl" rotWithShape="0" blurRad="76200" dist="25400" dir="5400000">
              <a:srgbClr val="000000">
                <a:alpha val="12000"/>
              </a:srgbClr>
            </a:outerShdw>
          </a:effectLst>
        </p:spPr>
      </p:sp>
      <p:sp>
        <p:nvSpPr>
          <p:cNvPr id="18" name="Text 15"/>
          <p:cNvSpPr txBox="1"/>
          <p:nvPr/>
        </p:nvSpPr>
        <p:spPr>
          <a:xfrm>
            <a:off x="9921240" y="1691640"/>
            <a:ext cx="1737360" cy="274320"/>
          </a:xfrm>
          <a:prstGeom prst="rect">
            <a:avLst/>
          </a:prstGeom>
          <a:noFill/>
          <a:ln/>
        </p:spPr>
        <p:txBody>
          <a:bodyPr wrap="square" lIns="0" tIns="0" rIns="0" bIns="0" rtlCol="0" anchor="ctr"/>
          <a:lstStyle/>
          <a:p>
            <a:pPr algn="ctr" indent="0" marL="0">
              <a:buNone/>
            </a:pPr>
            <a:r>
              <a:rPr lang="en-US" sz="1050" b="1" dirty="0">
                <a:solidFill>
                  <a:srgbClr val="8A857D"/>
                </a:solidFill>
                <a:latin typeface="Yu Gothic" pitchFamily="34" charset="0"/>
                <a:ea typeface="Yu Gothic" pitchFamily="34" charset="-122"/>
                <a:cs typeface="Yu Gothic" pitchFamily="34" charset="-120"/>
              </a:rPr>
              <a:t>全体評価</a:t>
            </a:r>
            <a:endParaRPr lang="en-US" sz="1050" dirty="0"/>
          </a:p>
        </p:txBody>
      </p:sp>
      <p:sp>
        <p:nvSpPr>
          <p:cNvPr id="19" name="Text 16"/>
          <p:cNvSpPr txBox="1"/>
          <p:nvPr/>
        </p:nvSpPr>
        <p:spPr>
          <a:xfrm>
            <a:off x="9921240" y="1965960"/>
            <a:ext cx="1737360" cy="640080"/>
          </a:xfrm>
          <a:prstGeom prst="rect">
            <a:avLst/>
          </a:prstGeom>
          <a:noFill/>
          <a:ln/>
        </p:spPr>
        <p:txBody>
          <a:bodyPr wrap="square" lIns="0" tIns="0" rIns="0" bIns="0" rtlCol="0" anchor="ctr"/>
          <a:lstStyle/>
          <a:p>
            <a:pPr algn="ctr" indent="0" marL="0">
              <a:buNone/>
            </a:pPr>
            <a:r>
              <a:rPr lang="en-US" sz="3000" b="1" dirty="0">
                <a:solidFill>
                  <a:srgbClr val="6E6960"/>
                </a:solidFill>
                <a:latin typeface="Yu Gothic" pitchFamily="34" charset="0"/>
                <a:ea typeface="Yu Gothic" pitchFamily="34" charset="-122"/>
                <a:cs typeface="Yu Gothic" pitchFamily="34" charset="-120"/>
              </a:rPr>
              <a:t>★3.6</a:t>
            </a:r>
            <a:endParaRPr lang="en-US" sz="3000" dirty="0"/>
          </a:p>
        </p:txBody>
      </p:sp>
      <p:sp>
        <p:nvSpPr>
          <p:cNvPr id="20" name="Text 17"/>
          <p:cNvSpPr txBox="1"/>
          <p:nvPr/>
        </p:nvSpPr>
        <p:spPr>
          <a:xfrm>
            <a:off x="9921240" y="2606040"/>
            <a:ext cx="1737360" cy="274320"/>
          </a:xfrm>
          <a:prstGeom prst="rect">
            <a:avLst/>
          </a:prstGeom>
          <a:noFill/>
          <a:ln/>
        </p:spPr>
        <p:txBody>
          <a:bodyPr wrap="square" lIns="0" tIns="0" rIns="0" bIns="0" rtlCol="0" anchor="ctr"/>
          <a:lstStyle/>
          <a:p>
            <a:pPr algn="ctr" indent="0" marL="0">
              <a:buNone/>
            </a:pPr>
            <a:r>
              <a:rPr lang="en-US" sz="850" dirty="0">
                <a:solidFill>
                  <a:srgbClr val="8A857D"/>
                </a:solidFill>
                <a:latin typeface="Yu Gothic" pitchFamily="34" charset="0"/>
                <a:ea typeface="Yu Gothic" pitchFamily="34" charset="-122"/>
                <a:cs typeface="Yu Gothic" pitchFamily="34" charset="-120"/>
              </a:rPr>
              <a:t>従来の単純平均</a:t>
            </a:r>
            <a:endParaRPr lang="en-US" sz="850" dirty="0"/>
          </a:p>
        </p:txBody>
      </p:sp>
      <p:sp>
        <p:nvSpPr>
          <p:cNvPr id="21" name="Text 18"/>
          <p:cNvSpPr txBox="1"/>
          <p:nvPr/>
        </p:nvSpPr>
        <p:spPr>
          <a:xfrm>
            <a:off x="8046720" y="3108960"/>
            <a:ext cx="3611880" cy="365760"/>
          </a:xfrm>
          <a:prstGeom prst="rect">
            <a:avLst/>
          </a:prstGeom>
          <a:noFill/>
          <a:ln/>
        </p:spPr>
        <p:txBody>
          <a:bodyPr wrap="square" lIns="0" tIns="0" rIns="0" bIns="0" rtlCol="0" anchor="ctr"/>
          <a:lstStyle/>
          <a:p>
            <a:pPr algn="ctr" indent="0" marL="0">
              <a:buNone/>
            </a:pPr>
            <a:r>
              <a:rPr lang="en-US" sz="1150" b="1" dirty="0">
                <a:solidFill>
                  <a:srgbClr val="1F1E1D"/>
                </a:solidFill>
                <a:latin typeface="Yu Gothic" pitchFamily="34" charset="0"/>
                <a:ea typeface="Yu Gothic" pitchFamily="34" charset="-122"/>
                <a:cs typeface="Yu Gothic" pitchFamily="34" charset="-120"/>
              </a:rPr>
              <a:t>同じ店でも、見る人によって評価が変わる</a:t>
            </a:r>
            <a:endParaRPr lang="en-US" sz="1150" dirty="0"/>
          </a:p>
        </p:txBody>
      </p:sp>
      <p:sp>
        <p:nvSpPr>
          <p:cNvPr id="22" name="Shape 19"/>
          <p:cNvSpPr/>
          <p:nvPr/>
        </p:nvSpPr>
        <p:spPr>
          <a:xfrm>
            <a:off x="548640" y="4251960"/>
            <a:ext cx="3566160" cy="2011680"/>
          </a:xfrm>
          <a:prstGeom prst="roundRect">
            <a:avLst>
              <a:gd name="adj" fmla="val 5455"/>
            </a:avLst>
          </a:prstGeom>
          <a:solidFill>
            <a:srgbClr val="FBF8F3"/>
          </a:solidFill>
          <a:ln w="12700">
            <a:solidFill>
              <a:srgbClr val="EAE3D8"/>
            </a:solidFill>
            <a:prstDash val="solid"/>
          </a:ln>
        </p:spPr>
      </p:sp>
      <p:sp>
        <p:nvSpPr>
          <p:cNvPr id="23" name="Text 20"/>
          <p:cNvSpPr txBox="1"/>
          <p:nvPr/>
        </p:nvSpPr>
        <p:spPr>
          <a:xfrm>
            <a:off x="749808" y="4370832"/>
            <a:ext cx="3200400" cy="320040"/>
          </a:xfrm>
          <a:prstGeom prst="rect">
            <a:avLst/>
          </a:prstGeom>
          <a:noFill/>
          <a:ln/>
        </p:spPr>
        <p:txBody>
          <a:bodyPr wrap="square" lIns="0" tIns="0" rIns="0" bIns="0" rtlCol="0" anchor="ctr"/>
          <a:lstStyle/>
          <a:p>
            <a:pPr indent="0" marL="0">
              <a:buNone/>
            </a:pPr>
            <a:r>
              <a:rPr lang="en-US" sz="1300" b="1" dirty="0">
                <a:solidFill>
                  <a:srgbClr val="C6613F"/>
                </a:solidFill>
                <a:latin typeface="Yu Gothic" pitchFamily="34" charset="0"/>
                <a:ea typeface="Yu Gothic" pitchFamily="34" charset="-122"/>
                <a:cs typeface="Yu Gothic" pitchFamily="34" charset="-120"/>
              </a:rPr>
              <a:t>信頼度ルール（人が定義）</a:t>
            </a:r>
            <a:endParaRPr lang="en-US" sz="1300" dirty="0"/>
          </a:p>
        </p:txBody>
      </p:sp>
      <p:sp>
        <p:nvSpPr>
          <p:cNvPr id="24" name="Text 21"/>
          <p:cNvSpPr txBox="1"/>
          <p:nvPr/>
        </p:nvSpPr>
        <p:spPr>
          <a:xfrm>
            <a:off x="749808" y="4709160"/>
            <a:ext cx="3200400" cy="1463040"/>
          </a:xfrm>
          <a:prstGeom prst="rect">
            <a:avLst/>
          </a:prstGeom>
          <a:noFill/>
          <a:ln/>
        </p:spPr>
        <p:txBody>
          <a:bodyPr wrap="square" lIns="0" tIns="0" rIns="0" bIns="0" rtlCol="0" anchor="t"/>
          <a:lstStyle/>
          <a:p>
            <a:pPr indent="0" marL="0">
              <a:buNone/>
            </a:pPr>
            <a:r>
              <a:rPr lang="en-US" sz="1150" dirty="0">
                <a:solidFill>
                  <a:srgbClr val="1F1E1D"/>
                </a:solidFill>
                <a:latin typeface="Yu Gothic" pitchFamily="34" charset="0"/>
                <a:ea typeface="Yu Gothic" pitchFamily="34" charset="-122"/>
                <a:cs typeface="Yu Gothic" pitchFamily="34" charset="-120"/>
              </a:rPr>
              <a:t>共通店が5件未満なら一致率を出さない。5〜19件は薄く表示、20件以上で通常表示。偶然の一致による誤検出を防ぐ。</a:t>
            </a:r>
            <a:endParaRPr lang="en-US" sz="1150" dirty="0"/>
          </a:p>
        </p:txBody>
      </p:sp>
      <p:sp>
        <p:nvSpPr>
          <p:cNvPr id="25" name="Shape 22"/>
          <p:cNvSpPr/>
          <p:nvPr/>
        </p:nvSpPr>
        <p:spPr>
          <a:xfrm>
            <a:off x="4315968" y="4251960"/>
            <a:ext cx="3566160" cy="2011680"/>
          </a:xfrm>
          <a:prstGeom prst="roundRect">
            <a:avLst>
              <a:gd name="adj" fmla="val 5455"/>
            </a:avLst>
          </a:prstGeom>
          <a:solidFill>
            <a:srgbClr val="FBF8F3"/>
          </a:solidFill>
          <a:ln w="12700">
            <a:solidFill>
              <a:srgbClr val="EAE3D8"/>
            </a:solidFill>
            <a:prstDash val="solid"/>
          </a:ln>
        </p:spPr>
      </p:sp>
      <p:sp>
        <p:nvSpPr>
          <p:cNvPr id="26" name="Text 23"/>
          <p:cNvSpPr txBox="1"/>
          <p:nvPr/>
        </p:nvSpPr>
        <p:spPr>
          <a:xfrm>
            <a:off x="4517136" y="4370832"/>
            <a:ext cx="3200400" cy="320040"/>
          </a:xfrm>
          <a:prstGeom prst="rect">
            <a:avLst/>
          </a:prstGeom>
          <a:noFill/>
          <a:ln/>
        </p:spPr>
        <p:txBody>
          <a:bodyPr wrap="square" lIns="0" tIns="0" rIns="0" bIns="0" rtlCol="0" anchor="ctr"/>
          <a:lstStyle/>
          <a:p>
            <a:pPr indent="0" marL="0">
              <a:buNone/>
            </a:pPr>
            <a:r>
              <a:rPr lang="en-US" sz="1300" b="1" dirty="0">
                <a:solidFill>
                  <a:srgbClr val="C6613F"/>
                </a:solidFill>
                <a:latin typeface="Yu Gothic" pitchFamily="34" charset="0"/>
                <a:ea typeface="Yu Gothic" pitchFamily="34" charset="-122"/>
                <a:cs typeface="Yu Gothic" pitchFamily="34" charset="-120"/>
              </a:rPr>
              <a:t>効果の検証</a:t>
            </a:r>
            <a:endParaRPr lang="en-US" sz="1300" dirty="0"/>
          </a:p>
        </p:txBody>
      </p:sp>
      <p:sp>
        <p:nvSpPr>
          <p:cNvPr id="27" name="Text 24"/>
          <p:cNvSpPr txBox="1"/>
          <p:nvPr/>
        </p:nvSpPr>
        <p:spPr>
          <a:xfrm>
            <a:off x="4517136" y="4709160"/>
            <a:ext cx="3200400" cy="1463040"/>
          </a:xfrm>
          <a:prstGeom prst="rect">
            <a:avLst/>
          </a:prstGeom>
          <a:noFill/>
          <a:ln/>
        </p:spPr>
        <p:txBody>
          <a:bodyPr wrap="square" lIns="0" tIns="0" rIns="0" bIns="0" rtlCol="0" anchor="t"/>
          <a:lstStyle/>
          <a:p>
            <a:pPr indent="0" marL="0">
              <a:buNone/>
            </a:pPr>
            <a:r>
              <a:rPr lang="en-US" sz="1150" dirty="0">
                <a:solidFill>
                  <a:srgbClr val="1F1E1D"/>
                </a:solidFill>
                <a:latin typeface="Yu Gothic" pitchFamily="34" charset="0"/>
                <a:ea typeface="Yu Gothic" pitchFamily="34" charset="-122"/>
                <a:cs typeface="Yu Gothic" pitchFamily="34" charset="-120"/>
              </a:rPr>
              <a:t>評価傾向を変えたテストデータで検証。傾向が近い人は 79%、真逆の人は 27% と直感に合う値に。一致率の高い人の高評価の未訪問店が「おすすめ」上位へ。</a:t>
            </a:r>
            <a:endParaRPr lang="en-US" sz="1150" dirty="0"/>
          </a:p>
        </p:txBody>
      </p:sp>
      <p:sp>
        <p:nvSpPr>
          <p:cNvPr id="28" name="Shape 25"/>
          <p:cNvSpPr/>
          <p:nvPr/>
        </p:nvSpPr>
        <p:spPr>
          <a:xfrm>
            <a:off x="8083296" y="4251960"/>
            <a:ext cx="3566160" cy="2011680"/>
          </a:xfrm>
          <a:prstGeom prst="roundRect">
            <a:avLst>
              <a:gd name="adj" fmla="val 5455"/>
            </a:avLst>
          </a:prstGeom>
          <a:solidFill>
            <a:srgbClr val="FBF8F3"/>
          </a:solidFill>
          <a:ln w="12700">
            <a:solidFill>
              <a:srgbClr val="EAE3D8"/>
            </a:solidFill>
            <a:prstDash val="solid"/>
          </a:ln>
        </p:spPr>
      </p:sp>
      <p:sp>
        <p:nvSpPr>
          <p:cNvPr id="29" name="Text 26"/>
          <p:cNvSpPr txBox="1"/>
          <p:nvPr/>
        </p:nvSpPr>
        <p:spPr>
          <a:xfrm>
            <a:off x="8284464" y="4370832"/>
            <a:ext cx="3200400" cy="320040"/>
          </a:xfrm>
          <a:prstGeom prst="rect">
            <a:avLst/>
          </a:prstGeom>
          <a:noFill/>
          <a:ln/>
        </p:spPr>
        <p:txBody>
          <a:bodyPr wrap="square" lIns="0" tIns="0" rIns="0" bIns="0" rtlCol="0" anchor="ctr"/>
          <a:lstStyle/>
          <a:p>
            <a:pPr indent="0" marL="0">
              <a:buNone/>
            </a:pPr>
            <a:r>
              <a:rPr lang="en-US" sz="1300" b="1" dirty="0">
                <a:solidFill>
                  <a:srgbClr val="C6613F"/>
                </a:solidFill>
                <a:latin typeface="Yu Gothic" pitchFamily="34" charset="0"/>
                <a:ea typeface="Yu Gothic" pitchFamily="34" charset="-122"/>
                <a:cs typeface="Yu Gothic" pitchFamily="34" charset="-120"/>
              </a:rPr>
              <a:t>アプリ全体で使う</a:t>
            </a:r>
            <a:endParaRPr lang="en-US" sz="1300" dirty="0"/>
          </a:p>
        </p:txBody>
      </p:sp>
      <p:sp>
        <p:nvSpPr>
          <p:cNvPr id="30" name="Text 27"/>
          <p:cNvSpPr txBox="1"/>
          <p:nvPr/>
        </p:nvSpPr>
        <p:spPr>
          <a:xfrm>
            <a:off x="8284464" y="4709160"/>
            <a:ext cx="3200400" cy="1463040"/>
          </a:xfrm>
          <a:prstGeom prst="rect">
            <a:avLst/>
          </a:prstGeom>
          <a:noFill/>
          <a:ln/>
        </p:spPr>
        <p:txBody>
          <a:bodyPr wrap="square" lIns="0" tIns="0" rIns="0" bIns="0" rtlCol="0" anchor="t"/>
          <a:lstStyle/>
          <a:p>
            <a:pPr indent="0" marL="0">
              <a:buNone/>
            </a:pPr>
            <a:r>
              <a:rPr lang="en-US" sz="1150" dirty="0">
                <a:solidFill>
                  <a:srgbClr val="1F1E1D"/>
                </a:solidFill>
                <a:latin typeface="Yu Gothic" pitchFamily="34" charset="0"/>
                <a:ea typeface="Yu Gothic" pitchFamily="34" charset="-122"/>
                <a:cs typeface="Yu Gothic" pitchFamily="34" charset="-120"/>
              </a:rPr>
              <a:t>地図のピン色・ホームの並び順・店舗詳細の評価に同じ値を使用。自分の評価は一致率100%として最重視。</a:t>
            </a:r>
            <a:endParaRPr lang="en-US" sz="1150" dirty="0"/>
          </a:p>
        </p:txBody>
      </p:sp>
      <p:sp>
        <p:nvSpPr>
          <p:cNvPr id="31" name="Text 28"/>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8A857D"/>
                </a:solidFill>
                <a:latin typeface="Yu Gothic" pitchFamily="34" charset="0"/>
                <a:ea typeface="Yu Gothic" pitchFamily="34" charset="-122"/>
                <a:cs typeface="Yu Gothic" pitchFamily="34" charset="-120"/>
              </a:rPr>
              <a:t>BITEMAP ｜ 2026 AI Innovators Cup @ Shibaura 決勝</a:t>
            </a:r>
            <a:endParaRPr lang="en-US" sz="900" dirty="0"/>
          </a:p>
        </p:txBody>
      </p:sp>
      <p:sp>
        <p:nvSpPr>
          <p:cNvPr id="32" name="Text 29"/>
          <p:cNvSpPr txBox="1"/>
          <p:nvPr/>
        </p:nvSpPr>
        <p:spPr>
          <a:xfrm>
            <a:off x="11155680" y="6446520"/>
            <a:ext cx="457200" cy="274320"/>
          </a:xfrm>
          <a:prstGeom prst="rect">
            <a:avLst/>
          </a:prstGeom>
          <a:noFill/>
          <a:ln/>
        </p:spPr>
        <p:txBody>
          <a:bodyPr wrap="square" lIns="0" tIns="0" rIns="0" bIns="0" rtlCol="0" anchor="ctr"/>
          <a:lstStyle/>
          <a:p>
            <a:pPr algn="r" indent="0" marL="0">
              <a:buNone/>
            </a:pPr>
            <a:r>
              <a:rPr lang="en-US" sz="900" dirty="0">
                <a:solidFill>
                  <a:srgbClr val="8A857D"/>
                </a:solidFill>
                <a:latin typeface="Yu Gothic" pitchFamily="34" charset="0"/>
                <a:ea typeface="Yu Gothic" pitchFamily="34" charset="-122"/>
                <a:cs typeface="Yu Gothic"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7315200" cy="320040"/>
          </a:xfrm>
          <a:prstGeom prst="rect">
            <a:avLst/>
          </a:prstGeom>
          <a:noFill/>
          <a:ln/>
        </p:spPr>
        <p:txBody>
          <a:bodyPr wrap="square" lIns="0" tIns="0" rIns="0" bIns="0" rtlCol="0" anchor="ctr"/>
          <a:lstStyle/>
          <a:p>
            <a:pPr indent="0" marL="0">
              <a:buNone/>
            </a:pPr>
            <a:r>
              <a:rPr lang="en-US" sz="1300" b="1" spc="200" kern="0" dirty="0">
                <a:solidFill>
                  <a:srgbClr val="C6613F"/>
                </a:solidFill>
                <a:latin typeface="Yu Gothic" pitchFamily="34" charset="0"/>
                <a:ea typeface="Yu Gothic" pitchFamily="34" charset="-122"/>
                <a:cs typeface="Yu Gothic" pitchFamily="34" charset="-120"/>
              </a:rPr>
              <a:t>DEMO</a:t>
            </a:r>
            <a:endParaRPr lang="en-US" sz="1300" dirty="0"/>
          </a:p>
        </p:txBody>
      </p:sp>
      <p:sp>
        <p:nvSpPr>
          <p:cNvPr id="3" name="Text 1"/>
          <p:cNvSpPr txBox="1"/>
          <p:nvPr/>
        </p:nvSpPr>
        <p:spPr>
          <a:xfrm>
            <a:off x="548640" y="621792"/>
            <a:ext cx="11064240" cy="685800"/>
          </a:xfrm>
          <a:prstGeom prst="rect">
            <a:avLst/>
          </a:prstGeom>
          <a:noFill/>
          <a:ln/>
        </p:spPr>
        <p:txBody>
          <a:bodyPr wrap="square" lIns="0" tIns="0" rIns="0" bIns="0" rtlCol="0" anchor="ctr"/>
          <a:lstStyle/>
          <a:p>
            <a:pPr indent="0" marL="0">
              <a:buNone/>
            </a:pPr>
            <a:r>
              <a:rPr lang="en-US" sz="3000" b="1" dirty="0">
                <a:solidFill>
                  <a:srgbClr val="1F1E1D"/>
                </a:solidFill>
                <a:latin typeface="Yu Gothic" pitchFamily="34" charset="0"/>
                <a:ea typeface="Yu Gothic" pitchFamily="34" charset="-122"/>
                <a:cs typeface="Yu Gothic" pitchFamily="34" charset="-120"/>
              </a:rPr>
              <a:t>実機デモ ― 実際に使っている画面と実データ（74秒）</a:t>
            </a:r>
            <a:endParaRPr lang="en-US" sz="3000" dirty="0"/>
          </a:p>
        </p:txBody>
      </p:sp>
      <p:pic>
        <p:nvPicPr>
          <p:cNvPr id="3" name="Media 0">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1709928" y="1417320"/>
            <a:ext cx="8778240" cy="4937760"/>
          </a:xfrm>
          <a:prstGeom prst="rect">
            <a:avLst/>
          </a:prstGeom>
        </p:spPr>
      </p:pic>
      <p:sp>
        <p:nvSpPr>
          <p:cNvPr id="5" name="Text 2"/>
          <p:cNvSpPr txBox="1"/>
          <p:nvPr/>
        </p:nvSpPr>
        <p:spPr>
          <a:xfrm>
            <a:off x="1709928" y="6080760"/>
            <a:ext cx="8778240" cy="274320"/>
          </a:xfrm>
          <a:prstGeom prst="rect">
            <a:avLst/>
          </a:prstGeom>
          <a:noFill/>
          <a:ln/>
        </p:spPr>
        <p:txBody>
          <a:bodyPr wrap="square" lIns="0" tIns="0" rIns="0" bIns="0" rtlCol="0" anchor="ctr"/>
          <a:lstStyle/>
          <a:p>
            <a:pPr algn="ctr" indent="0" marL="0">
              <a:buNone/>
            </a:pPr>
            <a:r>
              <a:rPr lang="en-US" sz="950" dirty="0">
                <a:solidFill>
                  <a:srgbClr val="8A857D"/>
                </a:solidFill>
                <a:latin typeface="Yu Gothic" pitchFamily="34" charset="0"/>
                <a:ea typeface="Yu Gothic" pitchFamily="34" charset="-122"/>
                <a:cs typeface="Yu Gothic" pitchFamily="34" charset="-120"/>
              </a:rPr>
              <a:t>動画は本人アカウントの実データ（表示は★3以上の記録のみ）。予備: https://takusangoukaku-hash.github.io/gourmet-app/</a:t>
            </a:r>
            <a:endParaRPr lang="en-US" sz="950" dirty="0"/>
          </a:p>
        </p:txBody>
      </p:sp>
      <p:sp>
        <p:nvSpPr>
          <p:cNvPr id="6" name="Text 3"/>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8A857D"/>
                </a:solidFill>
                <a:latin typeface="Yu Gothic" pitchFamily="34" charset="0"/>
                <a:ea typeface="Yu Gothic" pitchFamily="34" charset="-122"/>
                <a:cs typeface="Yu Gothic" pitchFamily="34" charset="-120"/>
              </a:rPr>
              <a:t>BITEMAP ｜ 2026 AI Innovators Cup @ Shibaura 決勝</a:t>
            </a:r>
            <a:endParaRPr lang="en-US" sz="900" dirty="0"/>
          </a:p>
        </p:txBody>
      </p:sp>
      <p:sp>
        <p:nvSpPr>
          <p:cNvPr id="7" name="Text 4"/>
          <p:cNvSpPr txBox="1"/>
          <p:nvPr/>
        </p:nvSpPr>
        <p:spPr>
          <a:xfrm>
            <a:off x="11155680" y="6446520"/>
            <a:ext cx="457200" cy="274320"/>
          </a:xfrm>
          <a:prstGeom prst="rect">
            <a:avLst/>
          </a:prstGeom>
          <a:noFill/>
          <a:ln/>
        </p:spPr>
        <p:txBody>
          <a:bodyPr wrap="square" lIns="0" tIns="0" rIns="0" bIns="0" rtlCol="0" anchor="ctr"/>
          <a:lstStyle/>
          <a:p>
            <a:pPr algn="r" indent="0" marL="0">
              <a:buNone/>
            </a:pPr>
            <a:r>
              <a:rPr lang="en-US" sz="900" dirty="0">
                <a:solidFill>
                  <a:srgbClr val="8A857D"/>
                </a:solidFill>
                <a:latin typeface="Yu Gothic" pitchFamily="34" charset="0"/>
                <a:ea typeface="Yu Gothic" pitchFamily="34" charset="-122"/>
                <a:cs typeface="Yu Gothic"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7315200" cy="320040"/>
          </a:xfrm>
          <a:prstGeom prst="rect">
            <a:avLst/>
          </a:prstGeom>
          <a:noFill/>
          <a:ln/>
        </p:spPr>
        <p:txBody>
          <a:bodyPr wrap="square" lIns="0" tIns="0" rIns="0" bIns="0" rtlCol="0" anchor="ctr"/>
          <a:lstStyle/>
          <a:p>
            <a:pPr indent="0" marL="0">
              <a:buNone/>
            </a:pPr>
            <a:r>
              <a:rPr lang="en-US" sz="1300" b="1" spc="200" kern="0" dirty="0">
                <a:solidFill>
                  <a:srgbClr val="C6613F"/>
                </a:solidFill>
                <a:latin typeface="Yu Gothic" pitchFamily="34" charset="0"/>
                <a:ea typeface="Yu Gothic" pitchFamily="34" charset="-122"/>
                <a:cs typeface="Yu Gothic" pitchFamily="34" charset="-120"/>
              </a:rPr>
              <a:t>審査観点 ①②③ AI活用の目的と方法／プロンプト設計／人の判断</a:t>
            </a:r>
            <a:endParaRPr lang="en-US" sz="1300" dirty="0"/>
          </a:p>
        </p:txBody>
      </p:sp>
      <p:sp>
        <p:nvSpPr>
          <p:cNvPr id="3" name="Text 1"/>
          <p:cNvSpPr txBox="1"/>
          <p:nvPr/>
        </p:nvSpPr>
        <p:spPr>
          <a:xfrm>
            <a:off x="548640" y="621792"/>
            <a:ext cx="11064240" cy="685800"/>
          </a:xfrm>
          <a:prstGeom prst="rect">
            <a:avLst/>
          </a:prstGeom>
          <a:noFill/>
          <a:ln/>
        </p:spPr>
        <p:txBody>
          <a:bodyPr wrap="square" lIns="0" tIns="0" rIns="0" bIns="0" rtlCol="0" anchor="ctr"/>
          <a:lstStyle/>
          <a:p>
            <a:pPr indent="0" marL="0">
              <a:buNone/>
            </a:pPr>
            <a:r>
              <a:rPr lang="en-US" sz="3000" b="1" dirty="0">
                <a:solidFill>
                  <a:srgbClr val="1F1E1D"/>
                </a:solidFill>
                <a:latin typeface="Yu Gothic" pitchFamily="34" charset="0"/>
                <a:ea typeface="Yu Gothic" pitchFamily="34" charset="-122"/>
                <a:cs typeface="Yu Gothic" pitchFamily="34" charset="-120"/>
              </a:rPr>
              <a:t>AIの使い方 ― つくるも、つかうもAI。決めるのは人</a:t>
            </a:r>
            <a:endParaRPr lang="en-US" sz="3000" dirty="0"/>
          </a:p>
        </p:txBody>
      </p:sp>
      <p:sp>
        <p:nvSpPr>
          <p:cNvPr id="4" name="Shape 2"/>
          <p:cNvSpPr/>
          <p:nvPr/>
        </p:nvSpPr>
        <p:spPr>
          <a:xfrm>
            <a:off x="548640" y="1508760"/>
            <a:ext cx="3566160" cy="4800600"/>
          </a:xfrm>
          <a:prstGeom prst="roundRect">
            <a:avLst>
              <a:gd name="adj" fmla="val 3077"/>
            </a:avLst>
          </a:prstGeom>
          <a:solidFill>
            <a:srgbClr val="FFFFFF"/>
          </a:solidFill>
          <a:ln w="12700">
            <a:solidFill>
              <a:srgbClr val="EAE3D8"/>
            </a:solidFill>
            <a:prstDash val="solid"/>
          </a:ln>
          <a:effectLst>
            <a:outerShdw sx="100000" sy="100000" kx="0" ky="0" algn="bl" rotWithShape="0" blurRad="76200" dist="25400" dir="5400000">
              <a:srgbClr val="000000">
                <a:alpha val="12000"/>
              </a:srgbClr>
            </a:outerShdw>
          </a:effectLst>
        </p:spPr>
      </p:sp>
      <p:sp>
        <p:nvSpPr>
          <p:cNvPr id="5" name="Shape 3"/>
          <p:cNvSpPr/>
          <p:nvPr/>
        </p:nvSpPr>
        <p:spPr>
          <a:xfrm>
            <a:off x="749808" y="1691640"/>
            <a:ext cx="365760" cy="365760"/>
          </a:xfrm>
          <a:prstGeom prst="ellipse">
            <a:avLst/>
          </a:prstGeom>
          <a:solidFill>
            <a:srgbClr val="C6613F"/>
          </a:solidFill>
          <a:ln w="12700">
            <a:solidFill>
              <a:srgbClr val="C6613F"/>
            </a:solidFill>
            <a:prstDash val="solid"/>
          </a:ln>
        </p:spPr>
      </p:sp>
      <p:sp>
        <p:nvSpPr>
          <p:cNvPr id="6" name="Text 4"/>
          <p:cNvSpPr txBox="1"/>
          <p:nvPr/>
        </p:nvSpPr>
        <p:spPr>
          <a:xfrm>
            <a:off x="749808" y="1691640"/>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Yu Gothic" pitchFamily="34" charset="0"/>
                <a:ea typeface="Yu Gothic" pitchFamily="34" charset="-122"/>
                <a:cs typeface="Yu Gothic" pitchFamily="34" charset="-120"/>
              </a:rPr>
              <a:t>①</a:t>
            </a:r>
            <a:endParaRPr lang="en-US" sz="1300" dirty="0"/>
          </a:p>
        </p:txBody>
      </p:sp>
      <p:sp>
        <p:nvSpPr>
          <p:cNvPr id="7" name="Text 5"/>
          <p:cNvSpPr txBox="1"/>
          <p:nvPr/>
        </p:nvSpPr>
        <p:spPr>
          <a:xfrm>
            <a:off x="1207008" y="1673352"/>
            <a:ext cx="2743200" cy="402336"/>
          </a:xfrm>
          <a:prstGeom prst="rect">
            <a:avLst/>
          </a:prstGeom>
          <a:noFill/>
          <a:ln/>
        </p:spPr>
        <p:txBody>
          <a:bodyPr wrap="square" lIns="0" tIns="0" rIns="0" bIns="0" rtlCol="0" anchor="ctr"/>
          <a:lstStyle/>
          <a:p>
            <a:pPr indent="0" marL="0">
              <a:buNone/>
            </a:pPr>
            <a:r>
              <a:rPr lang="en-US" sz="1600" b="1" dirty="0">
                <a:solidFill>
                  <a:srgbClr val="1F1E1D"/>
                </a:solidFill>
                <a:latin typeface="Yu Gothic" pitchFamily="34" charset="0"/>
                <a:ea typeface="Yu Gothic" pitchFamily="34" charset="-122"/>
                <a:cs typeface="Yu Gothic" pitchFamily="34" charset="-120"/>
              </a:rPr>
              <a:t>目的と方法</a:t>
            </a:r>
            <a:endParaRPr lang="en-US" sz="1600" dirty="0"/>
          </a:p>
        </p:txBody>
      </p:sp>
      <p:sp>
        <p:nvSpPr>
          <p:cNvPr id="8" name="Shape 6"/>
          <p:cNvSpPr/>
          <p:nvPr/>
        </p:nvSpPr>
        <p:spPr>
          <a:xfrm>
            <a:off x="4315968" y="1508760"/>
            <a:ext cx="3566160" cy="4800600"/>
          </a:xfrm>
          <a:prstGeom prst="roundRect">
            <a:avLst>
              <a:gd name="adj" fmla="val 3077"/>
            </a:avLst>
          </a:prstGeom>
          <a:solidFill>
            <a:srgbClr val="FFFFFF"/>
          </a:solidFill>
          <a:ln w="12700">
            <a:solidFill>
              <a:srgbClr val="EAE3D8"/>
            </a:solidFill>
            <a:prstDash val="solid"/>
          </a:ln>
          <a:effectLst>
            <a:outerShdw sx="100000" sy="100000" kx="0" ky="0" algn="bl" rotWithShape="0" blurRad="76200" dist="25400" dir="5400000">
              <a:srgbClr val="000000">
                <a:alpha val="12000"/>
              </a:srgbClr>
            </a:outerShdw>
          </a:effectLst>
        </p:spPr>
      </p:sp>
      <p:sp>
        <p:nvSpPr>
          <p:cNvPr id="9" name="Shape 7"/>
          <p:cNvSpPr/>
          <p:nvPr/>
        </p:nvSpPr>
        <p:spPr>
          <a:xfrm>
            <a:off x="4517136" y="1691640"/>
            <a:ext cx="365760" cy="365760"/>
          </a:xfrm>
          <a:prstGeom prst="ellipse">
            <a:avLst/>
          </a:prstGeom>
          <a:solidFill>
            <a:srgbClr val="C6613F"/>
          </a:solidFill>
          <a:ln w="12700">
            <a:solidFill>
              <a:srgbClr val="C6613F"/>
            </a:solidFill>
            <a:prstDash val="solid"/>
          </a:ln>
        </p:spPr>
      </p:sp>
      <p:sp>
        <p:nvSpPr>
          <p:cNvPr id="10" name="Text 8"/>
          <p:cNvSpPr txBox="1"/>
          <p:nvPr/>
        </p:nvSpPr>
        <p:spPr>
          <a:xfrm>
            <a:off x="4517136" y="1691640"/>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Yu Gothic" pitchFamily="34" charset="0"/>
                <a:ea typeface="Yu Gothic" pitchFamily="34" charset="-122"/>
                <a:cs typeface="Yu Gothic" pitchFamily="34" charset="-120"/>
              </a:rPr>
              <a:t>②</a:t>
            </a:r>
            <a:endParaRPr lang="en-US" sz="1300" dirty="0"/>
          </a:p>
        </p:txBody>
      </p:sp>
      <p:sp>
        <p:nvSpPr>
          <p:cNvPr id="11" name="Text 9"/>
          <p:cNvSpPr txBox="1"/>
          <p:nvPr/>
        </p:nvSpPr>
        <p:spPr>
          <a:xfrm>
            <a:off x="4974336" y="1673352"/>
            <a:ext cx="2743200" cy="402336"/>
          </a:xfrm>
          <a:prstGeom prst="rect">
            <a:avLst/>
          </a:prstGeom>
          <a:noFill/>
          <a:ln/>
        </p:spPr>
        <p:txBody>
          <a:bodyPr wrap="square" lIns="0" tIns="0" rIns="0" bIns="0" rtlCol="0" anchor="ctr"/>
          <a:lstStyle/>
          <a:p>
            <a:pPr indent="0" marL="0">
              <a:buNone/>
            </a:pPr>
            <a:r>
              <a:rPr lang="en-US" sz="1600" b="1" dirty="0">
                <a:solidFill>
                  <a:srgbClr val="1F1E1D"/>
                </a:solidFill>
                <a:latin typeface="Yu Gothic" pitchFamily="34" charset="0"/>
                <a:ea typeface="Yu Gothic" pitchFamily="34" charset="-122"/>
                <a:cs typeface="Yu Gothic" pitchFamily="34" charset="-120"/>
              </a:rPr>
              <a:t>プロンプト設計</a:t>
            </a:r>
            <a:endParaRPr lang="en-US" sz="1600" dirty="0"/>
          </a:p>
        </p:txBody>
      </p:sp>
      <p:sp>
        <p:nvSpPr>
          <p:cNvPr id="12" name="Shape 10"/>
          <p:cNvSpPr/>
          <p:nvPr/>
        </p:nvSpPr>
        <p:spPr>
          <a:xfrm>
            <a:off x="8083296" y="1508760"/>
            <a:ext cx="3566160" cy="4800600"/>
          </a:xfrm>
          <a:prstGeom prst="roundRect">
            <a:avLst>
              <a:gd name="adj" fmla="val 3077"/>
            </a:avLst>
          </a:prstGeom>
          <a:solidFill>
            <a:srgbClr val="FFFFFF"/>
          </a:solidFill>
          <a:ln w="12700">
            <a:solidFill>
              <a:srgbClr val="EAE3D8"/>
            </a:solidFill>
            <a:prstDash val="solid"/>
          </a:ln>
          <a:effectLst>
            <a:outerShdw sx="100000" sy="100000" kx="0" ky="0" algn="bl" rotWithShape="0" blurRad="76200" dist="25400" dir="5400000">
              <a:srgbClr val="000000">
                <a:alpha val="12000"/>
              </a:srgbClr>
            </a:outerShdw>
          </a:effectLst>
        </p:spPr>
      </p:sp>
      <p:sp>
        <p:nvSpPr>
          <p:cNvPr id="13" name="Shape 11"/>
          <p:cNvSpPr/>
          <p:nvPr/>
        </p:nvSpPr>
        <p:spPr>
          <a:xfrm>
            <a:off x="8284464" y="1691640"/>
            <a:ext cx="365760" cy="365760"/>
          </a:xfrm>
          <a:prstGeom prst="ellipse">
            <a:avLst/>
          </a:prstGeom>
          <a:solidFill>
            <a:srgbClr val="C6613F"/>
          </a:solidFill>
          <a:ln w="12700">
            <a:solidFill>
              <a:srgbClr val="C6613F"/>
            </a:solidFill>
            <a:prstDash val="solid"/>
          </a:ln>
        </p:spPr>
      </p:sp>
      <p:sp>
        <p:nvSpPr>
          <p:cNvPr id="14" name="Text 12"/>
          <p:cNvSpPr txBox="1"/>
          <p:nvPr/>
        </p:nvSpPr>
        <p:spPr>
          <a:xfrm>
            <a:off x="8284464" y="1691640"/>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Yu Gothic" pitchFamily="34" charset="0"/>
                <a:ea typeface="Yu Gothic" pitchFamily="34" charset="-122"/>
                <a:cs typeface="Yu Gothic" pitchFamily="34" charset="-120"/>
              </a:rPr>
              <a:t>③</a:t>
            </a:r>
            <a:endParaRPr lang="en-US" sz="1300" dirty="0"/>
          </a:p>
        </p:txBody>
      </p:sp>
      <p:sp>
        <p:nvSpPr>
          <p:cNvPr id="15" name="Text 13"/>
          <p:cNvSpPr txBox="1"/>
          <p:nvPr/>
        </p:nvSpPr>
        <p:spPr>
          <a:xfrm>
            <a:off x="8741664" y="1673352"/>
            <a:ext cx="2743200" cy="402336"/>
          </a:xfrm>
          <a:prstGeom prst="rect">
            <a:avLst/>
          </a:prstGeom>
          <a:noFill/>
          <a:ln/>
        </p:spPr>
        <p:txBody>
          <a:bodyPr wrap="square" lIns="0" tIns="0" rIns="0" bIns="0" rtlCol="0" anchor="ctr"/>
          <a:lstStyle/>
          <a:p>
            <a:pPr indent="0" marL="0">
              <a:buNone/>
            </a:pPr>
            <a:r>
              <a:rPr lang="en-US" sz="1600" b="1" dirty="0">
                <a:solidFill>
                  <a:srgbClr val="1F1E1D"/>
                </a:solidFill>
                <a:latin typeface="Yu Gothic" pitchFamily="34" charset="0"/>
                <a:ea typeface="Yu Gothic" pitchFamily="34" charset="-122"/>
                <a:cs typeface="Yu Gothic" pitchFamily="34" charset="-120"/>
              </a:rPr>
              <a:t>人の判断・修正</a:t>
            </a:r>
            <a:endParaRPr lang="en-US" sz="1600" dirty="0"/>
          </a:p>
        </p:txBody>
      </p:sp>
      <p:sp>
        <p:nvSpPr>
          <p:cNvPr id="16" name="Shape 14"/>
          <p:cNvSpPr/>
          <p:nvPr/>
        </p:nvSpPr>
        <p:spPr>
          <a:xfrm>
            <a:off x="749808" y="2240280"/>
            <a:ext cx="3154680" cy="457200"/>
          </a:xfrm>
          <a:prstGeom prst="roundRect">
            <a:avLst>
              <a:gd name="adj" fmla="val 20000"/>
            </a:avLst>
          </a:prstGeom>
          <a:solidFill>
            <a:srgbClr val="FBEFE9"/>
          </a:solidFill>
          <a:ln w="12700">
            <a:solidFill>
              <a:srgbClr val="FBEFE9"/>
            </a:solidFill>
            <a:prstDash val="solid"/>
          </a:ln>
        </p:spPr>
      </p:sp>
      <p:sp>
        <p:nvSpPr>
          <p:cNvPr id="17" name="Text 15"/>
          <p:cNvSpPr txBox="1"/>
          <p:nvPr/>
        </p:nvSpPr>
        <p:spPr>
          <a:xfrm>
            <a:off x="822960" y="2240280"/>
            <a:ext cx="411480" cy="457200"/>
          </a:xfrm>
          <a:prstGeom prst="rect">
            <a:avLst/>
          </a:prstGeom>
          <a:noFill/>
          <a:ln/>
        </p:spPr>
        <p:txBody>
          <a:bodyPr wrap="square" lIns="0" tIns="0" rIns="0" bIns="0" rtlCol="0" anchor="ctr"/>
          <a:lstStyle/>
          <a:p>
            <a:pPr algn="ctr" indent="0" marL="0">
              <a:buNone/>
            </a:pPr>
            <a:r>
              <a:rPr lang="en-US" sz="1100" b="1" dirty="0">
                <a:solidFill>
                  <a:srgbClr val="C6613F"/>
                </a:solidFill>
                <a:latin typeface="Yu Gothic" pitchFamily="34" charset="0"/>
                <a:ea typeface="Yu Gothic" pitchFamily="34" charset="-122"/>
                <a:cs typeface="Yu Gothic" pitchFamily="34" charset="-120"/>
              </a:rPr>
              <a:t>人</a:t>
            </a:r>
            <a:endParaRPr lang="en-US" sz="1100" dirty="0"/>
          </a:p>
        </p:txBody>
      </p:sp>
      <p:sp>
        <p:nvSpPr>
          <p:cNvPr id="18" name="Text 16"/>
          <p:cNvSpPr txBox="1"/>
          <p:nvPr/>
        </p:nvSpPr>
        <p:spPr>
          <a:xfrm>
            <a:off x="1261872" y="2240280"/>
            <a:ext cx="2606040" cy="457200"/>
          </a:xfrm>
          <a:prstGeom prst="rect">
            <a:avLst/>
          </a:prstGeom>
          <a:noFill/>
          <a:ln/>
        </p:spPr>
        <p:txBody>
          <a:bodyPr wrap="square" lIns="0" tIns="0" rIns="0" bIns="0" rtlCol="0" anchor="ctr"/>
          <a:lstStyle/>
          <a:p>
            <a:pPr indent="0" marL="0">
              <a:buNone/>
            </a:pPr>
            <a:r>
              <a:rPr lang="en-US" sz="1050" dirty="0">
                <a:solidFill>
                  <a:srgbClr val="1F1E1D"/>
                </a:solidFill>
                <a:latin typeface="Yu Gothic" pitchFamily="34" charset="0"/>
                <a:ea typeface="Yu Gothic" pitchFamily="34" charset="-122"/>
                <a:cs typeface="Yu Gothic" pitchFamily="34" charset="-120"/>
              </a:rPr>
              <a:t>要望を日本語・画像で伝える</a:t>
            </a:r>
            <a:endParaRPr lang="en-US" sz="1050" dirty="0"/>
          </a:p>
        </p:txBody>
      </p:sp>
      <p:sp>
        <p:nvSpPr>
          <p:cNvPr id="19" name="Text 17"/>
          <p:cNvSpPr txBox="1"/>
          <p:nvPr/>
        </p:nvSpPr>
        <p:spPr>
          <a:xfrm>
            <a:off x="2240280" y="2660904"/>
            <a:ext cx="274320" cy="182880"/>
          </a:xfrm>
          <a:prstGeom prst="rect">
            <a:avLst/>
          </a:prstGeom>
          <a:noFill/>
          <a:ln/>
        </p:spPr>
        <p:txBody>
          <a:bodyPr wrap="square" lIns="0" tIns="0" rIns="0" bIns="0" rtlCol="0" anchor="ctr"/>
          <a:lstStyle/>
          <a:p>
            <a:pPr algn="ctr" indent="0" marL="0">
              <a:buNone/>
            </a:pPr>
            <a:r>
              <a:rPr lang="en-US" sz="800" dirty="0">
                <a:solidFill>
                  <a:srgbClr val="C9BFB2"/>
                </a:solidFill>
              </a:rPr>
              <a:t>▼</a:t>
            </a:r>
            <a:endParaRPr lang="en-US" sz="800" dirty="0"/>
          </a:p>
        </p:txBody>
      </p:sp>
      <p:sp>
        <p:nvSpPr>
          <p:cNvPr id="20" name="Shape 18"/>
          <p:cNvSpPr/>
          <p:nvPr/>
        </p:nvSpPr>
        <p:spPr>
          <a:xfrm>
            <a:off x="749808" y="2807208"/>
            <a:ext cx="3154680" cy="457200"/>
          </a:xfrm>
          <a:prstGeom prst="roundRect">
            <a:avLst>
              <a:gd name="adj" fmla="val 20000"/>
            </a:avLst>
          </a:prstGeom>
          <a:solidFill>
            <a:srgbClr val="EEF3FB"/>
          </a:solidFill>
          <a:ln w="12700">
            <a:solidFill>
              <a:srgbClr val="EEF3FB"/>
            </a:solidFill>
            <a:prstDash val="solid"/>
          </a:ln>
        </p:spPr>
      </p:sp>
      <p:sp>
        <p:nvSpPr>
          <p:cNvPr id="21" name="Text 19"/>
          <p:cNvSpPr txBox="1"/>
          <p:nvPr/>
        </p:nvSpPr>
        <p:spPr>
          <a:xfrm>
            <a:off x="822960" y="2807208"/>
            <a:ext cx="411480" cy="457200"/>
          </a:xfrm>
          <a:prstGeom prst="rect">
            <a:avLst/>
          </a:prstGeom>
          <a:noFill/>
          <a:ln/>
        </p:spPr>
        <p:txBody>
          <a:bodyPr wrap="square" lIns="0" tIns="0" rIns="0" bIns="0" rtlCol="0" anchor="ctr"/>
          <a:lstStyle/>
          <a:p>
            <a:pPr algn="ctr" indent="0" marL="0">
              <a:buNone/>
            </a:pPr>
            <a:r>
              <a:rPr lang="en-US" sz="1100" b="1" dirty="0">
                <a:solidFill>
                  <a:srgbClr val="2F5D8A"/>
                </a:solidFill>
                <a:latin typeface="Yu Gothic" pitchFamily="34" charset="0"/>
                <a:ea typeface="Yu Gothic" pitchFamily="34" charset="-122"/>
                <a:cs typeface="Yu Gothic" pitchFamily="34" charset="-120"/>
              </a:rPr>
              <a:t>AI</a:t>
            </a:r>
            <a:endParaRPr lang="en-US" sz="1100" dirty="0"/>
          </a:p>
        </p:txBody>
      </p:sp>
      <p:sp>
        <p:nvSpPr>
          <p:cNvPr id="22" name="Text 20"/>
          <p:cNvSpPr txBox="1"/>
          <p:nvPr/>
        </p:nvSpPr>
        <p:spPr>
          <a:xfrm>
            <a:off x="1261872" y="2807208"/>
            <a:ext cx="2606040" cy="457200"/>
          </a:xfrm>
          <a:prstGeom prst="rect">
            <a:avLst/>
          </a:prstGeom>
          <a:noFill/>
          <a:ln/>
        </p:spPr>
        <p:txBody>
          <a:bodyPr wrap="square" lIns="0" tIns="0" rIns="0" bIns="0" rtlCol="0" anchor="ctr"/>
          <a:lstStyle/>
          <a:p>
            <a:pPr indent="0" marL="0">
              <a:buNone/>
            </a:pPr>
            <a:r>
              <a:rPr lang="en-US" sz="1050" dirty="0">
                <a:solidFill>
                  <a:srgbClr val="1F1E1D"/>
                </a:solidFill>
                <a:latin typeface="Yu Gothic" pitchFamily="34" charset="0"/>
                <a:ea typeface="Yu Gothic" pitchFamily="34" charset="-122"/>
                <a:cs typeface="Yu Gothic" pitchFamily="34" charset="-120"/>
              </a:rPr>
              <a:t>実装＋自動テスト（Playwright）</a:t>
            </a:r>
            <a:endParaRPr lang="en-US" sz="1050" dirty="0"/>
          </a:p>
        </p:txBody>
      </p:sp>
      <p:sp>
        <p:nvSpPr>
          <p:cNvPr id="23" name="Text 21"/>
          <p:cNvSpPr txBox="1"/>
          <p:nvPr/>
        </p:nvSpPr>
        <p:spPr>
          <a:xfrm>
            <a:off x="2240280" y="3227832"/>
            <a:ext cx="274320" cy="182880"/>
          </a:xfrm>
          <a:prstGeom prst="rect">
            <a:avLst/>
          </a:prstGeom>
          <a:noFill/>
          <a:ln/>
        </p:spPr>
        <p:txBody>
          <a:bodyPr wrap="square" lIns="0" tIns="0" rIns="0" bIns="0" rtlCol="0" anchor="ctr"/>
          <a:lstStyle/>
          <a:p>
            <a:pPr algn="ctr" indent="0" marL="0">
              <a:buNone/>
            </a:pPr>
            <a:r>
              <a:rPr lang="en-US" sz="800" dirty="0">
                <a:solidFill>
                  <a:srgbClr val="C9BFB2"/>
                </a:solidFill>
              </a:rPr>
              <a:t>▼</a:t>
            </a:r>
            <a:endParaRPr lang="en-US" sz="800" dirty="0"/>
          </a:p>
        </p:txBody>
      </p:sp>
      <p:sp>
        <p:nvSpPr>
          <p:cNvPr id="24" name="Shape 22"/>
          <p:cNvSpPr/>
          <p:nvPr/>
        </p:nvSpPr>
        <p:spPr>
          <a:xfrm>
            <a:off x="749808" y="3374136"/>
            <a:ext cx="3154680" cy="457200"/>
          </a:xfrm>
          <a:prstGeom prst="roundRect">
            <a:avLst>
              <a:gd name="adj" fmla="val 20000"/>
            </a:avLst>
          </a:prstGeom>
          <a:solidFill>
            <a:srgbClr val="EEF3FB"/>
          </a:solidFill>
          <a:ln w="12700">
            <a:solidFill>
              <a:srgbClr val="EEF3FB"/>
            </a:solidFill>
            <a:prstDash val="solid"/>
          </a:ln>
        </p:spPr>
      </p:sp>
      <p:sp>
        <p:nvSpPr>
          <p:cNvPr id="25" name="Text 23"/>
          <p:cNvSpPr txBox="1"/>
          <p:nvPr/>
        </p:nvSpPr>
        <p:spPr>
          <a:xfrm>
            <a:off x="822960" y="3374136"/>
            <a:ext cx="411480" cy="457200"/>
          </a:xfrm>
          <a:prstGeom prst="rect">
            <a:avLst/>
          </a:prstGeom>
          <a:noFill/>
          <a:ln/>
        </p:spPr>
        <p:txBody>
          <a:bodyPr wrap="square" lIns="0" tIns="0" rIns="0" bIns="0" rtlCol="0" anchor="ctr"/>
          <a:lstStyle/>
          <a:p>
            <a:pPr algn="ctr" indent="0" marL="0">
              <a:buNone/>
            </a:pPr>
            <a:r>
              <a:rPr lang="en-US" sz="1100" b="1" dirty="0">
                <a:solidFill>
                  <a:srgbClr val="2F5D8A"/>
                </a:solidFill>
                <a:latin typeface="Yu Gothic" pitchFamily="34" charset="0"/>
                <a:ea typeface="Yu Gothic" pitchFamily="34" charset="-122"/>
                <a:cs typeface="Yu Gothic" pitchFamily="34" charset="-120"/>
              </a:rPr>
              <a:t>AI</a:t>
            </a:r>
            <a:endParaRPr lang="en-US" sz="1100" dirty="0"/>
          </a:p>
        </p:txBody>
      </p:sp>
      <p:sp>
        <p:nvSpPr>
          <p:cNvPr id="26" name="Text 24"/>
          <p:cNvSpPr txBox="1"/>
          <p:nvPr/>
        </p:nvSpPr>
        <p:spPr>
          <a:xfrm>
            <a:off x="1261872" y="3374136"/>
            <a:ext cx="2606040" cy="457200"/>
          </a:xfrm>
          <a:prstGeom prst="rect">
            <a:avLst/>
          </a:prstGeom>
          <a:noFill/>
          <a:ln/>
        </p:spPr>
        <p:txBody>
          <a:bodyPr wrap="square" lIns="0" tIns="0" rIns="0" bIns="0" rtlCol="0" anchor="ctr"/>
          <a:lstStyle/>
          <a:p>
            <a:pPr indent="0" marL="0">
              <a:buNone/>
            </a:pPr>
            <a:r>
              <a:rPr lang="en-US" sz="1050" dirty="0">
                <a:solidFill>
                  <a:srgbClr val="1F1E1D"/>
                </a:solidFill>
                <a:latin typeface="Yu Gothic" pitchFamily="34" charset="0"/>
                <a:ea typeface="Yu Gothic" pitchFamily="34" charset="-122"/>
                <a:cs typeface="Yu Gothic" pitchFamily="34" charset="-120"/>
              </a:rPr>
              <a:t>コミット＆本番デプロイ</a:t>
            </a:r>
            <a:endParaRPr lang="en-US" sz="1050" dirty="0"/>
          </a:p>
        </p:txBody>
      </p:sp>
      <p:sp>
        <p:nvSpPr>
          <p:cNvPr id="27" name="Text 25"/>
          <p:cNvSpPr txBox="1"/>
          <p:nvPr/>
        </p:nvSpPr>
        <p:spPr>
          <a:xfrm>
            <a:off x="2240280" y="3794760"/>
            <a:ext cx="274320" cy="182880"/>
          </a:xfrm>
          <a:prstGeom prst="rect">
            <a:avLst/>
          </a:prstGeom>
          <a:noFill/>
          <a:ln/>
        </p:spPr>
        <p:txBody>
          <a:bodyPr wrap="square" lIns="0" tIns="0" rIns="0" bIns="0" rtlCol="0" anchor="ctr"/>
          <a:lstStyle/>
          <a:p>
            <a:pPr algn="ctr" indent="0" marL="0">
              <a:buNone/>
            </a:pPr>
            <a:r>
              <a:rPr lang="en-US" sz="800" dirty="0">
                <a:solidFill>
                  <a:srgbClr val="C9BFB2"/>
                </a:solidFill>
              </a:rPr>
              <a:t>▼</a:t>
            </a:r>
            <a:endParaRPr lang="en-US" sz="800" dirty="0"/>
          </a:p>
        </p:txBody>
      </p:sp>
      <p:sp>
        <p:nvSpPr>
          <p:cNvPr id="28" name="Shape 26"/>
          <p:cNvSpPr/>
          <p:nvPr/>
        </p:nvSpPr>
        <p:spPr>
          <a:xfrm>
            <a:off x="749808" y="3941064"/>
            <a:ext cx="3154680" cy="457200"/>
          </a:xfrm>
          <a:prstGeom prst="roundRect">
            <a:avLst>
              <a:gd name="adj" fmla="val 20000"/>
            </a:avLst>
          </a:prstGeom>
          <a:solidFill>
            <a:srgbClr val="FBEFE9"/>
          </a:solidFill>
          <a:ln w="12700">
            <a:solidFill>
              <a:srgbClr val="FBEFE9"/>
            </a:solidFill>
            <a:prstDash val="solid"/>
          </a:ln>
        </p:spPr>
      </p:sp>
      <p:sp>
        <p:nvSpPr>
          <p:cNvPr id="29" name="Text 27"/>
          <p:cNvSpPr txBox="1"/>
          <p:nvPr/>
        </p:nvSpPr>
        <p:spPr>
          <a:xfrm>
            <a:off x="822960" y="3941064"/>
            <a:ext cx="411480" cy="457200"/>
          </a:xfrm>
          <a:prstGeom prst="rect">
            <a:avLst/>
          </a:prstGeom>
          <a:noFill/>
          <a:ln/>
        </p:spPr>
        <p:txBody>
          <a:bodyPr wrap="square" lIns="0" tIns="0" rIns="0" bIns="0" rtlCol="0" anchor="ctr"/>
          <a:lstStyle/>
          <a:p>
            <a:pPr algn="ctr" indent="0" marL="0">
              <a:buNone/>
            </a:pPr>
            <a:r>
              <a:rPr lang="en-US" sz="1100" b="1" dirty="0">
                <a:solidFill>
                  <a:srgbClr val="C6613F"/>
                </a:solidFill>
                <a:latin typeface="Yu Gothic" pitchFamily="34" charset="0"/>
                <a:ea typeface="Yu Gothic" pitchFamily="34" charset="-122"/>
                <a:cs typeface="Yu Gothic" pitchFamily="34" charset="-120"/>
              </a:rPr>
              <a:t>人</a:t>
            </a:r>
            <a:endParaRPr lang="en-US" sz="1100" dirty="0"/>
          </a:p>
        </p:txBody>
      </p:sp>
      <p:sp>
        <p:nvSpPr>
          <p:cNvPr id="30" name="Text 28"/>
          <p:cNvSpPr txBox="1"/>
          <p:nvPr/>
        </p:nvSpPr>
        <p:spPr>
          <a:xfrm>
            <a:off x="1261872" y="3941064"/>
            <a:ext cx="2606040" cy="457200"/>
          </a:xfrm>
          <a:prstGeom prst="rect">
            <a:avLst/>
          </a:prstGeom>
          <a:noFill/>
          <a:ln/>
        </p:spPr>
        <p:txBody>
          <a:bodyPr wrap="square" lIns="0" tIns="0" rIns="0" bIns="0" rtlCol="0" anchor="ctr"/>
          <a:lstStyle/>
          <a:p>
            <a:pPr indent="0" marL="0">
              <a:buNone/>
            </a:pPr>
            <a:r>
              <a:rPr lang="en-US" sz="1050" dirty="0">
                <a:solidFill>
                  <a:srgbClr val="1F1E1D"/>
                </a:solidFill>
                <a:latin typeface="Yu Gothic" pitchFamily="34" charset="0"/>
                <a:ea typeface="Yu Gothic" pitchFamily="34" charset="-122"/>
                <a:cs typeface="Yu Gothic" pitchFamily="34" charset="-120"/>
              </a:rPr>
              <a:t>実機で検証 → 採用／差し戻し</a:t>
            </a:r>
            <a:endParaRPr lang="en-US" sz="1050" dirty="0"/>
          </a:p>
        </p:txBody>
      </p:sp>
      <p:sp>
        <p:nvSpPr>
          <p:cNvPr id="31" name="Text 29"/>
          <p:cNvSpPr txBox="1"/>
          <p:nvPr/>
        </p:nvSpPr>
        <p:spPr>
          <a:xfrm>
            <a:off x="749808" y="4572000"/>
            <a:ext cx="3154680" cy="685800"/>
          </a:xfrm>
          <a:prstGeom prst="rect">
            <a:avLst/>
          </a:prstGeom>
          <a:noFill/>
          <a:ln/>
        </p:spPr>
        <p:txBody>
          <a:bodyPr wrap="square" lIns="0" tIns="0" rIns="0" bIns="0" rtlCol="0" anchor="t"/>
          <a:lstStyle/>
          <a:p>
            <a:pPr algn="l" indent="0" marL="0">
              <a:buNone/>
            </a:pPr>
            <a:r>
              <a:rPr lang="en-US" sz="1050" b="1" dirty="0">
                <a:solidFill>
                  <a:srgbClr val="C6613F"/>
                </a:solidFill>
                <a:latin typeface="Yu Gothic" pitchFamily="34" charset="0"/>
                <a:ea typeface="Yu Gothic" pitchFamily="34" charset="-122"/>
                <a:cs typeface="Yu Gothic" pitchFamily="34" charset="-120"/>
              </a:rPr>
              <a:t>開発：</a:t>
            </a:r>
            <a:pPr algn="l" indent="0" marL="0">
              <a:buNone/>
            </a:pPr>
            <a:r>
              <a:rPr lang="en-US" sz="1050" dirty="0">
                <a:solidFill>
                  <a:srgbClr val="1F1E1D"/>
                </a:solidFill>
                <a:latin typeface="Yu Gothic" pitchFamily="34" charset="0"/>
                <a:ea typeface="Yu Gothic" pitchFamily="34" charset="-122"/>
                <a:cs typeface="Yu Gothic" pitchFamily="34" charset="-120"/>
              </a:rPr>
              <a:t>コードは全量AI実装（Claude Code）。人は要望・検証・採否に専念。このループを </a:t>
            </a:r>
            <a:pPr algn="l" indent="0" marL="0">
              <a:buNone/>
            </a:pPr>
            <a:r>
              <a:rPr lang="en-US" sz="1050" b="1" dirty="0">
                <a:solidFill>
                  <a:srgbClr val="C6613F"/>
                </a:solidFill>
                <a:latin typeface="Yu Gothic" pitchFamily="34" charset="0"/>
                <a:ea typeface="Yu Gothic" pitchFamily="34" charset="-122"/>
                <a:cs typeface="Yu Gothic" pitchFamily="34" charset="-120"/>
              </a:rPr>
              <a:t>295回転</a:t>
            </a:r>
            <a:pPr algn="l" indent="0" marL="0">
              <a:buNone/>
            </a:pPr>
            <a:r>
              <a:rPr lang="en-US" sz="1050" dirty="0">
                <a:solidFill>
                  <a:srgbClr val="1F1E1D"/>
                </a:solidFill>
                <a:latin typeface="Yu Gothic" pitchFamily="34" charset="0"/>
                <a:ea typeface="Yu Gothic" pitchFamily="34" charset="-122"/>
                <a:cs typeface="Yu Gothic" pitchFamily="34" charset="-120"/>
              </a:rPr>
              <a:t>。</a:t>
            </a:r>
            <a:endParaRPr lang="en-US" sz="1050" dirty="0"/>
          </a:p>
        </p:txBody>
      </p:sp>
      <p:sp>
        <p:nvSpPr>
          <p:cNvPr id="32" name="Text 30"/>
          <p:cNvSpPr txBox="1"/>
          <p:nvPr/>
        </p:nvSpPr>
        <p:spPr>
          <a:xfrm>
            <a:off x="749808" y="5257800"/>
            <a:ext cx="3154680" cy="960120"/>
          </a:xfrm>
          <a:prstGeom prst="rect">
            <a:avLst/>
          </a:prstGeom>
          <a:noFill/>
          <a:ln/>
        </p:spPr>
        <p:txBody>
          <a:bodyPr wrap="square" lIns="0" tIns="0" rIns="0" bIns="0" rtlCol="0" anchor="t"/>
          <a:lstStyle/>
          <a:p>
            <a:pPr algn="l" indent="0" marL="0">
              <a:buNone/>
            </a:pPr>
            <a:r>
              <a:rPr lang="en-US" sz="1050" b="1" dirty="0">
                <a:solidFill>
                  <a:srgbClr val="C6613F"/>
                </a:solidFill>
                <a:latin typeface="Yu Gothic" pitchFamily="34" charset="0"/>
                <a:ea typeface="Yu Gothic" pitchFamily="34" charset="-122"/>
                <a:cs typeface="Yu Gothic" pitchFamily="34" charset="-120"/>
              </a:rPr>
              <a:t>アプリ内：</a:t>
            </a:r>
            <a:pPr algn="l" indent="0" marL="0">
              <a:buNone/>
            </a:pPr>
            <a:r>
              <a:rPr lang="en-US" sz="1050" dirty="0">
                <a:solidFill>
                  <a:srgbClr val="1F1E1D"/>
                </a:solidFill>
                <a:latin typeface="Yu Gothic" pitchFamily="34" charset="0"/>
                <a:ea typeface="Yu Gothic" pitchFamily="34" charset="-122"/>
                <a:cs typeface="Yu Gothic" pitchFamily="34" charset="-120"/>
              </a:rPr>
              <a:t>料理写真を Claude API（画像入力）で70+ジャンルに自動判定。迷ったら空欄にして人が選ぶ。キー未設定でも地図タグ推定で動く。</a:t>
            </a:r>
            <a:endParaRPr lang="en-US" sz="1050" dirty="0"/>
          </a:p>
        </p:txBody>
      </p:sp>
      <p:sp>
        <p:nvSpPr>
          <p:cNvPr id="33" name="Text 31"/>
          <p:cNvSpPr txBox="1"/>
          <p:nvPr/>
        </p:nvSpPr>
        <p:spPr>
          <a:xfrm>
            <a:off x="4517136" y="2240280"/>
            <a:ext cx="3154680" cy="292608"/>
          </a:xfrm>
          <a:prstGeom prst="rect">
            <a:avLst/>
          </a:prstGeom>
          <a:noFill/>
          <a:ln/>
        </p:spPr>
        <p:txBody>
          <a:bodyPr wrap="square" lIns="0" tIns="0" rIns="0" bIns="0" rtlCol="0" anchor="ctr"/>
          <a:lstStyle/>
          <a:p>
            <a:pPr indent="0" marL="0">
              <a:buNone/>
            </a:pPr>
            <a:r>
              <a:rPr lang="en-US" sz="1150" b="1" dirty="0">
                <a:solidFill>
                  <a:srgbClr val="C6613F"/>
                </a:solidFill>
                <a:latin typeface="Yu Gothic" pitchFamily="34" charset="0"/>
                <a:ea typeface="Yu Gothic" pitchFamily="34" charset="-122"/>
                <a:cs typeface="Yu Gothic" pitchFamily="34" charset="-120"/>
              </a:rPr>
              <a:t>CLAUDE.md にルールを明文化</a:t>
            </a:r>
            <a:endParaRPr lang="en-US" sz="1150" dirty="0"/>
          </a:p>
        </p:txBody>
      </p:sp>
      <p:sp>
        <p:nvSpPr>
          <p:cNvPr id="34" name="Text 32"/>
          <p:cNvSpPr txBox="1"/>
          <p:nvPr/>
        </p:nvSpPr>
        <p:spPr>
          <a:xfrm>
            <a:off x="4517136" y="2551176"/>
            <a:ext cx="3154680" cy="960120"/>
          </a:xfrm>
          <a:prstGeom prst="rect">
            <a:avLst/>
          </a:prstGeom>
          <a:noFill/>
          <a:ln/>
        </p:spPr>
        <p:txBody>
          <a:bodyPr wrap="square" lIns="0" tIns="0" rIns="0" bIns="0" rtlCol="0" anchor="t"/>
          <a:lstStyle/>
          <a:p>
            <a:pPr indent="0" marL="0">
              <a:buNone/>
            </a:pPr>
            <a:r>
              <a:rPr lang="en-US" sz="1000" dirty="0">
                <a:solidFill>
                  <a:srgbClr val="1F1E1D"/>
                </a:solidFill>
                <a:latin typeface="Yu Gothic" pitchFamily="34" charset="0"/>
                <a:ea typeface="Yu Gothic" pitchFamily="34" charset="-122"/>
                <a:cs typeface="Yu Gothic" pitchFamily="34" charset="-120"/>
              </a:rPr>
              <a:t>「変更のたびに4箇所のバージョンを揃える」「星は共通SVG部品」「他人の投稿に日付を出さない」など、毎回守る決め事を文書化して全会話で共有</a:t>
            </a:r>
            <a:endParaRPr lang="en-US" sz="1000" dirty="0"/>
          </a:p>
        </p:txBody>
      </p:sp>
      <p:sp>
        <p:nvSpPr>
          <p:cNvPr id="35" name="Text 33"/>
          <p:cNvSpPr txBox="1"/>
          <p:nvPr/>
        </p:nvSpPr>
        <p:spPr>
          <a:xfrm>
            <a:off x="4517136" y="3566160"/>
            <a:ext cx="3154680" cy="292608"/>
          </a:xfrm>
          <a:prstGeom prst="rect">
            <a:avLst/>
          </a:prstGeom>
          <a:noFill/>
          <a:ln/>
        </p:spPr>
        <p:txBody>
          <a:bodyPr wrap="square" lIns="0" tIns="0" rIns="0" bIns="0" rtlCol="0" anchor="ctr"/>
          <a:lstStyle/>
          <a:p>
            <a:pPr indent="0" marL="0">
              <a:buNone/>
            </a:pPr>
            <a:r>
              <a:rPr lang="en-US" sz="1150" b="1" dirty="0">
                <a:solidFill>
                  <a:srgbClr val="C6613F"/>
                </a:solidFill>
                <a:latin typeface="Yu Gothic" pitchFamily="34" charset="0"/>
                <a:ea typeface="Yu Gothic" pitchFamily="34" charset="-122"/>
                <a:cs typeface="Yu Gothic" pitchFamily="34" charset="-120"/>
              </a:rPr>
              <a:t>要望は「現象」で伝える</a:t>
            </a:r>
            <a:endParaRPr lang="en-US" sz="1150" dirty="0"/>
          </a:p>
        </p:txBody>
      </p:sp>
      <p:sp>
        <p:nvSpPr>
          <p:cNvPr id="36" name="Text 34"/>
          <p:cNvSpPr txBox="1"/>
          <p:nvPr/>
        </p:nvSpPr>
        <p:spPr>
          <a:xfrm>
            <a:off x="4517136" y="3877056"/>
            <a:ext cx="3154680" cy="960120"/>
          </a:xfrm>
          <a:prstGeom prst="rect">
            <a:avLst/>
          </a:prstGeom>
          <a:noFill/>
          <a:ln/>
        </p:spPr>
        <p:txBody>
          <a:bodyPr wrap="square" lIns="0" tIns="0" rIns="0" bIns="0" rtlCol="0" anchor="t"/>
          <a:lstStyle/>
          <a:p>
            <a:pPr indent="0" marL="0">
              <a:buNone/>
            </a:pPr>
            <a:r>
              <a:rPr lang="en-US" sz="1000" dirty="0">
                <a:solidFill>
                  <a:srgbClr val="1F1E1D"/>
                </a:solidFill>
                <a:latin typeface="Yu Gothic" pitchFamily="34" charset="0"/>
                <a:ea typeface="Yu Gothic" pitchFamily="34" charset="-122"/>
                <a:cs typeface="Yu Gothic" pitchFamily="34" charset="-120"/>
              </a:rPr>
              <a:t>例：「写真一覧をタップすると少し前の投稿が出るので直して」。原因の特定はAIに任せ、人はコードを読まない。デザインは文章より画像で渡す</a:t>
            </a:r>
            <a:endParaRPr lang="en-US" sz="1000" dirty="0"/>
          </a:p>
        </p:txBody>
      </p:sp>
      <p:sp>
        <p:nvSpPr>
          <p:cNvPr id="37" name="Text 35"/>
          <p:cNvSpPr txBox="1"/>
          <p:nvPr/>
        </p:nvSpPr>
        <p:spPr>
          <a:xfrm>
            <a:off x="4517136" y="4892040"/>
            <a:ext cx="3154680" cy="292608"/>
          </a:xfrm>
          <a:prstGeom prst="rect">
            <a:avLst/>
          </a:prstGeom>
          <a:noFill/>
          <a:ln/>
        </p:spPr>
        <p:txBody>
          <a:bodyPr wrap="square" lIns="0" tIns="0" rIns="0" bIns="0" rtlCol="0" anchor="ctr"/>
          <a:lstStyle/>
          <a:p>
            <a:pPr indent="0" marL="0">
              <a:buNone/>
            </a:pPr>
            <a:r>
              <a:rPr lang="en-US" sz="1150" b="1" dirty="0">
                <a:solidFill>
                  <a:srgbClr val="C6613F"/>
                </a:solidFill>
                <a:latin typeface="Yu Gothic" pitchFamily="34" charset="0"/>
                <a:ea typeface="Yu Gothic" pitchFamily="34" charset="-122"/>
                <a:cs typeface="Yu Gothic" pitchFamily="34" charset="-120"/>
              </a:rPr>
              <a:t>アプリ内の分類器は「制約」で縛る</a:t>
            </a:r>
            <a:endParaRPr lang="en-US" sz="1150" dirty="0"/>
          </a:p>
        </p:txBody>
      </p:sp>
      <p:sp>
        <p:nvSpPr>
          <p:cNvPr id="38" name="Text 36"/>
          <p:cNvSpPr txBox="1"/>
          <p:nvPr/>
        </p:nvSpPr>
        <p:spPr>
          <a:xfrm>
            <a:off x="4517136" y="5202936"/>
            <a:ext cx="3154680" cy="960120"/>
          </a:xfrm>
          <a:prstGeom prst="rect">
            <a:avLst/>
          </a:prstGeom>
          <a:noFill/>
          <a:ln/>
        </p:spPr>
        <p:txBody>
          <a:bodyPr wrap="square" lIns="0" tIns="0" rIns="0" bIns="0" rtlCol="0" anchor="t"/>
          <a:lstStyle/>
          <a:p>
            <a:pPr indent="0" marL="0">
              <a:buNone/>
            </a:pPr>
            <a:r>
              <a:rPr lang="en-US" sz="1000" dirty="0">
                <a:solidFill>
                  <a:srgbClr val="1F1E1D"/>
                </a:solidFill>
                <a:latin typeface="Yu Gothic" pitchFamily="34" charset="0"/>
                <a:ea typeface="Yu Gothic" pitchFamily="34" charset="-122"/>
                <a:cs typeface="Yu Gothic" pitchFamily="34" charset="-120"/>
              </a:rPr>
              <a:t>ジャンルは enum で一覧に固定（幻覚を出さない）／自信がなければ confident=false で空欄／JSON Schema で構造化出力</a:t>
            </a:r>
            <a:endParaRPr lang="en-US" sz="1000" dirty="0"/>
          </a:p>
        </p:txBody>
      </p:sp>
      <p:sp>
        <p:nvSpPr>
          <p:cNvPr id="39" name="Text 37"/>
          <p:cNvSpPr txBox="1"/>
          <p:nvPr/>
        </p:nvSpPr>
        <p:spPr>
          <a:xfrm>
            <a:off x="8284464" y="2240280"/>
            <a:ext cx="3154680" cy="256032"/>
          </a:xfrm>
          <a:prstGeom prst="rect">
            <a:avLst/>
          </a:prstGeom>
          <a:noFill/>
          <a:ln/>
        </p:spPr>
        <p:txBody>
          <a:bodyPr wrap="square" lIns="0" tIns="0" rIns="0" bIns="0" rtlCol="0" anchor="ctr"/>
          <a:lstStyle/>
          <a:p>
            <a:pPr indent="0" marL="0">
              <a:buNone/>
            </a:pPr>
            <a:r>
              <a:rPr lang="en-US" sz="1100" b="1" dirty="0">
                <a:solidFill>
                  <a:srgbClr val="1F1E1D"/>
                </a:solidFill>
                <a:latin typeface="Yu Gothic" pitchFamily="34" charset="0"/>
                <a:ea typeface="Yu Gothic" pitchFamily="34" charset="-122"/>
                <a:cs typeface="Yu Gothic" pitchFamily="34" charset="-120"/>
              </a:rPr>
              <a:t>写真一覧の2列化</a:t>
            </a:r>
            <a:endParaRPr lang="en-US" sz="1100" dirty="0"/>
          </a:p>
        </p:txBody>
      </p:sp>
      <p:sp>
        <p:nvSpPr>
          <p:cNvPr id="40" name="Text 38"/>
          <p:cNvSpPr txBox="1"/>
          <p:nvPr/>
        </p:nvSpPr>
        <p:spPr>
          <a:xfrm>
            <a:off x="8284464" y="2496312"/>
            <a:ext cx="3154680" cy="658368"/>
          </a:xfrm>
          <a:prstGeom prst="rect">
            <a:avLst/>
          </a:prstGeom>
          <a:noFill/>
          <a:ln/>
        </p:spPr>
        <p:txBody>
          <a:bodyPr wrap="square" lIns="0" tIns="0" rIns="0" bIns="0" rtlCol="0" anchor="t"/>
          <a:lstStyle/>
          <a:p>
            <a:pPr indent="0" marL="0">
              <a:buNone/>
            </a:pPr>
            <a:r>
              <a:rPr lang="en-US" sz="950" b="1" dirty="0">
                <a:solidFill>
                  <a:srgbClr val="2F5D8A"/>
                </a:solidFill>
                <a:latin typeface="Yu Gothic" pitchFamily="34" charset="0"/>
                <a:ea typeface="Yu Gothic" pitchFamily="34" charset="-122"/>
                <a:cs typeface="Yu Gothic" pitchFamily="34" charset="-120"/>
              </a:rPr>
              <a:t>AI </a:t>
            </a:r>
            <a:pPr indent="0" marL="0">
              <a:buNone/>
            </a:pPr>
            <a:r>
              <a:rPr lang="en-US" sz="950" dirty="0">
                <a:solidFill>
                  <a:srgbClr val="6E6960"/>
                </a:solidFill>
                <a:latin typeface="Yu Gothic" pitchFamily="34" charset="0"/>
                <a:ea typeface="Yu Gothic" pitchFamily="34" charset="-122"/>
                <a:cs typeface="Yu Gothic" pitchFamily="34" charset="-120"/>
              </a:rPr>
              <a:t>AIが提案・実装（v278〜280）</a:t>
            </a:r>
            <a:pPr indent="0" marL="0">
              <a:buNone/>
            </a:pPr>
            <a:endParaRPr lang="en-US" sz="950" dirty="0"/>
          </a:p>
          <a:p>
            <a:pPr indent="0" marL="0">
              <a:buNone/>
            </a:pPr>
            <a:r>
              <a:rPr lang="en-US" sz="950" b="1" dirty="0">
                <a:solidFill>
                  <a:srgbClr val="C6613F"/>
                </a:solidFill>
                <a:latin typeface="Yu Gothic" pitchFamily="34" charset="0"/>
                <a:ea typeface="Yu Gothic" pitchFamily="34" charset="-122"/>
                <a:cs typeface="Yu Gothic" pitchFamily="34" charset="-120"/>
              </a:rPr>
              <a:t>人 </a:t>
            </a:r>
            <a:endParaRPr lang="en-US" sz="950" dirty="0"/>
          </a:p>
          <a:p>
            <a:pPr indent="0" marL="0">
              <a:buNone/>
            </a:pPr>
            <a:r>
              <a:rPr lang="en-US" sz="950" dirty="0">
                <a:solidFill>
                  <a:srgbClr val="1F1E1D"/>
                </a:solidFill>
                <a:latin typeface="Yu Gothic" pitchFamily="34" charset="0"/>
                <a:ea typeface="Yu Gothic" pitchFamily="34" charset="-122"/>
                <a:cs typeface="Yu Gothic" pitchFamily="34" charset="-120"/>
              </a:rPr>
              <a:t>実機で「一覧性が落ちた」→3版分を差し戻し</a:t>
            </a:r>
            <a:endParaRPr lang="en-US" sz="950" dirty="0"/>
          </a:p>
        </p:txBody>
      </p:sp>
      <p:sp>
        <p:nvSpPr>
          <p:cNvPr id="41" name="Text 39"/>
          <p:cNvSpPr txBox="1"/>
          <p:nvPr/>
        </p:nvSpPr>
        <p:spPr>
          <a:xfrm>
            <a:off x="8284464" y="3172968"/>
            <a:ext cx="3154680" cy="256032"/>
          </a:xfrm>
          <a:prstGeom prst="rect">
            <a:avLst/>
          </a:prstGeom>
          <a:noFill/>
          <a:ln/>
        </p:spPr>
        <p:txBody>
          <a:bodyPr wrap="square" lIns="0" tIns="0" rIns="0" bIns="0" rtlCol="0" anchor="ctr"/>
          <a:lstStyle/>
          <a:p>
            <a:pPr indent="0" marL="0">
              <a:buNone/>
            </a:pPr>
            <a:r>
              <a:rPr lang="en-US" sz="1100" b="1" dirty="0">
                <a:solidFill>
                  <a:srgbClr val="1F1E1D"/>
                </a:solidFill>
                <a:latin typeface="Yu Gothic" pitchFamily="34" charset="0"/>
                <a:ea typeface="Yu Gothic" pitchFamily="34" charset="-122"/>
                <a:cs typeface="Yu Gothic" pitchFamily="34" charset="-120"/>
              </a:rPr>
              <a:t>ジャンルアイコン</a:t>
            </a:r>
            <a:endParaRPr lang="en-US" sz="1100" dirty="0"/>
          </a:p>
        </p:txBody>
      </p:sp>
      <p:sp>
        <p:nvSpPr>
          <p:cNvPr id="42" name="Text 40"/>
          <p:cNvSpPr txBox="1"/>
          <p:nvPr/>
        </p:nvSpPr>
        <p:spPr>
          <a:xfrm>
            <a:off x="8284464" y="3429000"/>
            <a:ext cx="3154680" cy="658368"/>
          </a:xfrm>
          <a:prstGeom prst="rect">
            <a:avLst/>
          </a:prstGeom>
          <a:noFill/>
          <a:ln/>
        </p:spPr>
        <p:txBody>
          <a:bodyPr wrap="square" lIns="0" tIns="0" rIns="0" bIns="0" rtlCol="0" anchor="t"/>
          <a:lstStyle/>
          <a:p>
            <a:pPr indent="0" marL="0">
              <a:buNone/>
            </a:pPr>
            <a:r>
              <a:rPr lang="en-US" sz="950" b="1" dirty="0">
                <a:solidFill>
                  <a:srgbClr val="2F5D8A"/>
                </a:solidFill>
                <a:latin typeface="Yu Gothic" pitchFamily="34" charset="0"/>
                <a:ea typeface="Yu Gothic" pitchFamily="34" charset="-122"/>
                <a:cs typeface="Yu Gothic" pitchFamily="34" charset="-120"/>
              </a:rPr>
              <a:t>AI </a:t>
            </a:r>
            <a:pPr indent="0" marL="0">
              <a:buNone/>
            </a:pPr>
            <a:r>
              <a:rPr lang="en-US" sz="950" dirty="0">
                <a:solidFill>
                  <a:srgbClr val="6E6960"/>
                </a:solidFill>
                <a:latin typeface="Yu Gothic" pitchFamily="34" charset="0"/>
                <a:ea typeface="Yu Gothic" pitchFamily="34" charset="-122"/>
                <a:cs typeface="Yu Gothic" pitchFamily="34" charset="-120"/>
              </a:rPr>
              <a:t>AIがSVGで71種を自作</a:t>
            </a:r>
            <a:pPr indent="0" marL="0">
              <a:buNone/>
            </a:pPr>
            <a:endParaRPr lang="en-US" sz="950" dirty="0"/>
          </a:p>
          <a:p>
            <a:pPr indent="0" marL="0">
              <a:buNone/>
            </a:pPr>
            <a:r>
              <a:rPr lang="en-US" sz="950" b="1" dirty="0">
                <a:solidFill>
                  <a:srgbClr val="C6613F"/>
                </a:solidFill>
                <a:latin typeface="Yu Gothic" pitchFamily="34" charset="0"/>
                <a:ea typeface="Yu Gothic" pitchFamily="34" charset="-122"/>
                <a:cs typeface="Yu Gothic" pitchFamily="34" charset="-120"/>
              </a:rPr>
              <a:t>人 </a:t>
            </a:r>
            <a:endParaRPr lang="en-US" sz="950" dirty="0"/>
          </a:p>
          <a:p>
            <a:pPr indent="0" marL="0">
              <a:buNone/>
            </a:pPr>
            <a:r>
              <a:rPr lang="en-US" sz="950" dirty="0">
                <a:solidFill>
                  <a:srgbClr val="1F1E1D"/>
                </a:solidFill>
                <a:latin typeface="Yu Gothic" pitchFamily="34" charset="0"/>
                <a:ea typeface="Yu Gothic" pitchFamily="34" charset="-122"/>
                <a:cs typeface="Yu Gothic" pitchFamily="34" charset="-120"/>
              </a:rPr>
              <a:t>絵柄が不統一で不採用→手持ちイラストから切り出し</a:t>
            </a:r>
            <a:endParaRPr lang="en-US" sz="950" dirty="0"/>
          </a:p>
        </p:txBody>
      </p:sp>
      <p:sp>
        <p:nvSpPr>
          <p:cNvPr id="43" name="Text 41"/>
          <p:cNvSpPr txBox="1"/>
          <p:nvPr/>
        </p:nvSpPr>
        <p:spPr>
          <a:xfrm>
            <a:off x="8284464" y="4105656"/>
            <a:ext cx="3154680" cy="256032"/>
          </a:xfrm>
          <a:prstGeom prst="rect">
            <a:avLst/>
          </a:prstGeom>
          <a:noFill/>
          <a:ln/>
        </p:spPr>
        <p:txBody>
          <a:bodyPr wrap="square" lIns="0" tIns="0" rIns="0" bIns="0" rtlCol="0" anchor="ctr"/>
          <a:lstStyle/>
          <a:p>
            <a:pPr indent="0" marL="0">
              <a:buNone/>
            </a:pPr>
            <a:r>
              <a:rPr lang="en-US" sz="1100" b="1" dirty="0">
                <a:solidFill>
                  <a:srgbClr val="1F1E1D"/>
                </a:solidFill>
                <a:latin typeface="Yu Gothic" pitchFamily="34" charset="0"/>
                <a:ea typeface="Yu Gothic" pitchFamily="34" charset="-122"/>
                <a:cs typeface="Yu Gothic" pitchFamily="34" charset="-120"/>
              </a:rPr>
              <a:t>味覚一致率の表示</a:t>
            </a:r>
            <a:endParaRPr lang="en-US" sz="1100" dirty="0"/>
          </a:p>
        </p:txBody>
      </p:sp>
      <p:sp>
        <p:nvSpPr>
          <p:cNvPr id="44" name="Text 42"/>
          <p:cNvSpPr txBox="1"/>
          <p:nvPr/>
        </p:nvSpPr>
        <p:spPr>
          <a:xfrm>
            <a:off x="8284464" y="4361688"/>
            <a:ext cx="3154680" cy="658368"/>
          </a:xfrm>
          <a:prstGeom prst="rect">
            <a:avLst/>
          </a:prstGeom>
          <a:noFill/>
          <a:ln/>
        </p:spPr>
        <p:txBody>
          <a:bodyPr wrap="square" lIns="0" tIns="0" rIns="0" bIns="0" rtlCol="0" anchor="t"/>
          <a:lstStyle/>
          <a:p>
            <a:pPr indent="0" marL="0">
              <a:buNone/>
            </a:pPr>
            <a:r>
              <a:rPr lang="en-US" sz="950" b="1" dirty="0">
                <a:solidFill>
                  <a:srgbClr val="2F5D8A"/>
                </a:solidFill>
                <a:latin typeface="Yu Gothic" pitchFamily="34" charset="0"/>
                <a:ea typeface="Yu Gothic" pitchFamily="34" charset="-122"/>
                <a:cs typeface="Yu Gothic" pitchFamily="34" charset="-120"/>
              </a:rPr>
              <a:t>AI </a:t>
            </a:r>
            <a:pPr indent="0" marL="0">
              <a:buNone/>
            </a:pPr>
            <a:r>
              <a:rPr lang="en-US" sz="950" dirty="0">
                <a:solidFill>
                  <a:srgbClr val="6E6960"/>
                </a:solidFill>
                <a:latin typeface="Yu Gothic" pitchFamily="34" charset="0"/>
                <a:ea typeface="Yu Gothic" pitchFamily="34" charset="-122"/>
                <a:cs typeface="Yu Gothic" pitchFamily="34" charset="-120"/>
              </a:rPr>
              <a:t>共通2〜3店でも計算</a:t>
            </a:r>
            <a:pPr indent="0" marL="0">
              <a:buNone/>
            </a:pPr>
            <a:endParaRPr lang="en-US" sz="950" dirty="0"/>
          </a:p>
          <a:p>
            <a:pPr indent="0" marL="0">
              <a:buNone/>
            </a:pPr>
            <a:r>
              <a:rPr lang="en-US" sz="950" b="1" dirty="0">
                <a:solidFill>
                  <a:srgbClr val="C6613F"/>
                </a:solidFill>
                <a:latin typeface="Yu Gothic" pitchFamily="34" charset="0"/>
                <a:ea typeface="Yu Gothic" pitchFamily="34" charset="-122"/>
                <a:cs typeface="Yu Gothic" pitchFamily="34" charset="-120"/>
              </a:rPr>
              <a:t>人 </a:t>
            </a:r>
            <a:endParaRPr lang="en-US" sz="950" dirty="0"/>
          </a:p>
          <a:p>
            <a:pPr indent="0" marL="0">
              <a:buNone/>
            </a:pPr>
            <a:r>
              <a:rPr lang="en-US" sz="950" dirty="0">
                <a:solidFill>
                  <a:srgbClr val="1F1E1D"/>
                </a:solidFill>
                <a:latin typeface="Yu Gothic" pitchFamily="34" charset="0"/>
                <a:ea typeface="Yu Gothic" pitchFamily="34" charset="-122"/>
                <a:cs typeface="Yu Gothic" pitchFamily="34" charset="-120"/>
              </a:rPr>
              <a:t>偶然の一致を防ぐ「5件未満は非表示」を人が定義</a:t>
            </a:r>
            <a:endParaRPr lang="en-US" sz="950" dirty="0"/>
          </a:p>
        </p:txBody>
      </p:sp>
      <p:sp>
        <p:nvSpPr>
          <p:cNvPr id="45" name="Text 43"/>
          <p:cNvSpPr txBox="1"/>
          <p:nvPr/>
        </p:nvSpPr>
        <p:spPr>
          <a:xfrm>
            <a:off x="8284464" y="5038344"/>
            <a:ext cx="3154680" cy="256032"/>
          </a:xfrm>
          <a:prstGeom prst="rect">
            <a:avLst/>
          </a:prstGeom>
          <a:noFill/>
          <a:ln/>
        </p:spPr>
        <p:txBody>
          <a:bodyPr wrap="square" lIns="0" tIns="0" rIns="0" bIns="0" rtlCol="0" anchor="ctr"/>
          <a:lstStyle/>
          <a:p>
            <a:pPr indent="0" marL="0">
              <a:buNone/>
            </a:pPr>
            <a:r>
              <a:rPr lang="en-US" sz="1100" b="1" dirty="0">
                <a:solidFill>
                  <a:srgbClr val="1F1E1D"/>
                </a:solidFill>
                <a:latin typeface="Yu Gothic" pitchFamily="34" charset="0"/>
                <a:ea typeface="Yu Gothic" pitchFamily="34" charset="-122"/>
                <a:cs typeface="Yu Gothic" pitchFamily="34" charset="-120"/>
              </a:rPr>
              <a:t>スクロールの修正</a:t>
            </a:r>
            <a:endParaRPr lang="en-US" sz="1100" dirty="0"/>
          </a:p>
        </p:txBody>
      </p:sp>
      <p:sp>
        <p:nvSpPr>
          <p:cNvPr id="46" name="Text 44"/>
          <p:cNvSpPr txBox="1"/>
          <p:nvPr/>
        </p:nvSpPr>
        <p:spPr>
          <a:xfrm>
            <a:off x="8284464" y="5294376"/>
            <a:ext cx="3154680" cy="658368"/>
          </a:xfrm>
          <a:prstGeom prst="rect">
            <a:avLst/>
          </a:prstGeom>
          <a:noFill/>
          <a:ln/>
        </p:spPr>
        <p:txBody>
          <a:bodyPr wrap="square" lIns="0" tIns="0" rIns="0" bIns="0" rtlCol="0" anchor="t"/>
          <a:lstStyle/>
          <a:p>
            <a:pPr indent="0" marL="0">
              <a:buNone/>
            </a:pPr>
            <a:r>
              <a:rPr lang="en-US" sz="950" b="1" dirty="0">
                <a:solidFill>
                  <a:srgbClr val="2F5D8A"/>
                </a:solidFill>
                <a:latin typeface="Yu Gothic" pitchFamily="34" charset="0"/>
                <a:ea typeface="Yu Gothic" pitchFamily="34" charset="-122"/>
                <a:cs typeface="Yu Gothic" pitchFamily="34" charset="-120"/>
              </a:rPr>
              <a:t>AI </a:t>
            </a:r>
            <a:pPr indent="0" marL="0">
              <a:buNone/>
            </a:pPr>
            <a:r>
              <a:rPr lang="en-US" sz="950" dirty="0">
                <a:solidFill>
                  <a:srgbClr val="6E6960"/>
                </a:solidFill>
                <a:latin typeface="Yu Gothic" pitchFamily="34" charset="0"/>
                <a:ea typeface="Yu Gothic" pitchFamily="34" charset="-122"/>
                <a:cs typeface="Yu Gothic" pitchFamily="34" charset="-120"/>
              </a:rPr>
              <a:t>1回目の修正で「直った」と報告</a:t>
            </a:r>
            <a:pPr indent="0" marL="0">
              <a:buNone/>
            </a:pPr>
            <a:endParaRPr lang="en-US" sz="950" dirty="0"/>
          </a:p>
          <a:p>
            <a:pPr indent="0" marL="0">
              <a:buNone/>
            </a:pPr>
            <a:r>
              <a:rPr lang="en-US" sz="950" b="1" dirty="0">
                <a:solidFill>
                  <a:srgbClr val="C6613F"/>
                </a:solidFill>
                <a:latin typeface="Yu Gothic" pitchFamily="34" charset="0"/>
                <a:ea typeface="Yu Gothic" pitchFamily="34" charset="-122"/>
                <a:cs typeface="Yu Gothic" pitchFamily="34" charset="-120"/>
              </a:rPr>
              <a:t>人 </a:t>
            </a:r>
            <a:endParaRPr lang="en-US" sz="950" dirty="0"/>
          </a:p>
          <a:p>
            <a:pPr indent="0" marL="0">
              <a:buNone/>
            </a:pPr>
            <a:r>
              <a:rPr lang="en-US" sz="950" dirty="0">
                <a:solidFill>
                  <a:srgbClr val="1F1E1D"/>
                </a:solidFill>
                <a:latin typeface="Yu Gothic" pitchFamily="34" charset="0"/>
                <a:ea typeface="Yu Gothic" pitchFamily="34" charset="-122"/>
                <a:cs typeface="Yu Gothic" pitchFamily="34" charset="-120"/>
              </a:rPr>
              <a:t>「まだ滑らかでない」と差し戻し→計測で原因特定させ方式変更</a:t>
            </a:r>
            <a:endParaRPr lang="en-US" sz="950" dirty="0"/>
          </a:p>
        </p:txBody>
      </p:sp>
      <p:sp>
        <p:nvSpPr>
          <p:cNvPr id="47" name="Text 45"/>
          <p:cNvSpPr txBox="1"/>
          <p:nvPr/>
        </p:nvSpPr>
        <p:spPr>
          <a:xfrm>
            <a:off x="8284464" y="5943600"/>
            <a:ext cx="3154680" cy="292608"/>
          </a:xfrm>
          <a:prstGeom prst="rect">
            <a:avLst/>
          </a:prstGeom>
          <a:noFill/>
          <a:ln/>
        </p:spPr>
        <p:txBody>
          <a:bodyPr wrap="square" lIns="0" tIns="0" rIns="0" bIns="0" rtlCol="0" anchor="ctr"/>
          <a:lstStyle/>
          <a:p>
            <a:pPr indent="0" marL="0">
              <a:buNone/>
            </a:pPr>
            <a:r>
              <a:rPr lang="en-US" sz="1000" b="1" dirty="0">
                <a:solidFill>
                  <a:srgbClr val="C6613F"/>
                </a:solidFill>
                <a:latin typeface="Yu Gothic" pitchFamily="34" charset="0"/>
                <a:ea typeface="Yu Gothic" pitchFamily="34" charset="-122"/>
                <a:cs typeface="Yu Gothic" pitchFamily="34" charset="-120"/>
              </a:rPr>
              <a:t>原則：AIの出力は「提案」。採否は必ず実機で触って決める</a:t>
            </a:r>
            <a:endParaRPr lang="en-US" sz="1000" dirty="0"/>
          </a:p>
        </p:txBody>
      </p:sp>
      <p:sp>
        <p:nvSpPr>
          <p:cNvPr id="48" name="Text 46"/>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8A857D"/>
                </a:solidFill>
                <a:latin typeface="Yu Gothic" pitchFamily="34" charset="0"/>
                <a:ea typeface="Yu Gothic" pitchFamily="34" charset="-122"/>
                <a:cs typeface="Yu Gothic" pitchFamily="34" charset="-120"/>
              </a:rPr>
              <a:t>BITEMAP ｜ 2026 AI Innovators Cup @ Shibaura 決勝</a:t>
            </a:r>
            <a:endParaRPr lang="en-US" sz="900" dirty="0"/>
          </a:p>
        </p:txBody>
      </p:sp>
      <p:sp>
        <p:nvSpPr>
          <p:cNvPr id="49" name="Text 47"/>
          <p:cNvSpPr txBox="1"/>
          <p:nvPr/>
        </p:nvSpPr>
        <p:spPr>
          <a:xfrm>
            <a:off x="11155680" y="6446520"/>
            <a:ext cx="457200" cy="274320"/>
          </a:xfrm>
          <a:prstGeom prst="rect">
            <a:avLst/>
          </a:prstGeom>
          <a:noFill/>
          <a:ln/>
        </p:spPr>
        <p:txBody>
          <a:bodyPr wrap="square" lIns="0" tIns="0" rIns="0" bIns="0" rtlCol="0" anchor="ctr"/>
          <a:lstStyle/>
          <a:p>
            <a:pPr algn="r" indent="0" marL="0">
              <a:buNone/>
            </a:pPr>
            <a:r>
              <a:rPr lang="en-US" sz="900" dirty="0">
                <a:solidFill>
                  <a:srgbClr val="8A857D"/>
                </a:solidFill>
                <a:latin typeface="Yu Gothic" pitchFamily="34" charset="0"/>
                <a:ea typeface="Yu Gothic" pitchFamily="34" charset="-122"/>
                <a:cs typeface="Yu Gothic"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7315200" cy="320040"/>
          </a:xfrm>
          <a:prstGeom prst="rect">
            <a:avLst/>
          </a:prstGeom>
          <a:noFill/>
          <a:ln/>
        </p:spPr>
        <p:txBody>
          <a:bodyPr wrap="square" lIns="0" tIns="0" rIns="0" bIns="0" rtlCol="0" anchor="ctr"/>
          <a:lstStyle/>
          <a:p>
            <a:pPr indent="0" marL="0">
              <a:buNone/>
            </a:pPr>
            <a:r>
              <a:rPr lang="en-US" sz="1300" b="1" spc="200" kern="0" dirty="0">
                <a:solidFill>
                  <a:srgbClr val="C6613F"/>
                </a:solidFill>
                <a:latin typeface="Yu Gothic" pitchFamily="34" charset="0"/>
                <a:ea typeface="Yu Gothic" pitchFamily="34" charset="-122"/>
                <a:cs typeface="Yu Gothic" pitchFamily="34" charset="-120"/>
              </a:rPr>
              <a:t>予選後の改良</a:t>
            </a:r>
            <a:endParaRPr lang="en-US" sz="1300" dirty="0"/>
          </a:p>
        </p:txBody>
      </p:sp>
      <p:sp>
        <p:nvSpPr>
          <p:cNvPr id="3" name="Text 1"/>
          <p:cNvSpPr txBox="1"/>
          <p:nvPr/>
        </p:nvSpPr>
        <p:spPr>
          <a:xfrm>
            <a:off x="548640" y="621792"/>
            <a:ext cx="11064240" cy="685800"/>
          </a:xfrm>
          <a:prstGeom prst="rect">
            <a:avLst/>
          </a:prstGeom>
          <a:noFill/>
          <a:ln/>
        </p:spPr>
        <p:txBody>
          <a:bodyPr wrap="square" lIns="0" tIns="0" rIns="0" bIns="0" rtlCol="0" anchor="ctr"/>
          <a:lstStyle/>
          <a:p>
            <a:pPr indent="0" marL="0">
              <a:buNone/>
            </a:pPr>
            <a:r>
              <a:rPr lang="en-US" sz="3000" b="1" dirty="0">
                <a:solidFill>
                  <a:srgbClr val="1F1E1D"/>
                </a:solidFill>
                <a:latin typeface="Yu Gothic" pitchFamily="34" charset="0"/>
                <a:ea typeface="Yu Gothic" pitchFamily="34" charset="-122"/>
                <a:cs typeface="Yu Gothic" pitchFamily="34" charset="-120"/>
              </a:rPr>
              <a:t>予選からの改善（v289 → v295）― 実利用で見つけた5点</a:t>
            </a:r>
            <a:endParaRPr lang="en-US" sz="3000" dirty="0"/>
          </a:p>
        </p:txBody>
      </p:sp>
      <p:sp>
        <p:nvSpPr>
          <p:cNvPr id="4" name="Shape 2"/>
          <p:cNvSpPr/>
          <p:nvPr/>
        </p:nvSpPr>
        <p:spPr>
          <a:xfrm>
            <a:off x="548640" y="1508760"/>
            <a:ext cx="5468112" cy="1828800"/>
          </a:xfrm>
          <a:prstGeom prst="roundRect">
            <a:avLst>
              <a:gd name="adj" fmla="val 6000"/>
            </a:avLst>
          </a:prstGeom>
          <a:solidFill>
            <a:srgbClr val="FFFFFF"/>
          </a:solidFill>
          <a:ln w="12700">
            <a:solidFill>
              <a:srgbClr val="EAE3D8"/>
            </a:solidFill>
            <a:prstDash val="solid"/>
          </a:ln>
          <a:effectLst>
            <a:outerShdw sx="100000" sy="100000" kx="0" ky="0" algn="bl" rotWithShape="0" blurRad="76200" dist="25400" dir="5400000">
              <a:srgbClr val="000000">
                <a:alpha val="12000"/>
              </a:srgbClr>
            </a:outerShdw>
          </a:effectLst>
        </p:spPr>
      </p:sp>
      <p:sp>
        <p:nvSpPr>
          <p:cNvPr id="5" name="Shape 3"/>
          <p:cNvSpPr/>
          <p:nvPr/>
        </p:nvSpPr>
        <p:spPr>
          <a:xfrm>
            <a:off x="749808" y="1691640"/>
            <a:ext cx="777240" cy="329184"/>
          </a:xfrm>
          <a:prstGeom prst="roundRect">
            <a:avLst>
              <a:gd name="adj" fmla="val 50000"/>
            </a:avLst>
          </a:prstGeom>
          <a:solidFill>
            <a:srgbClr val="C6613F"/>
          </a:solidFill>
          <a:ln w="12700">
            <a:solidFill>
              <a:srgbClr val="C6613F"/>
            </a:solidFill>
            <a:prstDash val="solid"/>
          </a:ln>
        </p:spPr>
      </p:sp>
      <p:sp>
        <p:nvSpPr>
          <p:cNvPr id="6" name="Text 4"/>
          <p:cNvSpPr txBox="1"/>
          <p:nvPr/>
        </p:nvSpPr>
        <p:spPr>
          <a:xfrm>
            <a:off x="749808" y="1691640"/>
            <a:ext cx="777240"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Yu Gothic" pitchFamily="34" charset="0"/>
                <a:ea typeface="Yu Gothic" pitchFamily="34" charset="-122"/>
                <a:cs typeface="Yu Gothic" pitchFamily="34" charset="-120"/>
              </a:rPr>
              <a:t>v290</a:t>
            </a:r>
            <a:endParaRPr lang="en-US" sz="1100" dirty="0"/>
          </a:p>
        </p:txBody>
      </p:sp>
      <p:sp>
        <p:nvSpPr>
          <p:cNvPr id="7" name="Text 5"/>
          <p:cNvSpPr txBox="1"/>
          <p:nvPr/>
        </p:nvSpPr>
        <p:spPr>
          <a:xfrm>
            <a:off x="1645920" y="1673352"/>
            <a:ext cx="4206240" cy="365760"/>
          </a:xfrm>
          <a:prstGeom prst="rect">
            <a:avLst/>
          </a:prstGeom>
          <a:noFill/>
          <a:ln/>
        </p:spPr>
        <p:txBody>
          <a:bodyPr wrap="square" lIns="0" tIns="0" rIns="0" bIns="0" rtlCol="0" anchor="ctr"/>
          <a:lstStyle/>
          <a:p>
            <a:pPr indent="0" marL="0">
              <a:buNone/>
            </a:pPr>
            <a:r>
              <a:rPr lang="en-US" sz="1350" b="1" dirty="0">
                <a:solidFill>
                  <a:srgbClr val="1F1E1D"/>
                </a:solidFill>
                <a:latin typeface="Yu Gothic" pitchFamily="34" charset="0"/>
                <a:ea typeface="Yu Gothic" pitchFamily="34" charset="-122"/>
                <a:cs typeface="Yu Gothic" pitchFamily="34" charset="-120"/>
              </a:rPr>
              <a:t>写真一覧から開いた投稿がズレる不具合を修正</a:t>
            </a:r>
            <a:endParaRPr lang="en-US" sz="1350" dirty="0"/>
          </a:p>
        </p:txBody>
      </p:sp>
      <p:sp>
        <p:nvSpPr>
          <p:cNvPr id="8" name="Text 6"/>
          <p:cNvSpPr txBox="1"/>
          <p:nvPr/>
        </p:nvSpPr>
        <p:spPr>
          <a:xfrm>
            <a:off x="749808" y="2148840"/>
            <a:ext cx="5029200" cy="1097280"/>
          </a:xfrm>
          <a:prstGeom prst="rect">
            <a:avLst/>
          </a:prstGeom>
          <a:noFill/>
          <a:ln/>
        </p:spPr>
        <p:txBody>
          <a:bodyPr wrap="square" lIns="0" tIns="0" rIns="0" bIns="0" rtlCol="0" anchor="t"/>
          <a:lstStyle/>
          <a:p>
            <a:pPr indent="0" marL="0">
              <a:buNone/>
            </a:pPr>
            <a:r>
              <a:rPr lang="en-US" sz="1100" dirty="0">
                <a:solidFill>
                  <a:srgbClr val="6E6960"/>
                </a:solidFill>
                <a:latin typeface="Yu Gothic" pitchFamily="34" charset="0"/>
                <a:ea typeface="Yu Gothic" pitchFamily="34" charset="-122"/>
                <a:cs typeface="Yu Gothic" pitchFamily="34" charset="-120"/>
              </a:rPr>
              <a:t>検索の写真一覧をタップすると「少し前の投稿」が表示された。写真の非同期読み込みで高さが後から伸び、位置補正が切り詰められていたのが原因。「基準の投稿を画面上端に固定する」方式に変更</a:t>
            </a:r>
            <a:endParaRPr lang="en-US" sz="1100" dirty="0"/>
          </a:p>
        </p:txBody>
      </p:sp>
      <p:sp>
        <p:nvSpPr>
          <p:cNvPr id="9" name="Shape 7"/>
          <p:cNvSpPr/>
          <p:nvPr/>
        </p:nvSpPr>
        <p:spPr>
          <a:xfrm>
            <a:off x="6172200" y="1508760"/>
            <a:ext cx="5468112" cy="1828800"/>
          </a:xfrm>
          <a:prstGeom prst="roundRect">
            <a:avLst>
              <a:gd name="adj" fmla="val 6000"/>
            </a:avLst>
          </a:prstGeom>
          <a:solidFill>
            <a:srgbClr val="FFFFFF"/>
          </a:solidFill>
          <a:ln w="12700">
            <a:solidFill>
              <a:srgbClr val="EAE3D8"/>
            </a:solidFill>
            <a:prstDash val="solid"/>
          </a:ln>
          <a:effectLst>
            <a:outerShdw sx="100000" sy="100000" kx="0" ky="0" algn="bl" rotWithShape="0" blurRad="76200" dist="25400" dir="5400000">
              <a:srgbClr val="000000">
                <a:alpha val="12000"/>
              </a:srgbClr>
            </a:outerShdw>
          </a:effectLst>
        </p:spPr>
      </p:sp>
      <p:sp>
        <p:nvSpPr>
          <p:cNvPr id="10" name="Shape 8"/>
          <p:cNvSpPr/>
          <p:nvPr/>
        </p:nvSpPr>
        <p:spPr>
          <a:xfrm>
            <a:off x="6373368" y="1691640"/>
            <a:ext cx="777240" cy="329184"/>
          </a:xfrm>
          <a:prstGeom prst="roundRect">
            <a:avLst>
              <a:gd name="adj" fmla="val 50000"/>
            </a:avLst>
          </a:prstGeom>
          <a:solidFill>
            <a:srgbClr val="C6613F"/>
          </a:solidFill>
          <a:ln w="12700">
            <a:solidFill>
              <a:srgbClr val="C6613F"/>
            </a:solidFill>
            <a:prstDash val="solid"/>
          </a:ln>
        </p:spPr>
      </p:sp>
      <p:sp>
        <p:nvSpPr>
          <p:cNvPr id="11" name="Text 9"/>
          <p:cNvSpPr txBox="1"/>
          <p:nvPr/>
        </p:nvSpPr>
        <p:spPr>
          <a:xfrm>
            <a:off x="6373368" y="1691640"/>
            <a:ext cx="777240"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Yu Gothic" pitchFamily="34" charset="0"/>
                <a:ea typeface="Yu Gothic" pitchFamily="34" charset="-122"/>
                <a:cs typeface="Yu Gothic" pitchFamily="34" charset="-120"/>
              </a:rPr>
              <a:t>v291</a:t>
            </a:r>
            <a:endParaRPr lang="en-US" sz="1100" dirty="0"/>
          </a:p>
        </p:txBody>
      </p:sp>
      <p:sp>
        <p:nvSpPr>
          <p:cNvPr id="12" name="Text 10"/>
          <p:cNvSpPr txBox="1"/>
          <p:nvPr/>
        </p:nvSpPr>
        <p:spPr>
          <a:xfrm>
            <a:off x="7269480" y="1673352"/>
            <a:ext cx="4206240" cy="365760"/>
          </a:xfrm>
          <a:prstGeom prst="rect">
            <a:avLst/>
          </a:prstGeom>
          <a:noFill/>
          <a:ln/>
        </p:spPr>
        <p:txBody>
          <a:bodyPr wrap="square" lIns="0" tIns="0" rIns="0" bIns="0" rtlCol="0" anchor="ctr"/>
          <a:lstStyle/>
          <a:p>
            <a:pPr indent="0" marL="0">
              <a:buNone/>
            </a:pPr>
            <a:r>
              <a:rPr lang="en-US" sz="1350" b="1" dirty="0">
                <a:solidFill>
                  <a:srgbClr val="1F1E1D"/>
                </a:solidFill>
                <a:latin typeface="Yu Gothic" pitchFamily="34" charset="0"/>
                <a:ea typeface="Yu Gothic" pitchFamily="34" charset="-122"/>
                <a:cs typeface="Yu Gothic" pitchFamily="34" charset="-120"/>
              </a:rPr>
              <a:t>投稿詳細のスクロールを滑らかに</a:t>
            </a:r>
            <a:endParaRPr lang="en-US" sz="1350" dirty="0"/>
          </a:p>
        </p:txBody>
      </p:sp>
      <p:sp>
        <p:nvSpPr>
          <p:cNvPr id="13" name="Text 11"/>
          <p:cNvSpPr txBox="1"/>
          <p:nvPr/>
        </p:nvSpPr>
        <p:spPr>
          <a:xfrm>
            <a:off x="6373368" y="2148840"/>
            <a:ext cx="5029200" cy="1097280"/>
          </a:xfrm>
          <a:prstGeom prst="rect">
            <a:avLst/>
          </a:prstGeom>
          <a:noFill/>
          <a:ln/>
        </p:spPr>
        <p:txBody>
          <a:bodyPr wrap="square" lIns="0" tIns="0" rIns="0" bIns="0" rtlCol="0" anchor="t"/>
          <a:lstStyle/>
          <a:p>
            <a:pPr indent="0" marL="0">
              <a:buNone/>
            </a:pPr>
            <a:r>
              <a:rPr lang="en-US" sz="1100" dirty="0">
                <a:solidFill>
                  <a:srgbClr val="6E6960"/>
                </a:solidFill>
                <a:latin typeface="Yu Gothic" pitchFamily="34" charset="0"/>
                <a:ea typeface="Yu Gothic" pitchFamily="34" charset="-122"/>
                <a:cs typeface="Yu Gothic" pitchFamily="34" charset="-120"/>
              </a:rPr>
              <a:t>v290の方式だと慣性スクロール中に補正が割り込んで止まる。写真の高さが確定してから継ぎ足し、操作中は補正しない設計に</a:t>
            </a:r>
            <a:endParaRPr lang="en-US" sz="1100" dirty="0"/>
          </a:p>
        </p:txBody>
      </p:sp>
      <p:sp>
        <p:nvSpPr>
          <p:cNvPr id="14" name="Shape 12"/>
          <p:cNvSpPr/>
          <p:nvPr/>
        </p:nvSpPr>
        <p:spPr>
          <a:xfrm>
            <a:off x="548640" y="3520440"/>
            <a:ext cx="5468112" cy="1828800"/>
          </a:xfrm>
          <a:prstGeom prst="roundRect">
            <a:avLst>
              <a:gd name="adj" fmla="val 6000"/>
            </a:avLst>
          </a:prstGeom>
          <a:solidFill>
            <a:srgbClr val="FFFFFF"/>
          </a:solidFill>
          <a:ln w="12700">
            <a:solidFill>
              <a:srgbClr val="EAE3D8"/>
            </a:solidFill>
            <a:prstDash val="solid"/>
          </a:ln>
          <a:effectLst>
            <a:outerShdw sx="100000" sy="100000" kx="0" ky="0" algn="bl" rotWithShape="0" blurRad="76200" dist="25400" dir="5400000">
              <a:srgbClr val="000000">
                <a:alpha val="12000"/>
              </a:srgbClr>
            </a:outerShdw>
          </a:effectLst>
        </p:spPr>
      </p:sp>
      <p:sp>
        <p:nvSpPr>
          <p:cNvPr id="15" name="Shape 13"/>
          <p:cNvSpPr/>
          <p:nvPr/>
        </p:nvSpPr>
        <p:spPr>
          <a:xfrm>
            <a:off x="749808" y="3703320"/>
            <a:ext cx="777240" cy="329184"/>
          </a:xfrm>
          <a:prstGeom prst="roundRect">
            <a:avLst>
              <a:gd name="adj" fmla="val 50000"/>
            </a:avLst>
          </a:prstGeom>
          <a:solidFill>
            <a:srgbClr val="C6613F"/>
          </a:solidFill>
          <a:ln w="12700">
            <a:solidFill>
              <a:srgbClr val="C6613F"/>
            </a:solidFill>
            <a:prstDash val="solid"/>
          </a:ln>
        </p:spPr>
      </p:sp>
      <p:sp>
        <p:nvSpPr>
          <p:cNvPr id="16" name="Text 14"/>
          <p:cNvSpPr txBox="1"/>
          <p:nvPr/>
        </p:nvSpPr>
        <p:spPr>
          <a:xfrm>
            <a:off x="749808" y="3703320"/>
            <a:ext cx="777240"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Yu Gothic" pitchFamily="34" charset="0"/>
                <a:ea typeface="Yu Gothic" pitchFamily="34" charset="-122"/>
                <a:cs typeface="Yu Gothic" pitchFamily="34" charset="-120"/>
              </a:rPr>
              <a:t>v292</a:t>
            </a:r>
            <a:endParaRPr lang="en-US" sz="1100" dirty="0"/>
          </a:p>
        </p:txBody>
      </p:sp>
      <p:sp>
        <p:nvSpPr>
          <p:cNvPr id="17" name="Text 15"/>
          <p:cNvSpPr txBox="1"/>
          <p:nvPr/>
        </p:nvSpPr>
        <p:spPr>
          <a:xfrm>
            <a:off x="1645920" y="3685032"/>
            <a:ext cx="4206240" cy="365760"/>
          </a:xfrm>
          <a:prstGeom prst="rect">
            <a:avLst/>
          </a:prstGeom>
          <a:noFill/>
          <a:ln/>
        </p:spPr>
        <p:txBody>
          <a:bodyPr wrap="square" lIns="0" tIns="0" rIns="0" bIns="0" rtlCol="0" anchor="ctr"/>
          <a:lstStyle/>
          <a:p>
            <a:pPr indent="0" marL="0">
              <a:buNone/>
            </a:pPr>
            <a:r>
              <a:rPr lang="en-US" sz="1350" b="1" dirty="0">
                <a:solidFill>
                  <a:srgbClr val="1F1E1D"/>
                </a:solidFill>
                <a:latin typeface="Yu Gothic" pitchFamily="34" charset="0"/>
                <a:ea typeface="Yu Gothic" pitchFamily="34" charset="-122"/>
                <a:cs typeface="Yu Gothic" pitchFamily="34" charset="-120"/>
              </a:rPr>
              <a:t>味の評価を0.5刻みでスマホでも確実に</a:t>
            </a:r>
            <a:endParaRPr lang="en-US" sz="1350" dirty="0"/>
          </a:p>
        </p:txBody>
      </p:sp>
      <p:sp>
        <p:nvSpPr>
          <p:cNvPr id="18" name="Text 16"/>
          <p:cNvSpPr txBox="1"/>
          <p:nvPr/>
        </p:nvSpPr>
        <p:spPr>
          <a:xfrm>
            <a:off x="749808" y="4160520"/>
            <a:ext cx="5029200" cy="1097280"/>
          </a:xfrm>
          <a:prstGeom prst="rect">
            <a:avLst/>
          </a:prstGeom>
          <a:noFill/>
          <a:ln/>
        </p:spPr>
        <p:txBody>
          <a:bodyPr wrap="square" lIns="0" tIns="0" rIns="0" bIns="0" rtlCol="0" anchor="t"/>
          <a:lstStyle/>
          <a:p>
            <a:pPr indent="0" marL="0">
              <a:buNone/>
            </a:pPr>
            <a:r>
              <a:rPr lang="en-US" sz="1100" dirty="0">
                <a:solidFill>
                  <a:srgbClr val="6E6960"/>
                </a:solidFill>
                <a:latin typeface="Yu Gothic" pitchFamily="34" charset="0"/>
                <a:ea typeface="Yu Gothic" pitchFamily="34" charset="-122"/>
                <a:cs typeface="Yu Gothic" pitchFamily="34" charset="-120"/>
              </a:rPr>
              <a:t>「左半分タップで.5」は26pxの星では狙えなかった。星を36pxに拡大、なぞって選択、同じ星の再タップで .5 切替、数値表示を追加</a:t>
            </a:r>
            <a:endParaRPr lang="en-US" sz="1100" dirty="0"/>
          </a:p>
        </p:txBody>
      </p:sp>
      <p:sp>
        <p:nvSpPr>
          <p:cNvPr id="19" name="Shape 17"/>
          <p:cNvSpPr/>
          <p:nvPr/>
        </p:nvSpPr>
        <p:spPr>
          <a:xfrm>
            <a:off x="6172200" y="3520440"/>
            <a:ext cx="5468112" cy="1828800"/>
          </a:xfrm>
          <a:prstGeom prst="roundRect">
            <a:avLst>
              <a:gd name="adj" fmla="val 6000"/>
            </a:avLst>
          </a:prstGeom>
          <a:solidFill>
            <a:srgbClr val="FFFFFF"/>
          </a:solidFill>
          <a:ln w="12700">
            <a:solidFill>
              <a:srgbClr val="EAE3D8"/>
            </a:solidFill>
            <a:prstDash val="solid"/>
          </a:ln>
          <a:effectLst>
            <a:outerShdw sx="100000" sy="100000" kx="0" ky="0" algn="bl" rotWithShape="0" blurRad="76200" dist="25400" dir="5400000">
              <a:srgbClr val="000000">
                <a:alpha val="12000"/>
              </a:srgbClr>
            </a:outerShdw>
          </a:effectLst>
        </p:spPr>
      </p:sp>
      <p:sp>
        <p:nvSpPr>
          <p:cNvPr id="20" name="Shape 18"/>
          <p:cNvSpPr/>
          <p:nvPr/>
        </p:nvSpPr>
        <p:spPr>
          <a:xfrm>
            <a:off x="6373368" y="3703320"/>
            <a:ext cx="777240" cy="329184"/>
          </a:xfrm>
          <a:prstGeom prst="roundRect">
            <a:avLst>
              <a:gd name="adj" fmla="val 50000"/>
            </a:avLst>
          </a:prstGeom>
          <a:solidFill>
            <a:srgbClr val="C6613F"/>
          </a:solidFill>
          <a:ln w="12700">
            <a:solidFill>
              <a:srgbClr val="C6613F"/>
            </a:solidFill>
            <a:prstDash val="solid"/>
          </a:ln>
        </p:spPr>
      </p:sp>
      <p:sp>
        <p:nvSpPr>
          <p:cNvPr id="21" name="Text 19"/>
          <p:cNvSpPr txBox="1"/>
          <p:nvPr/>
        </p:nvSpPr>
        <p:spPr>
          <a:xfrm>
            <a:off x="6373368" y="3703320"/>
            <a:ext cx="777240"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Yu Gothic" pitchFamily="34" charset="0"/>
                <a:ea typeface="Yu Gothic" pitchFamily="34" charset="-122"/>
                <a:cs typeface="Yu Gothic" pitchFamily="34" charset="-120"/>
              </a:rPr>
              <a:t>v293</a:t>
            </a:r>
            <a:endParaRPr lang="en-US" sz="1100" dirty="0"/>
          </a:p>
        </p:txBody>
      </p:sp>
      <p:sp>
        <p:nvSpPr>
          <p:cNvPr id="22" name="Text 20"/>
          <p:cNvSpPr txBox="1"/>
          <p:nvPr/>
        </p:nvSpPr>
        <p:spPr>
          <a:xfrm>
            <a:off x="7269480" y="3685032"/>
            <a:ext cx="4206240" cy="365760"/>
          </a:xfrm>
          <a:prstGeom prst="rect">
            <a:avLst/>
          </a:prstGeom>
          <a:noFill/>
          <a:ln/>
        </p:spPr>
        <p:txBody>
          <a:bodyPr wrap="square" lIns="0" tIns="0" rIns="0" bIns="0" rtlCol="0" anchor="ctr"/>
          <a:lstStyle/>
          <a:p>
            <a:pPr indent="0" marL="0">
              <a:buNone/>
            </a:pPr>
            <a:r>
              <a:rPr lang="en-US" sz="1350" b="1" dirty="0">
                <a:solidFill>
                  <a:srgbClr val="1F1E1D"/>
                </a:solidFill>
                <a:latin typeface="Yu Gothic" pitchFamily="34" charset="0"/>
                <a:ea typeface="Yu Gothic" pitchFamily="34" charset="-122"/>
                <a:cs typeface="Yu Gothic" pitchFamily="34" charset="-120"/>
              </a:rPr>
              <a:t>他人の投稿の日付を全画面で非表示</a:t>
            </a:r>
            <a:endParaRPr lang="en-US" sz="1350" dirty="0"/>
          </a:p>
        </p:txBody>
      </p:sp>
      <p:sp>
        <p:nvSpPr>
          <p:cNvPr id="23" name="Text 21"/>
          <p:cNvSpPr txBox="1"/>
          <p:nvPr/>
        </p:nvSpPr>
        <p:spPr>
          <a:xfrm>
            <a:off x="6373368" y="4160520"/>
            <a:ext cx="5029200" cy="1097280"/>
          </a:xfrm>
          <a:prstGeom prst="rect">
            <a:avLst/>
          </a:prstGeom>
          <a:noFill/>
          <a:ln/>
        </p:spPr>
        <p:txBody>
          <a:bodyPr wrap="square" lIns="0" tIns="0" rIns="0" bIns="0" rtlCol="0" anchor="t"/>
          <a:lstStyle/>
          <a:p>
            <a:pPr indent="0" marL="0">
              <a:buNone/>
            </a:pPr>
            <a:r>
              <a:rPr lang="en-US" sz="1100" dirty="0">
                <a:solidFill>
                  <a:srgbClr val="6E6960"/>
                </a:solidFill>
                <a:latin typeface="Yu Gothic" pitchFamily="34" charset="0"/>
                <a:ea typeface="Yu Gothic" pitchFamily="34" charset="-122"/>
                <a:cs typeface="Yu Gothic" pitchFamily="34" charset="-120"/>
              </a:rPr>
              <a:t>ホームのカードと店舗シートに残っていた相対時刻を廃止。プライバシー配慮を全画面で統一</a:t>
            </a:r>
            <a:endParaRPr lang="en-US" sz="1100" dirty="0"/>
          </a:p>
        </p:txBody>
      </p:sp>
      <p:sp>
        <p:nvSpPr>
          <p:cNvPr id="24" name="Shape 22"/>
          <p:cNvSpPr/>
          <p:nvPr/>
        </p:nvSpPr>
        <p:spPr>
          <a:xfrm>
            <a:off x="548640" y="5532120"/>
            <a:ext cx="11091672" cy="777240"/>
          </a:xfrm>
          <a:prstGeom prst="roundRect">
            <a:avLst>
              <a:gd name="adj" fmla="val 14118"/>
            </a:avLst>
          </a:prstGeom>
          <a:solidFill>
            <a:srgbClr val="FBEFE9"/>
          </a:solidFill>
          <a:ln w="12700">
            <a:solidFill>
              <a:srgbClr val="EFD3C6"/>
            </a:solidFill>
            <a:prstDash val="solid"/>
          </a:ln>
        </p:spPr>
      </p:sp>
      <p:sp>
        <p:nvSpPr>
          <p:cNvPr id="25" name="Text 23"/>
          <p:cNvSpPr txBox="1"/>
          <p:nvPr/>
        </p:nvSpPr>
        <p:spPr>
          <a:xfrm>
            <a:off x="777240" y="5596128"/>
            <a:ext cx="10698480" cy="685800"/>
          </a:xfrm>
          <a:prstGeom prst="rect">
            <a:avLst/>
          </a:prstGeom>
          <a:noFill/>
          <a:ln/>
        </p:spPr>
        <p:txBody>
          <a:bodyPr wrap="square" lIns="0" tIns="0" rIns="0" bIns="0" rtlCol="0" anchor="ctr"/>
          <a:lstStyle/>
          <a:p>
            <a:pPr algn="l" indent="0" marL="0">
              <a:buNone/>
            </a:pPr>
            <a:r>
              <a:rPr lang="en-US" sz="1150" b="1" dirty="0">
                <a:solidFill>
                  <a:srgbClr val="C6613F"/>
                </a:solidFill>
                <a:latin typeface="Yu Gothic" pitchFamily="34" charset="0"/>
                <a:ea typeface="Yu Gothic" pitchFamily="34" charset="-122"/>
                <a:cs typeface="Yu Gothic" pitchFamily="34" charset="-120"/>
              </a:rPr>
              <a:t>v294-295 写真込みバックアップ：</a:t>
            </a:r>
            <a:pPr algn="l" indent="0" marL="0">
              <a:buNone/>
            </a:pPr>
            <a:r>
              <a:rPr lang="en-US" sz="1150" dirty="0">
                <a:solidFill>
                  <a:srgbClr val="1F1E1D"/>
                </a:solidFill>
                <a:latin typeface="Yu Gothic" pitchFamily="34" charset="0"/>
                <a:ea typeface="Yu Gothic" pitchFamily="34" charset="-122"/>
                <a:cs typeface="Yu Gothic" pitchFamily="34" charset="-120"/>
              </a:rPr>
              <a:t>クラウド保存の写真も端末で取得して同梱し、別端末で写真ごと復元できるように（このデモ動画の実データ再現にも使用）。</a:t>
            </a:r>
            <a:pPr algn="l" indent="0" marL="0">
              <a:buNone/>
            </a:pPr>
            <a:r>
              <a:rPr lang="en-US" sz="1150" b="1" dirty="0">
                <a:solidFill>
                  <a:srgbClr val="C6613F"/>
                </a:solidFill>
                <a:latin typeface="Yu Gothic" pitchFamily="34" charset="0"/>
                <a:ea typeface="Yu Gothic" pitchFamily="34" charset="-122"/>
                <a:cs typeface="Yu Gothic" pitchFamily="34" charset="-120"/>
              </a:rPr>
              <a:t>　進め方は予選と同じループ：</a:t>
            </a:r>
            <a:pPr algn="l" indent="0" marL="0">
              <a:buNone/>
            </a:pPr>
            <a:r>
              <a:rPr lang="en-US" sz="1150" dirty="0">
                <a:solidFill>
                  <a:srgbClr val="1F1E1D"/>
                </a:solidFill>
                <a:latin typeface="Yu Gothic" pitchFamily="34" charset="0"/>
                <a:ea typeface="Yu Gothic" pitchFamily="34" charset="-122"/>
                <a:cs typeface="Yu Gothic" pitchFamily="34" charset="-120"/>
              </a:rPr>
              <a:t>日常利用で気づく → 現象を伝える → AIが修正・自動テスト → 実機で検証。</a:t>
            </a:r>
            <a:endParaRPr lang="en-US" sz="1150" dirty="0"/>
          </a:p>
        </p:txBody>
      </p:sp>
      <p:sp>
        <p:nvSpPr>
          <p:cNvPr id="26" name="Text 24"/>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8A857D"/>
                </a:solidFill>
                <a:latin typeface="Yu Gothic" pitchFamily="34" charset="0"/>
                <a:ea typeface="Yu Gothic" pitchFamily="34" charset="-122"/>
                <a:cs typeface="Yu Gothic" pitchFamily="34" charset="-120"/>
              </a:rPr>
              <a:t>BITEMAP ｜ 2026 AI Innovators Cup @ Shibaura 決勝</a:t>
            </a:r>
            <a:endParaRPr lang="en-US" sz="900" dirty="0"/>
          </a:p>
        </p:txBody>
      </p:sp>
      <p:sp>
        <p:nvSpPr>
          <p:cNvPr id="27" name="Text 25"/>
          <p:cNvSpPr txBox="1"/>
          <p:nvPr/>
        </p:nvSpPr>
        <p:spPr>
          <a:xfrm>
            <a:off x="11155680" y="6446520"/>
            <a:ext cx="457200" cy="274320"/>
          </a:xfrm>
          <a:prstGeom prst="rect">
            <a:avLst/>
          </a:prstGeom>
          <a:noFill/>
          <a:ln/>
        </p:spPr>
        <p:txBody>
          <a:bodyPr wrap="square" lIns="0" tIns="0" rIns="0" bIns="0" rtlCol="0" anchor="ctr"/>
          <a:lstStyle/>
          <a:p>
            <a:pPr algn="r" indent="0" marL="0">
              <a:buNone/>
            </a:pPr>
            <a:r>
              <a:rPr lang="en-US" sz="900" dirty="0">
                <a:solidFill>
                  <a:srgbClr val="8A857D"/>
                </a:solidFill>
                <a:latin typeface="Yu Gothic" pitchFamily="34" charset="0"/>
                <a:ea typeface="Yu Gothic" pitchFamily="34" charset="-122"/>
                <a:cs typeface="Yu Gothic"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7315200" cy="320040"/>
          </a:xfrm>
          <a:prstGeom prst="rect">
            <a:avLst/>
          </a:prstGeom>
          <a:noFill/>
          <a:ln/>
        </p:spPr>
        <p:txBody>
          <a:bodyPr wrap="square" lIns="0" tIns="0" rIns="0" bIns="0" rtlCol="0" anchor="ctr"/>
          <a:lstStyle/>
          <a:p>
            <a:pPr indent="0" marL="0">
              <a:buNone/>
            </a:pPr>
            <a:r>
              <a:rPr lang="en-US" sz="1300" b="1" spc="200" kern="0" dirty="0">
                <a:solidFill>
                  <a:srgbClr val="C6613F"/>
                </a:solidFill>
                <a:latin typeface="Yu Gothic" pitchFamily="34" charset="0"/>
                <a:ea typeface="Yu Gothic" pitchFamily="34" charset="-122"/>
                <a:cs typeface="Yu Gothic" pitchFamily="34" charset="-120"/>
              </a:rPr>
              <a:t>審査観点 ⑤ 成果物の完成度</a:t>
            </a:r>
            <a:endParaRPr lang="en-US" sz="1300" dirty="0"/>
          </a:p>
        </p:txBody>
      </p:sp>
      <p:sp>
        <p:nvSpPr>
          <p:cNvPr id="3" name="Text 1"/>
          <p:cNvSpPr txBox="1"/>
          <p:nvPr/>
        </p:nvSpPr>
        <p:spPr>
          <a:xfrm>
            <a:off x="548640" y="621792"/>
            <a:ext cx="11064240" cy="685800"/>
          </a:xfrm>
          <a:prstGeom prst="rect">
            <a:avLst/>
          </a:prstGeom>
          <a:noFill/>
          <a:ln/>
        </p:spPr>
        <p:txBody>
          <a:bodyPr wrap="square" lIns="0" tIns="0" rIns="0" bIns="0" rtlCol="0" anchor="ctr"/>
          <a:lstStyle/>
          <a:p>
            <a:pPr indent="0" marL="0">
              <a:buNone/>
            </a:pPr>
            <a:r>
              <a:rPr lang="en-US" sz="3000" b="1" dirty="0">
                <a:solidFill>
                  <a:srgbClr val="1F1E1D"/>
                </a:solidFill>
                <a:latin typeface="Yu Gothic" pitchFamily="34" charset="0"/>
                <a:ea typeface="Yu Gothic" pitchFamily="34" charset="-122"/>
                <a:cs typeface="Yu Gothic" pitchFamily="34" charset="-120"/>
              </a:rPr>
              <a:t>成果 ― 「動くもの」を実生活で運用中</a:t>
            </a:r>
            <a:endParaRPr lang="en-US" sz="3000" dirty="0"/>
          </a:p>
        </p:txBody>
      </p:sp>
      <p:sp>
        <p:nvSpPr>
          <p:cNvPr id="4" name="Shape 2"/>
          <p:cNvSpPr/>
          <p:nvPr/>
        </p:nvSpPr>
        <p:spPr>
          <a:xfrm>
            <a:off x="548640" y="1508760"/>
            <a:ext cx="1783080" cy="1737360"/>
          </a:xfrm>
          <a:prstGeom prst="roundRect">
            <a:avLst>
              <a:gd name="adj" fmla="val 6316"/>
            </a:avLst>
          </a:prstGeom>
          <a:solidFill>
            <a:srgbClr val="FBF8F3"/>
          </a:solidFill>
          <a:ln w="12700">
            <a:solidFill>
              <a:srgbClr val="EAE3D8"/>
            </a:solidFill>
            <a:prstDash val="solid"/>
          </a:ln>
        </p:spPr>
      </p:sp>
      <p:sp>
        <p:nvSpPr>
          <p:cNvPr id="5" name="Text 3"/>
          <p:cNvSpPr txBox="1"/>
          <p:nvPr/>
        </p:nvSpPr>
        <p:spPr>
          <a:xfrm>
            <a:off x="548640" y="1645920"/>
            <a:ext cx="1783080" cy="822960"/>
          </a:xfrm>
          <a:prstGeom prst="rect">
            <a:avLst/>
          </a:prstGeom>
          <a:noFill/>
          <a:ln/>
        </p:spPr>
        <p:txBody>
          <a:bodyPr wrap="square" lIns="0" tIns="0" rIns="0" bIns="0" rtlCol="0" anchor="ctr"/>
          <a:lstStyle/>
          <a:p>
            <a:pPr algn="ctr" indent="0" marL="0">
              <a:buNone/>
            </a:pPr>
            <a:r>
              <a:rPr lang="en-US" sz="4000" b="1" dirty="0">
                <a:solidFill>
                  <a:srgbClr val="C6613F"/>
                </a:solidFill>
                <a:latin typeface="Yu Gothic" pitchFamily="34" charset="0"/>
                <a:ea typeface="Yu Gothic" pitchFamily="34" charset="-122"/>
                <a:cs typeface="Yu Gothic" pitchFamily="34" charset="-120"/>
              </a:rPr>
              <a:t>295</a:t>
            </a:r>
            <a:endParaRPr lang="en-US" sz="4000" dirty="0"/>
          </a:p>
        </p:txBody>
      </p:sp>
      <p:sp>
        <p:nvSpPr>
          <p:cNvPr id="6" name="Text 4"/>
          <p:cNvSpPr txBox="1"/>
          <p:nvPr/>
        </p:nvSpPr>
        <p:spPr>
          <a:xfrm>
            <a:off x="548640" y="2468880"/>
            <a:ext cx="1783080" cy="640080"/>
          </a:xfrm>
          <a:prstGeom prst="rect">
            <a:avLst/>
          </a:prstGeom>
          <a:noFill/>
          <a:ln/>
        </p:spPr>
        <p:txBody>
          <a:bodyPr wrap="square" lIns="0" tIns="0" rIns="0" bIns="0" rtlCol="0" anchor="ctr"/>
          <a:lstStyle/>
          <a:p>
            <a:pPr algn="ctr" indent="0" marL="0">
              <a:buNone/>
            </a:pPr>
            <a:r>
              <a:rPr lang="en-US" sz="1050" dirty="0">
                <a:solidFill>
                  <a:srgbClr val="6E6960"/>
                </a:solidFill>
                <a:latin typeface="Yu Gothic" pitchFamily="34" charset="0"/>
                <a:ea typeface="Yu Gothic" pitchFamily="34" charset="-122"/>
                <a:cs typeface="Yu Gothic" pitchFamily="34" charset="-120"/>
              </a:rPr>
              <a:t>リリースした</a:t>
            </a:r>
            <a:endParaRPr lang="en-US" sz="1050" dirty="0"/>
          </a:p>
          <a:p>
            <a:pPr algn="ctr" indent="0" marL="0">
              <a:buNone/>
            </a:pPr>
            <a:r>
              <a:rPr lang="en-US" sz="1050" dirty="0">
                <a:solidFill>
                  <a:srgbClr val="6E6960"/>
                </a:solidFill>
                <a:latin typeface="Yu Gothic" pitchFamily="34" charset="0"/>
                <a:ea typeface="Yu Gothic" pitchFamily="34" charset="-122"/>
                <a:cs typeface="Yu Gothic" pitchFamily="34" charset="-120"/>
              </a:rPr>
              <a:t>バージョン数</a:t>
            </a:r>
            <a:endParaRPr lang="en-US" sz="1050" dirty="0"/>
          </a:p>
        </p:txBody>
      </p:sp>
      <p:sp>
        <p:nvSpPr>
          <p:cNvPr id="7" name="Shape 5"/>
          <p:cNvSpPr/>
          <p:nvPr/>
        </p:nvSpPr>
        <p:spPr>
          <a:xfrm>
            <a:off x="2468880" y="1508760"/>
            <a:ext cx="1783080" cy="1737360"/>
          </a:xfrm>
          <a:prstGeom prst="roundRect">
            <a:avLst>
              <a:gd name="adj" fmla="val 6316"/>
            </a:avLst>
          </a:prstGeom>
          <a:solidFill>
            <a:srgbClr val="FBF8F3"/>
          </a:solidFill>
          <a:ln w="12700">
            <a:solidFill>
              <a:srgbClr val="EAE3D8"/>
            </a:solidFill>
            <a:prstDash val="solid"/>
          </a:ln>
        </p:spPr>
      </p:sp>
      <p:sp>
        <p:nvSpPr>
          <p:cNvPr id="8" name="Text 6"/>
          <p:cNvSpPr txBox="1"/>
          <p:nvPr/>
        </p:nvSpPr>
        <p:spPr>
          <a:xfrm>
            <a:off x="2468880" y="1645920"/>
            <a:ext cx="1783080" cy="822960"/>
          </a:xfrm>
          <a:prstGeom prst="rect">
            <a:avLst/>
          </a:prstGeom>
          <a:noFill/>
          <a:ln/>
        </p:spPr>
        <p:txBody>
          <a:bodyPr wrap="square" lIns="0" tIns="0" rIns="0" bIns="0" rtlCol="0" anchor="ctr"/>
          <a:lstStyle/>
          <a:p>
            <a:pPr algn="ctr" indent="0" marL="0">
              <a:buNone/>
            </a:pPr>
            <a:r>
              <a:rPr lang="en-US" sz="4000" b="1" dirty="0">
                <a:solidFill>
                  <a:srgbClr val="C6613F"/>
                </a:solidFill>
                <a:latin typeface="Yu Gothic" pitchFamily="34" charset="0"/>
                <a:ea typeface="Yu Gothic" pitchFamily="34" charset="-122"/>
                <a:cs typeface="Yu Gothic" pitchFamily="34" charset="-120"/>
              </a:rPr>
              <a:t>208</a:t>
            </a:r>
            <a:endParaRPr lang="en-US" sz="4000" dirty="0"/>
          </a:p>
        </p:txBody>
      </p:sp>
      <p:sp>
        <p:nvSpPr>
          <p:cNvPr id="9" name="Text 7"/>
          <p:cNvSpPr txBox="1"/>
          <p:nvPr/>
        </p:nvSpPr>
        <p:spPr>
          <a:xfrm>
            <a:off x="2468880" y="2468880"/>
            <a:ext cx="1783080" cy="640080"/>
          </a:xfrm>
          <a:prstGeom prst="rect">
            <a:avLst/>
          </a:prstGeom>
          <a:noFill/>
          <a:ln/>
        </p:spPr>
        <p:txBody>
          <a:bodyPr wrap="square" lIns="0" tIns="0" rIns="0" bIns="0" rtlCol="0" anchor="ctr"/>
          <a:lstStyle/>
          <a:p>
            <a:pPr algn="ctr" indent="0" marL="0">
              <a:buNone/>
            </a:pPr>
            <a:r>
              <a:rPr lang="en-US" sz="1050" dirty="0">
                <a:solidFill>
                  <a:srgbClr val="6E6960"/>
                </a:solidFill>
                <a:latin typeface="Yu Gothic" pitchFamily="34" charset="0"/>
                <a:ea typeface="Yu Gothic" pitchFamily="34" charset="-122"/>
                <a:cs typeface="Yu Gothic" pitchFamily="34" charset="-120"/>
              </a:rPr>
              <a:t>実運用で登録した</a:t>
            </a:r>
            <a:endParaRPr lang="en-US" sz="1050" dirty="0"/>
          </a:p>
          <a:p>
            <a:pPr algn="ctr" indent="0" marL="0">
              <a:buNone/>
            </a:pPr>
            <a:r>
              <a:rPr lang="en-US" sz="1050" dirty="0">
                <a:solidFill>
                  <a:srgbClr val="6E6960"/>
                </a:solidFill>
                <a:latin typeface="Yu Gothic" pitchFamily="34" charset="0"/>
                <a:ea typeface="Yu Gothic" pitchFamily="34" charset="-122"/>
                <a:cs typeface="Yu Gothic" pitchFamily="34" charset="-120"/>
              </a:rPr>
              <a:t>店舗数</a:t>
            </a:r>
            <a:endParaRPr lang="en-US" sz="1050" dirty="0"/>
          </a:p>
        </p:txBody>
      </p:sp>
      <p:sp>
        <p:nvSpPr>
          <p:cNvPr id="10" name="Shape 8"/>
          <p:cNvSpPr/>
          <p:nvPr/>
        </p:nvSpPr>
        <p:spPr>
          <a:xfrm>
            <a:off x="4389120" y="1508760"/>
            <a:ext cx="1783080" cy="1737360"/>
          </a:xfrm>
          <a:prstGeom prst="roundRect">
            <a:avLst>
              <a:gd name="adj" fmla="val 6316"/>
            </a:avLst>
          </a:prstGeom>
          <a:solidFill>
            <a:srgbClr val="FBF8F3"/>
          </a:solidFill>
          <a:ln w="12700">
            <a:solidFill>
              <a:srgbClr val="EAE3D8"/>
            </a:solidFill>
            <a:prstDash val="solid"/>
          </a:ln>
        </p:spPr>
      </p:sp>
      <p:sp>
        <p:nvSpPr>
          <p:cNvPr id="11" name="Text 9"/>
          <p:cNvSpPr txBox="1"/>
          <p:nvPr/>
        </p:nvSpPr>
        <p:spPr>
          <a:xfrm>
            <a:off x="4389120" y="1645920"/>
            <a:ext cx="1783080" cy="822960"/>
          </a:xfrm>
          <a:prstGeom prst="rect">
            <a:avLst/>
          </a:prstGeom>
          <a:noFill/>
          <a:ln/>
        </p:spPr>
        <p:txBody>
          <a:bodyPr wrap="square" lIns="0" tIns="0" rIns="0" bIns="0" rtlCol="0" anchor="ctr"/>
          <a:lstStyle/>
          <a:p>
            <a:pPr algn="ctr" indent="0" marL="0">
              <a:buNone/>
            </a:pPr>
            <a:r>
              <a:rPr lang="en-US" sz="4000" b="1" dirty="0">
                <a:solidFill>
                  <a:srgbClr val="C6613F"/>
                </a:solidFill>
                <a:latin typeface="Yu Gothic" pitchFamily="34" charset="0"/>
                <a:ea typeface="Yu Gothic" pitchFamily="34" charset="-122"/>
                <a:cs typeface="Yu Gothic" pitchFamily="34" charset="-120"/>
              </a:rPr>
              <a:t>70+</a:t>
            </a:r>
            <a:endParaRPr lang="en-US" sz="4000" dirty="0"/>
          </a:p>
        </p:txBody>
      </p:sp>
      <p:sp>
        <p:nvSpPr>
          <p:cNvPr id="12" name="Text 10"/>
          <p:cNvSpPr txBox="1"/>
          <p:nvPr/>
        </p:nvSpPr>
        <p:spPr>
          <a:xfrm>
            <a:off x="4389120" y="2468880"/>
            <a:ext cx="1783080" cy="640080"/>
          </a:xfrm>
          <a:prstGeom prst="rect">
            <a:avLst/>
          </a:prstGeom>
          <a:noFill/>
          <a:ln/>
        </p:spPr>
        <p:txBody>
          <a:bodyPr wrap="square" lIns="0" tIns="0" rIns="0" bIns="0" rtlCol="0" anchor="ctr"/>
          <a:lstStyle/>
          <a:p>
            <a:pPr algn="ctr" indent="0" marL="0">
              <a:buNone/>
            </a:pPr>
            <a:r>
              <a:rPr lang="en-US" sz="1050" dirty="0">
                <a:solidFill>
                  <a:srgbClr val="6E6960"/>
                </a:solidFill>
                <a:latin typeface="Yu Gothic" pitchFamily="34" charset="0"/>
                <a:ea typeface="Yu Gothic" pitchFamily="34" charset="-122"/>
                <a:cs typeface="Yu Gothic" pitchFamily="34" charset="-120"/>
              </a:rPr>
              <a:t>AI判定に対応する</a:t>
            </a:r>
            <a:endParaRPr lang="en-US" sz="1050" dirty="0"/>
          </a:p>
          <a:p>
            <a:pPr algn="ctr" indent="0" marL="0">
              <a:buNone/>
            </a:pPr>
            <a:r>
              <a:rPr lang="en-US" sz="1050" dirty="0">
                <a:solidFill>
                  <a:srgbClr val="6E6960"/>
                </a:solidFill>
                <a:latin typeface="Yu Gothic" pitchFamily="34" charset="0"/>
                <a:ea typeface="Yu Gothic" pitchFamily="34" charset="-122"/>
                <a:cs typeface="Yu Gothic" pitchFamily="34" charset="-120"/>
              </a:rPr>
              <a:t>料理ジャンル</a:t>
            </a:r>
            <a:endParaRPr lang="en-US" sz="1050" dirty="0"/>
          </a:p>
        </p:txBody>
      </p:sp>
      <p:sp>
        <p:nvSpPr>
          <p:cNvPr id="13" name="Shape 11"/>
          <p:cNvSpPr/>
          <p:nvPr/>
        </p:nvSpPr>
        <p:spPr>
          <a:xfrm>
            <a:off x="6309360" y="1508760"/>
            <a:ext cx="1783080" cy="1737360"/>
          </a:xfrm>
          <a:prstGeom prst="roundRect">
            <a:avLst>
              <a:gd name="adj" fmla="val 6316"/>
            </a:avLst>
          </a:prstGeom>
          <a:solidFill>
            <a:srgbClr val="FBF8F3"/>
          </a:solidFill>
          <a:ln w="12700">
            <a:solidFill>
              <a:srgbClr val="EAE3D8"/>
            </a:solidFill>
            <a:prstDash val="solid"/>
          </a:ln>
        </p:spPr>
      </p:sp>
      <p:sp>
        <p:nvSpPr>
          <p:cNvPr id="14" name="Text 12"/>
          <p:cNvSpPr txBox="1"/>
          <p:nvPr/>
        </p:nvSpPr>
        <p:spPr>
          <a:xfrm>
            <a:off x="6309360" y="1645920"/>
            <a:ext cx="1783080" cy="822960"/>
          </a:xfrm>
          <a:prstGeom prst="rect">
            <a:avLst/>
          </a:prstGeom>
          <a:noFill/>
          <a:ln/>
        </p:spPr>
        <p:txBody>
          <a:bodyPr wrap="square" lIns="0" tIns="0" rIns="0" bIns="0" rtlCol="0" anchor="ctr"/>
          <a:lstStyle/>
          <a:p>
            <a:pPr algn="ctr" indent="0" marL="0">
              <a:buNone/>
            </a:pPr>
            <a:r>
              <a:rPr lang="en-US" sz="4000" b="1" dirty="0">
                <a:solidFill>
                  <a:srgbClr val="C6613F"/>
                </a:solidFill>
                <a:latin typeface="Yu Gothic" pitchFamily="34" charset="0"/>
                <a:ea typeface="Yu Gothic" pitchFamily="34" charset="-122"/>
                <a:cs typeface="Yu Gothic" pitchFamily="34" charset="-120"/>
              </a:rPr>
              <a:t>1分</a:t>
            </a:r>
            <a:endParaRPr lang="en-US" sz="4000" dirty="0"/>
          </a:p>
        </p:txBody>
      </p:sp>
      <p:sp>
        <p:nvSpPr>
          <p:cNvPr id="15" name="Text 13"/>
          <p:cNvSpPr txBox="1"/>
          <p:nvPr/>
        </p:nvSpPr>
        <p:spPr>
          <a:xfrm>
            <a:off x="6309360" y="2468880"/>
            <a:ext cx="1783080" cy="640080"/>
          </a:xfrm>
          <a:prstGeom prst="rect">
            <a:avLst/>
          </a:prstGeom>
          <a:noFill/>
          <a:ln/>
        </p:spPr>
        <p:txBody>
          <a:bodyPr wrap="square" lIns="0" tIns="0" rIns="0" bIns="0" rtlCol="0" anchor="ctr"/>
          <a:lstStyle/>
          <a:p>
            <a:pPr algn="ctr" indent="0" marL="0">
              <a:buNone/>
            </a:pPr>
            <a:r>
              <a:rPr lang="en-US" sz="1050" dirty="0">
                <a:solidFill>
                  <a:srgbClr val="6E6960"/>
                </a:solidFill>
                <a:latin typeface="Yu Gothic" pitchFamily="34" charset="0"/>
                <a:ea typeface="Yu Gothic" pitchFamily="34" charset="-122"/>
                <a:cs typeface="Yu Gothic" pitchFamily="34" charset="-120"/>
              </a:rPr>
              <a:t>1回の記録にかかる</a:t>
            </a:r>
            <a:endParaRPr lang="en-US" sz="1050" dirty="0"/>
          </a:p>
          <a:p>
            <a:pPr algn="ctr" indent="0" marL="0">
              <a:buNone/>
            </a:pPr>
            <a:r>
              <a:rPr lang="en-US" sz="1050" dirty="0">
                <a:solidFill>
                  <a:srgbClr val="6E6960"/>
                </a:solidFill>
                <a:latin typeface="Yu Gothic" pitchFamily="34" charset="0"/>
                <a:ea typeface="Yu Gothic" pitchFamily="34" charset="-122"/>
                <a:cs typeface="Yu Gothic" pitchFamily="34" charset="-120"/>
              </a:rPr>
              <a:t>時間（目安）</a:t>
            </a:r>
            <a:endParaRPr lang="en-US" sz="1050" dirty="0"/>
          </a:p>
        </p:txBody>
      </p:sp>
      <p:sp>
        <p:nvSpPr>
          <p:cNvPr id="16" name="Text 14"/>
          <p:cNvSpPr txBox="1"/>
          <p:nvPr/>
        </p:nvSpPr>
        <p:spPr>
          <a:xfrm>
            <a:off x="548640" y="3520440"/>
            <a:ext cx="7498080" cy="2743200"/>
          </a:xfrm>
          <a:prstGeom prst="rect">
            <a:avLst/>
          </a:prstGeom>
          <a:noFill/>
          <a:ln/>
        </p:spPr>
        <p:txBody>
          <a:bodyPr wrap="square" lIns="0" tIns="0" rIns="0" bIns="0" rtlCol="0" anchor="t"/>
          <a:lstStyle/>
          <a:p>
            <a:pPr marL="342900" indent="-342900">
              <a:spcAft>
                <a:spcPts val="500"/>
              </a:spcAft>
              <a:buSzPct val="100000"/>
              <a:buChar char="•"/>
            </a:pPr>
            <a:r>
              <a:rPr lang="en-US" sz="1250" dirty="0">
                <a:solidFill>
                  <a:srgbClr val="1F1E1D"/>
                </a:solidFill>
                <a:latin typeface="Yu Gothic" pitchFamily="34" charset="0"/>
                <a:ea typeface="Yu Gothic" pitchFamily="34" charset="-122"/>
                <a:cs typeface="Yu Gothic" pitchFamily="34" charset="-120"/>
              </a:rPr>
              <a:t>本番公開済み（PWA・URLを開くだけ・インストール不要）。制作者自身が毎日の外食の記録（食日記）として利用</a:t>
            </a:r>
            <a:endParaRPr lang="en-US" sz="1250" dirty="0"/>
          </a:p>
          <a:p>
            <a:pPr marL="342900" indent="-342900">
              <a:spcAft>
                <a:spcPts val="500"/>
              </a:spcAft>
              <a:buSzPct val="100000"/>
              <a:buChar char="•"/>
            </a:pPr>
            <a:r>
              <a:rPr lang="en-US" sz="1250" dirty="0">
                <a:solidFill>
                  <a:srgbClr val="1F1E1D"/>
                </a:solidFill>
                <a:latin typeface="Yu Gothic" pitchFamily="34" charset="0"/>
                <a:ea typeface="Yu Gothic" pitchFamily="34" charset="-122"/>
                <a:cs typeface="Yu Gothic" pitchFamily="34" charset="-120"/>
              </a:rPr>
              <a:t>記録の手間：AIジャンル判定＋位置の自動補完で、手入力は店名と★だけ</a:t>
            </a:r>
            <a:endParaRPr lang="en-US" sz="1250" dirty="0"/>
          </a:p>
          <a:p>
            <a:pPr marL="342900" indent="-342900">
              <a:spcAft>
                <a:spcPts val="500"/>
              </a:spcAft>
              <a:buSzPct val="100000"/>
              <a:buChar char="•"/>
            </a:pPr>
            <a:r>
              <a:rPr lang="en-US" sz="1250" dirty="0">
                <a:solidFill>
                  <a:srgbClr val="1F1E1D"/>
                </a:solidFill>
                <a:latin typeface="Yu Gothic" pitchFamily="34" charset="0"/>
                <a:ea typeface="Yu Gothic" pitchFamily="34" charset="-122"/>
                <a:cs typeface="Yu Gothic" pitchFamily="34" charset="-120"/>
              </a:rPr>
              <a:t>データは本人のアカウント領域にのみ保存（Firebaseセキュリティルール）。公開は本人が公開した投稿のみ</a:t>
            </a:r>
            <a:endParaRPr lang="en-US" sz="1250" dirty="0"/>
          </a:p>
          <a:p>
            <a:pPr marL="342900" indent="-342900">
              <a:spcAft>
                <a:spcPts val="500"/>
              </a:spcAft>
              <a:buSzPct val="100000"/>
              <a:buChar char="•"/>
            </a:pPr>
            <a:r>
              <a:rPr lang="en-US" sz="1250" dirty="0">
                <a:solidFill>
                  <a:srgbClr val="1F1E1D"/>
                </a:solidFill>
                <a:latin typeface="Yu Gothic" pitchFamily="34" charset="0"/>
                <a:ea typeface="Yu Gothic" pitchFamily="34" charset="-122"/>
                <a:cs typeface="Yu Gothic" pitchFamily="34" charset="-120"/>
              </a:rPr>
              <a:t>AI判定は利用者自身のAPIキーで実行。最終確認・修正は利用者が行う</a:t>
            </a:r>
            <a:endParaRPr lang="en-US" sz="1250" dirty="0"/>
          </a:p>
          <a:p>
            <a:pPr marL="342900" indent="-342900">
              <a:spcAft>
                <a:spcPts val="500"/>
              </a:spcAft>
              <a:buSzPct val="100000"/>
              <a:buChar char="•"/>
            </a:pPr>
            <a:r>
              <a:rPr lang="en-US" sz="1250" dirty="0">
                <a:solidFill>
                  <a:srgbClr val="1F1E1D"/>
                </a:solidFill>
                <a:latin typeface="Yu Gothic" pitchFamily="34" charset="0"/>
                <a:ea typeface="Yu Gothic" pitchFamily="34" charset="-122"/>
                <a:cs typeface="Yu Gothic" pitchFamily="34" charset="-120"/>
              </a:rPr>
              <a:t>オフライン起動（Service Worker）・ダークモード・地図クラスタ表示・行きたい店ピン</a:t>
            </a:r>
            <a:endParaRPr lang="en-US" sz="1250" dirty="0"/>
          </a:p>
        </p:txBody>
      </p:sp>
      <p:sp>
        <p:nvSpPr>
          <p:cNvPr id="17" name="Shape 15"/>
          <p:cNvSpPr/>
          <p:nvPr/>
        </p:nvSpPr>
        <p:spPr>
          <a:xfrm>
            <a:off x="8677656" y="1453896"/>
            <a:ext cx="2306888" cy="4864608"/>
          </a:xfrm>
          <a:prstGeom prst="roundRect">
            <a:avLst>
              <a:gd name="adj" fmla="val 8720"/>
            </a:avLst>
          </a:prstGeom>
          <a:solidFill>
            <a:srgbClr val="1F1E1D"/>
          </a:solidFill>
          <a:ln w="12700">
            <a:solidFill>
              <a:srgbClr val="1F1E1D"/>
            </a:solidFill>
            <a:prstDash val="solid"/>
          </a:ln>
          <a:effectLst>
            <a:outerShdw sx="100000" sy="100000" kx="0" ky="0" algn="bl" rotWithShape="0" blurRad="76200" dist="25400" dir="5400000">
              <a:srgbClr val="000000">
                <a:alpha val="12000"/>
              </a:srgbClr>
            </a:outerShdw>
          </a:effectLst>
        </p:spPr>
      </p:sp>
      <p:pic>
        <p:nvPicPr>
          <p:cNvPr id="18" name="Image 0" descr="/tmp/claude-0/-home-user-gourmet-app/8edbdaa3-b81a-5c49-b452-bda755b7f07f/scratchpad/real/shots/stats.png">    </p:cNvPr>
          <p:cNvPicPr>
            <a:picLocks noChangeAspect="1"/>
          </p:cNvPicPr>
          <p:nvPr/>
        </p:nvPicPr>
        <p:blipFill>
          <a:blip r:embed="rId1"/>
          <a:stretch>
            <a:fillRect/>
          </a:stretch>
        </p:blipFill>
        <p:spPr>
          <a:xfrm>
            <a:off x="8732520" y="1508760"/>
            <a:ext cx="2197160" cy="4754880"/>
          </a:xfrm>
          <a:prstGeom prst="rect">
            <a:avLst/>
          </a:prstGeom>
        </p:spPr>
      </p:pic>
      <p:sp>
        <p:nvSpPr>
          <p:cNvPr id="19" name="Text 16"/>
          <p:cNvSpPr txBox="1"/>
          <p:nvPr/>
        </p:nvSpPr>
        <p:spPr>
          <a:xfrm>
            <a:off x="8138160" y="6309360"/>
            <a:ext cx="4023360" cy="274320"/>
          </a:xfrm>
          <a:prstGeom prst="rect">
            <a:avLst/>
          </a:prstGeom>
          <a:noFill/>
          <a:ln/>
        </p:spPr>
        <p:txBody>
          <a:bodyPr wrap="square" lIns="0" tIns="0" rIns="0" bIns="0" rtlCol="0" anchor="ctr"/>
          <a:lstStyle/>
          <a:p>
            <a:pPr algn="ctr" indent="0" marL="0">
              <a:buNone/>
            </a:pPr>
            <a:r>
              <a:rPr lang="en-US" sz="950" dirty="0">
                <a:solidFill>
                  <a:srgbClr val="8A857D"/>
                </a:solidFill>
                <a:latin typeface="Yu Gothic" pitchFamily="34" charset="0"/>
                <a:ea typeface="Yu Gothic" pitchFamily="34" charset="-122"/>
                <a:cs typeface="Yu Gothic" pitchFamily="34" charset="-120"/>
              </a:rPr>
              <a:t>統計画面（実データ）：208店舗・251訪問・242枚</a:t>
            </a:r>
            <a:endParaRPr lang="en-US" sz="950" dirty="0"/>
          </a:p>
        </p:txBody>
      </p:sp>
      <p:sp>
        <p:nvSpPr>
          <p:cNvPr id="20" name="Text 17"/>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8A857D"/>
                </a:solidFill>
                <a:latin typeface="Yu Gothic" pitchFamily="34" charset="0"/>
                <a:ea typeface="Yu Gothic" pitchFamily="34" charset="-122"/>
                <a:cs typeface="Yu Gothic" pitchFamily="34" charset="-120"/>
              </a:rPr>
              <a:t>BITEMAP ｜ 2026 AI Innovators Cup @ Shibaura 決勝</a:t>
            </a:r>
            <a:endParaRPr lang="en-US" sz="900" dirty="0"/>
          </a:p>
        </p:txBody>
      </p:sp>
      <p:sp>
        <p:nvSpPr>
          <p:cNvPr id="21" name="Text 18"/>
          <p:cNvSpPr txBox="1"/>
          <p:nvPr/>
        </p:nvSpPr>
        <p:spPr>
          <a:xfrm>
            <a:off x="11155680" y="6446520"/>
            <a:ext cx="457200" cy="274320"/>
          </a:xfrm>
          <a:prstGeom prst="rect">
            <a:avLst/>
          </a:prstGeom>
          <a:noFill/>
          <a:ln/>
        </p:spPr>
        <p:txBody>
          <a:bodyPr wrap="square" lIns="0" tIns="0" rIns="0" bIns="0" rtlCol="0" anchor="ctr"/>
          <a:lstStyle/>
          <a:p>
            <a:pPr algn="r" indent="0" marL="0">
              <a:buNone/>
            </a:pPr>
            <a:r>
              <a:rPr lang="en-US" sz="900" dirty="0">
                <a:solidFill>
                  <a:srgbClr val="8A857D"/>
                </a:solidFill>
                <a:latin typeface="Yu Gothic" pitchFamily="34" charset="0"/>
                <a:ea typeface="Yu Gothic" pitchFamily="34" charset="-122"/>
                <a:cs typeface="Yu Gothic"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7315200" cy="320040"/>
          </a:xfrm>
          <a:prstGeom prst="rect">
            <a:avLst/>
          </a:prstGeom>
          <a:noFill/>
          <a:ln/>
        </p:spPr>
        <p:txBody>
          <a:bodyPr wrap="square" lIns="0" tIns="0" rIns="0" bIns="0" rtlCol="0" anchor="ctr"/>
          <a:lstStyle/>
          <a:p>
            <a:pPr indent="0" marL="0">
              <a:buNone/>
            </a:pPr>
            <a:r>
              <a:rPr lang="en-US" sz="1300" b="1" spc="200" kern="0" dirty="0">
                <a:solidFill>
                  <a:srgbClr val="C6613F"/>
                </a:solidFill>
                <a:latin typeface="Yu Gothic" pitchFamily="34" charset="0"/>
                <a:ea typeface="Yu Gothic" pitchFamily="34" charset="-122"/>
                <a:cs typeface="Yu Gothic" pitchFamily="34" charset="-120"/>
              </a:rPr>
              <a:t>審査観点 ④ テーマのオリジナリティ</a:t>
            </a:r>
            <a:endParaRPr lang="en-US" sz="1300" dirty="0"/>
          </a:p>
        </p:txBody>
      </p:sp>
      <p:sp>
        <p:nvSpPr>
          <p:cNvPr id="3" name="Text 1"/>
          <p:cNvSpPr txBox="1"/>
          <p:nvPr/>
        </p:nvSpPr>
        <p:spPr>
          <a:xfrm>
            <a:off x="548640" y="621792"/>
            <a:ext cx="11064240" cy="685800"/>
          </a:xfrm>
          <a:prstGeom prst="rect">
            <a:avLst/>
          </a:prstGeom>
          <a:noFill/>
          <a:ln/>
        </p:spPr>
        <p:txBody>
          <a:bodyPr wrap="square" lIns="0" tIns="0" rIns="0" bIns="0" rtlCol="0" anchor="ctr"/>
          <a:lstStyle/>
          <a:p>
            <a:pPr indent="0" marL="0">
              <a:buNone/>
            </a:pPr>
            <a:r>
              <a:rPr lang="en-US" sz="3000" b="1" dirty="0">
                <a:solidFill>
                  <a:srgbClr val="1F1E1D"/>
                </a:solidFill>
                <a:latin typeface="Yu Gothic" pitchFamily="34" charset="0"/>
                <a:ea typeface="Yu Gothic" pitchFamily="34" charset="-122"/>
                <a:cs typeface="Yu Gothic" pitchFamily="34" charset="-120"/>
              </a:rPr>
              <a:t>オリジナリティと、これから</a:t>
            </a:r>
            <a:endParaRPr lang="en-US" sz="3000" dirty="0"/>
          </a:p>
        </p:txBody>
      </p:sp>
      <p:sp>
        <p:nvSpPr>
          <p:cNvPr id="4" name="Shape 2"/>
          <p:cNvSpPr/>
          <p:nvPr/>
        </p:nvSpPr>
        <p:spPr>
          <a:xfrm>
            <a:off x="548640" y="1508760"/>
            <a:ext cx="3566160" cy="2880360"/>
          </a:xfrm>
          <a:prstGeom prst="roundRect">
            <a:avLst>
              <a:gd name="adj" fmla="val 3810"/>
            </a:avLst>
          </a:prstGeom>
          <a:solidFill>
            <a:srgbClr val="FFFFFF"/>
          </a:solidFill>
          <a:ln w="12700">
            <a:solidFill>
              <a:srgbClr val="EAE3D8"/>
            </a:solidFill>
            <a:prstDash val="solid"/>
          </a:ln>
          <a:effectLst>
            <a:outerShdw sx="100000" sy="100000" kx="0" ky="0" algn="bl" rotWithShape="0" blurRad="76200" dist="25400" dir="5400000">
              <a:srgbClr val="000000">
                <a:alpha val="12000"/>
              </a:srgbClr>
            </a:outerShdw>
          </a:effectLst>
        </p:spPr>
      </p:sp>
      <p:sp>
        <p:nvSpPr>
          <p:cNvPr id="5" name="Shape 3"/>
          <p:cNvSpPr/>
          <p:nvPr/>
        </p:nvSpPr>
        <p:spPr>
          <a:xfrm>
            <a:off x="777240" y="1737360"/>
            <a:ext cx="2011680" cy="384048"/>
          </a:xfrm>
          <a:prstGeom prst="roundRect">
            <a:avLst>
              <a:gd name="adj" fmla="val 50000"/>
            </a:avLst>
          </a:prstGeom>
          <a:solidFill>
            <a:srgbClr val="C6613F"/>
          </a:solidFill>
          <a:ln w="12700">
            <a:solidFill>
              <a:srgbClr val="C6613F"/>
            </a:solidFill>
            <a:prstDash val="solid"/>
          </a:ln>
        </p:spPr>
      </p:sp>
      <p:sp>
        <p:nvSpPr>
          <p:cNvPr id="6" name="Text 4"/>
          <p:cNvSpPr txBox="1"/>
          <p:nvPr/>
        </p:nvSpPr>
        <p:spPr>
          <a:xfrm>
            <a:off x="777240" y="1737360"/>
            <a:ext cx="2011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Yu Gothic" pitchFamily="34" charset="0"/>
                <a:ea typeface="Yu Gothic" pitchFamily="34" charset="-122"/>
                <a:cs typeface="Yu Gothic" pitchFamily="34" charset="-120"/>
              </a:rPr>
              <a:t>オリジナリティ</a:t>
            </a:r>
            <a:endParaRPr lang="en-US" sz="1300" dirty="0"/>
          </a:p>
        </p:txBody>
      </p:sp>
      <p:sp>
        <p:nvSpPr>
          <p:cNvPr id="7" name="Text 5"/>
          <p:cNvSpPr txBox="1"/>
          <p:nvPr/>
        </p:nvSpPr>
        <p:spPr>
          <a:xfrm>
            <a:off x="777240" y="2286000"/>
            <a:ext cx="3108960" cy="2011680"/>
          </a:xfrm>
          <a:prstGeom prst="rect">
            <a:avLst/>
          </a:prstGeom>
          <a:noFill/>
          <a:ln/>
        </p:spPr>
        <p:txBody>
          <a:bodyPr wrap="square" lIns="0" tIns="0" rIns="0" bIns="0" rtlCol="0" anchor="t"/>
          <a:lstStyle/>
          <a:p>
            <a:pPr marL="342900" indent="-342900">
              <a:spcAft>
                <a:spcPts val="500"/>
              </a:spcAft>
              <a:buSzPct val="100000"/>
              <a:buChar char="•"/>
            </a:pPr>
            <a:r>
              <a:rPr lang="en-US" sz="1200" dirty="0">
                <a:solidFill>
                  <a:srgbClr val="1F1E1D"/>
                </a:solidFill>
                <a:latin typeface="Yu Gothic" pitchFamily="34" charset="0"/>
                <a:ea typeface="Yu Gothic" pitchFamily="34" charset="-122"/>
                <a:cs typeface="Yu Gothic" pitchFamily="34" charset="-120"/>
              </a:rPr>
              <a:t>「平均点」ではなく、個人の味覚をデータ化して評価を並び替える切り口</a:t>
            </a:r>
            <a:endParaRPr lang="en-US" sz="1200" dirty="0"/>
          </a:p>
          <a:p>
            <a:pPr marL="342900" indent="-342900">
              <a:spcAft>
                <a:spcPts val="500"/>
              </a:spcAft>
              <a:buSzPct val="100000"/>
              <a:buChar char="•"/>
            </a:pPr>
            <a:r>
              <a:rPr lang="en-US" sz="1200" dirty="0">
                <a:solidFill>
                  <a:srgbClr val="1F1E1D"/>
                </a:solidFill>
                <a:latin typeface="Yu Gothic" pitchFamily="34" charset="0"/>
                <a:ea typeface="Yu Gothic" pitchFamily="34" charset="-122"/>
                <a:cs typeface="Yu Gothic" pitchFamily="34" charset="-120"/>
              </a:rPr>
              <a:t>記録のハードルをAIで「店名と★だけ」まで下げ、データが自然にたまる設計</a:t>
            </a:r>
            <a:endParaRPr lang="en-US" sz="1200" dirty="0"/>
          </a:p>
          <a:p>
            <a:pPr marL="342900" indent="-342900">
              <a:spcAft>
                <a:spcPts val="500"/>
              </a:spcAft>
              <a:buSzPct val="100000"/>
              <a:buChar char="•"/>
            </a:pPr>
            <a:r>
              <a:rPr lang="en-US" sz="1200" dirty="0">
                <a:solidFill>
                  <a:srgbClr val="1F1E1D"/>
                </a:solidFill>
                <a:latin typeface="Yu Gothic" pitchFamily="34" charset="0"/>
                <a:ea typeface="Yu Gothic" pitchFamily="34" charset="-122"/>
                <a:cs typeface="Yu Gothic" pitchFamily="34" charset="-120"/>
              </a:rPr>
              <a:t>295バージョンのAI協働開発プロセスの記録そのものも成果物</a:t>
            </a:r>
            <a:endParaRPr lang="en-US" sz="1200" dirty="0"/>
          </a:p>
        </p:txBody>
      </p:sp>
      <p:sp>
        <p:nvSpPr>
          <p:cNvPr id="8" name="Shape 6"/>
          <p:cNvSpPr/>
          <p:nvPr/>
        </p:nvSpPr>
        <p:spPr>
          <a:xfrm>
            <a:off x="4315968" y="1508760"/>
            <a:ext cx="3566160" cy="2880360"/>
          </a:xfrm>
          <a:prstGeom prst="roundRect">
            <a:avLst>
              <a:gd name="adj" fmla="val 3810"/>
            </a:avLst>
          </a:prstGeom>
          <a:solidFill>
            <a:srgbClr val="FFFFFF"/>
          </a:solidFill>
          <a:ln w="12700">
            <a:solidFill>
              <a:srgbClr val="EAE3D8"/>
            </a:solidFill>
            <a:prstDash val="solid"/>
          </a:ln>
          <a:effectLst>
            <a:outerShdw sx="100000" sy="100000" kx="0" ky="0" algn="bl" rotWithShape="0" blurRad="76200" dist="25400" dir="5400000">
              <a:srgbClr val="000000">
                <a:alpha val="12000"/>
              </a:srgbClr>
            </a:outerShdw>
          </a:effectLst>
        </p:spPr>
      </p:sp>
      <p:sp>
        <p:nvSpPr>
          <p:cNvPr id="9" name="Shape 7"/>
          <p:cNvSpPr/>
          <p:nvPr/>
        </p:nvSpPr>
        <p:spPr>
          <a:xfrm>
            <a:off x="4544568" y="1737360"/>
            <a:ext cx="2011680" cy="384048"/>
          </a:xfrm>
          <a:prstGeom prst="roundRect">
            <a:avLst>
              <a:gd name="adj" fmla="val 50000"/>
            </a:avLst>
          </a:prstGeom>
          <a:solidFill>
            <a:srgbClr val="2F5D8A"/>
          </a:solidFill>
          <a:ln w="12700">
            <a:solidFill>
              <a:srgbClr val="2F5D8A"/>
            </a:solidFill>
            <a:prstDash val="solid"/>
          </a:ln>
        </p:spPr>
      </p:sp>
      <p:sp>
        <p:nvSpPr>
          <p:cNvPr id="10" name="Text 8"/>
          <p:cNvSpPr txBox="1"/>
          <p:nvPr/>
        </p:nvSpPr>
        <p:spPr>
          <a:xfrm>
            <a:off x="4544568" y="1737360"/>
            <a:ext cx="2011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Yu Gothic" pitchFamily="34" charset="0"/>
                <a:ea typeface="Yu Gothic" pitchFamily="34" charset="-122"/>
                <a:cs typeface="Yu Gothic" pitchFamily="34" charset="-120"/>
              </a:rPr>
              <a:t>今後の展開</a:t>
            </a:r>
            <a:endParaRPr lang="en-US" sz="1300" dirty="0"/>
          </a:p>
        </p:txBody>
      </p:sp>
      <p:sp>
        <p:nvSpPr>
          <p:cNvPr id="11" name="Text 9"/>
          <p:cNvSpPr txBox="1"/>
          <p:nvPr/>
        </p:nvSpPr>
        <p:spPr>
          <a:xfrm>
            <a:off x="4544568" y="2286000"/>
            <a:ext cx="3108960" cy="2011680"/>
          </a:xfrm>
          <a:prstGeom prst="rect">
            <a:avLst/>
          </a:prstGeom>
          <a:noFill/>
          <a:ln/>
        </p:spPr>
        <p:txBody>
          <a:bodyPr wrap="square" lIns="0" tIns="0" rIns="0" bIns="0" rtlCol="0" anchor="t"/>
          <a:lstStyle/>
          <a:p>
            <a:pPr marL="342900" indent="-342900">
              <a:spcAft>
                <a:spcPts val="500"/>
              </a:spcAft>
              <a:buSzPct val="100000"/>
              <a:buChar char="•"/>
            </a:pPr>
            <a:r>
              <a:rPr lang="en-US" sz="1200" dirty="0">
                <a:solidFill>
                  <a:srgbClr val="1F1E1D"/>
                </a:solidFill>
                <a:latin typeface="Yu Gothic" pitchFamily="34" charset="0"/>
                <a:ea typeface="Yu Gothic" pitchFamily="34" charset="-122"/>
                <a:cs typeface="Yu Gothic" pitchFamily="34" charset="-120"/>
              </a:rPr>
              <a:t>おすすめをフォロー外へ拡大し、「味覚の近い人」を発見できる場に</a:t>
            </a:r>
            <a:endParaRPr lang="en-US" sz="1200" dirty="0"/>
          </a:p>
          <a:p>
            <a:pPr marL="342900" indent="-342900">
              <a:spcAft>
                <a:spcPts val="500"/>
              </a:spcAft>
              <a:buSzPct val="100000"/>
              <a:buChar char="•"/>
            </a:pPr>
            <a:r>
              <a:rPr lang="en-US" sz="1200" dirty="0">
                <a:solidFill>
                  <a:srgbClr val="1F1E1D"/>
                </a:solidFill>
                <a:latin typeface="Yu Gothic" pitchFamily="34" charset="0"/>
                <a:ea typeface="Yu Gothic" pitchFamily="34" charset="-122"/>
                <a:cs typeface="Yu Gothic" pitchFamily="34" charset="-120"/>
              </a:rPr>
              <a:t>記録に応じたバッジ・コレクションで継続を後押し</a:t>
            </a:r>
            <a:endParaRPr lang="en-US" sz="1200" dirty="0"/>
          </a:p>
          <a:p>
            <a:pPr marL="342900" indent="-342900">
              <a:spcAft>
                <a:spcPts val="500"/>
              </a:spcAft>
              <a:buSzPct val="100000"/>
              <a:buChar char="•"/>
            </a:pPr>
            <a:r>
              <a:rPr lang="en-US" sz="1200" dirty="0">
                <a:solidFill>
                  <a:srgbClr val="1F1E1D"/>
                </a:solidFill>
                <a:latin typeface="Yu Gothic" pitchFamily="34" charset="0"/>
                <a:ea typeface="Yu Gothic" pitchFamily="34" charset="-122"/>
                <a:cs typeface="Yu Gothic" pitchFamily="34" charset="-120"/>
              </a:rPr>
              <a:t>「次に行くべき店」をAIが提案（味覚一致率×未訪問店×現在地）</a:t>
            </a:r>
            <a:endParaRPr lang="en-US" sz="1200" dirty="0"/>
          </a:p>
        </p:txBody>
      </p:sp>
      <p:sp>
        <p:nvSpPr>
          <p:cNvPr id="12" name="Shape 10"/>
          <p:cNvSpPr/>
          <p:nvPr/>
        </p:nvSpPr>
        <p:spPr>
          <a:xfrm>
            <a:off x="8083296" y="1508760"/>
            <a:ext cx="3566160" cy="2880360"/>
          </a:xfrm>
          <a:prstGeom prst="roundRect">
            <a:avLst>
              <a:gd name="adj" fmla="val 3810"/>
            </a:avLst>
          </a:prstGeom>
          <a:solidFill>
            <a:srgbClr val="FFFFFF"/>
          </a:solidFill>
          <a:ln w="12700">
            <a:solidFill>
              <a:srgbClr val="EAE3D8"/>
            </a:solidFill>
            <a:prstDash val="solid"/>
          </a:ln>
          <a:effectLst>
            <a:outerShdw sx="100000" sy="100000" kx="0" ky="0" algn="bl" rotWithShape="0" blurRad="76200" dist="25400" dir="5400000">
              <a:srgbClr val="000000">
                <a:alpha val="12000"/>
              </a:srgbClr>
            </a:outerShdw>
          </a:effectLst>
        </p:spPr>
      </p:sp>
      <p:sp>
        <p:nvSpPr>
          <p:cNvPr id="13" name="Shape 11"/>
          <p:cNvSpPr/>
          <p:nvPr/>
        </p:nvSpPr>
        <p:spPr>
          <a:xfrm>
            <a:off x="8311896" y="1737360"/>
            <a:ext cx="2011680" cy="384048"/>
          </a:xfrm>
          <a:prstGeom prst="roundRect">
            <a:avLst>
              <a:gd name="adj" fmla="val 50000"/>
            </a:avLst>
          </a:prstGeom>
          <a:solidFill>
            <a:srgbClr val="8A857D"/>
          </a:solidFill>
          <a:ln w="12700">
            <a:solidFill>
              <a:srgbClr val="8A857D"/>
            </a:solidFill>
            <a:prstDash val="solid"/>
          </a:ln>
        </p:spPr>
      </p:sp>
      <p:sp>
        <p:nvSpPr>
          <p:cNvPr id="14" name="Text 12"/>
          <p:cNvSpPr txBox="1"/>
          <p:nvPr/>
        </p:nvSpPr>
        <p:spPr>
          <a:xfrm>
            <a:off x="8311896" y="1737360"/>
            <a:ext cx="2011680"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Yu Gothic" pitchFamily="34" charset="0"/>
                <a:ea typeface="Yu Gothic" pitchFamily="34" charset="-122"/>
                <a:cs typeface="Yu Gothic" pitchFamily="34" charset="-120"/>
              </a:rPr>
              <a:t>課題（正直に）</a:t>
            </a:r>
            <a:endParaRPr lang="en-US" sz="1300" dirty="0"/>
          </a:p>
        </p:txBody>
      </p:sp>
      <p:sp>
        <p:nvSpPr>
          <p:cNvPr id="15" name="Text 13"/>
          <p:cNvSpPr txBox="1"/>
          <p:nvPr/>
        </p:nvSpPr>
        <p:spPr>
          <a:xfrm>
            <a:off x="8311896" y="2286000"/>
            <a:ext cx="3108960" cy="2011680"/>
          </a:xfrm>
          <a:prstGeom prst="rect">
            <a:avLst/>
          </a:prstGeom>
          <a:noFill/>
          <a:ln/>
        </p:spPr>
        <p:txBody>
          <a:bodyPr wrap="square" lIns="0" tIns="0" rIns="0" bIns="0" rtlCol="0" anchor="t"/>
          <a:lstStyle/>
          <a:p>
            <a:pPr marL="342900" indent="-342900">
              <a:spcAft>
                <a:spcPts val="500"/>
              </a:spcAft>
              <a:buSzPct val="100000"/>
              <a:buChar char="•"/>
            </a:pPr>
            <a:r>
              <a:rPr lang="en-US" sz="1200" dirty="0">
                <a:solidFill>
                  <a:srgbClr val="1F1E1D"/>
                </a:solidFill>
                <a:latin typeface="Yu Gothic" pitchFamily="34" charset="0"/>
                <a:ea typeface="Yu Gothic" pitchFamily="34" charset="-122"/>
                <a:cs typeface="Yu Gothic" pitchFamily="34" charset="-120"/>
              </a:rPr>
              <a:t>店舗検索の Google Places API とクラウドは利用量に応じて課金。多人数への一般公開はコスト面の壁があり、当面は利用者自身のキー＋無料の OpenStreetMap 検索で運用</a:t>
            </a:r>
            <a:endParaRPr lang="en-US" sz="1200" dirty="0"/>
          </a:p>
          <a:p>
            <a:pPr marL="342900" indent="-342900">
              <a:spcAft>
                <a:spcPts val="500"/>
              </a:spcAft>
              <a:buSzPct val="100000"/>
              <a:buChar char="•"/>
            </a:pPr>
            <a:r>
              <a:rPr lang="en-US" sz="1200" dirty="0">
                <a:solidFill>
                  <a:srgbClr val="1F1E1D"/>
                </a:solidFill>
                <a:latin typeface="Yu Gothic" pitchFamily="34" charset="0"/>
                <a:ea typeface="Yu Gothic" pitchFamily="34" charset="-122"/>
                <a:cs typeface="Yu Gothic" pitchFamily="34" charset="-120"/>
              </a:rPr>
              <a:t>一致率の精度向上には共通店数が必要。初期ユーザー同士をつなぐ仕組みづくり</a:t>
            </a:r>
            <a:endParaRPr lang="en-US" sz="1200" dirty="0"/>
          </a:p>
          <a:p>
            <a:pPr marL="342900" indent="-342900">
              <a:spcAft>
                <a:spcPts val="500"/>
              </a:spcAft>
              <a:buSzPct val="100000"/>
              <a:buChar char="•"/>
            </a:pPr>
            <a:r>
              <a:rPr lang="en-US" sz="1200" dirty="0">
                <a:solidFill>
                  <a:srgbClr val="1F1E1D"/>
                </a:solidFill>
                <a:latin typeface="Yu Gothic" pitchFamily="34" charset="0"/>
                <a:ea typeface="Yu Gothic" pitchFamily="34" charset="-122"/>
                <a:cs typeface="Yu Gothic" pitchFamily="34" charset="-120"/>
              </a:rPr>
              <a:t>AI判定の誤りの継続観測と、判定根拠の可視化</a:t>
            </a:r>
            <a:endParaRPr lang="en-US" sz="1200" dirty="0"/>
          </a:p>
        </p:txBody>
      </p:sp>
      <p:sp>
        <p:nvSpPr>
          <p:cNvPr id="16" name="Shape 14"/>
          <p:cNvSpPr/>
          <p:nvPr/>
        </p:nvSpPr>
        <p:spPr>
          <a:xfrm>
            <a:off x="548640" y="4617720"/>
            <a:ext cx="11091672" cy="1691640"/>
          </a:xfrm>
          <a:prstGeom prst="roundRect">
            <a:avLst>
              <a:gd name="adj" fmla="val 6486"/>
            </a:avLst>
          </a:prstGeom>
          <a:solidFill>
            <a:srgbClr val="FBF8F3"/>
          </a:solidFill>
          <a:ln w="12700">
            <a:solidFill>
              <a:srgbClr val="EAE3D8"/>
            </a:solidFill>
            <a:prstDash val="solid"/>
          </a:ln>
        </p:spPr>
      </p:sp>
      <p:sp>
        <p:nvSpPr>
          <p:cNvPr id="17" name="Text 15"/>
          <p:cNvSpPr txBox="1"/>
          <p:nvPr/>
        </p:nvSpPr>
        <p:spPr>
          <a:xfrm>
            <a:off x="777240" y="4727448"/>
            <a:ext cx="7315200" cy="320040"/>
          </a:xfrm>
          <a:prstGeom prst="rect">
            <a:avLst/>
          </a:prstGeom>
          <a:noFill/>
          <a:ln/>
        </p:spPr>
        <p:txBody>
          <a:bodyPr wrap="square" lIns="0" tIns="0" rIns="0" bIns="0" rtlCol="0" anchor="ctr"/>
          <a:lstStyle/>
          <a:p>
            <a:pPr indent="0" marL="0">
              <a:buNone/>
            </a:pPr>
            <a:r>
              <a:rPr lang="en-US" sz="1300" b="1" dirty="0">
                <a:solidFill>
                  <a:srgbClr val="C6613F"/>
                </a:solidFill>
                <a:latin typeface="Yu Gothic" pitchFamily="34" charset="0"/>
                <a:ea typeface="Yu Gothic" pitchFamily="34" charset="-122"/>
                <a:cs typeface="Yu Gothic" pitchFamily="34" charset="-120"/>
              </a:rPr>
              <a:t>295回のループの記録 ― プロセスそのものが成果物</a:t>
            </a:r>
            <a:endParaRPr lang="en-US" sz="1300" dirty="0"/>
          </a:p>
        </p:txBody>
      </p:sp>
      <p:sp>
        <p:nvSpPr>
          <p:cNvPr id="18" name="Shape 16"/>
          <p:cNvSpPr/>
          <p:nvPr/>
        </p:nvSpPr>
        <p:spPr>
          <a:xfrm>
            <a:off x="1188720" y="5532120"/>
            <a:ext cx="9784080" cy="0"/>
          </a:xfrm>
          <a:prstGeom prst="line">
            <a:avLst/>
          </a:prstGeom>
          <a:noFill/>
          <a:ln w="38100">
            <a:solidFill>
              <a:srgbClr val="D9CFC2"/>
            </a:solidFill>
            <a:prstDash val="solid"/>
          </a:ln>
        </p:spPr>
      </p:sp>
      <p:sp>
        <p:nvSpPr>
          <p:cNvPr id="19" name="Shape 17"/>
          <p:cNvSpPr/>
          <p:nvPr/>
        </p:nvSpPr>
        <p:spPr>
          <a:xfrm>
            <a:off x="1033272" y="5376672"/>
            <a:ext cx="310896" cy="310896"/>
          </a:xfrm>
          <a:prstGeom prst="ellipse">
            <a:avLst/>
          </a:prstGeom>
          <a:solidFill>
            <a:srgbClr val="FFFFFF"/>
          </a:solidFill>
          <a:ln w="25400">
            <a:solidFill>
              <a:srgbClr val="C6613F"/>
            </a:solidFill>
            <a:prstDash val="solid"/>
          </a:ln>
        </p:spPr>
      </p:sp>
      <p:sp>
        <p:nvSpPr>
          <p:cNvPr id="20" name="Text 18"/>
          <p:cNvSpPr txBox="1"/>
          <p:nvPr/>
        </p:nvSpPr>
        <p:spPr>
          <a:xfrm>
            <a:off x="457200" y="5029200"/>
            <a:ext cx="1463040" cy="292608"/>
          </a:xfrm>
          <a:prstGeom prst="rect">
            <a:avLst/>
          </a:prstGeom>
          <a:noFill/>
          <a:ln/>
        </p:spPr>
        <p:txBody>
          <a:bodyPr wrap="square" lIns="0" tIns="0" rIns="0" bIns="0" rtlCol="0" anchor="ctr"/>
          <a:lstStyle/>
          <a:p>
            <a:pPr algn="ctr" indent="0" marL="0">
              <a:buNone/>
            </a:pPr>
            <a:r>
              <a:rPr lang="en-US" sz="1150" b="1" dirty="0">
                <a:solidFill>
                  <a:srgbClr val="B4552F"/>
                </a:solidFill>
                <a:latin typeface="Yu Gothic" pitchFamily="34" charset="0"/>
                <a:ea typeface="Yu Gothic" pitchFamily="34" charset="-122"/>
                <a:cs typeface="Yu Gothic" pitchFamily="34" charset="-120"/>
              </a:rPr>
              <a:t>v1</a:t>
            </a:r>
            <a:endParaRPr lang="en-US" sz="1150" dirty="0"/>
          </a:p>
        </p:txBody>
      </p:sp>
      <p:sp>
        <p:nvSpPr>
          <p:cNvPr id="21" name="Text 19"/>
          <p:cNvSpPr txBox="1"/>
          <p:nvPr/>
        </p:nvSpPr>
        <p:spPr>
          <a:xfrm>
            <a:off x="182880" y="5742432"/>
            <a:ext cx="2011680" cy="502920"/>
          </a:xfrm>
          <a:prstGeom prst="rect">
            <a:avLst/>
          </a:prstGeom>
          <a:noFill/>
          <a:ln/>
        </p:spPr>
        <p:txBody>
          <a:bodyPr wrap="square" lIns="0" tIns="0" rIns="0" bIns="0" rtlCol="0" anchor="t"/>
          <a:lstStyle/>
          <a:p>
            <a:pPr algn="ctr" indent="0" marL="0">
              <a:buNone/>
            </a:pPr>
            <a:r>
              <a:rPr lang="en-US" sz="950" dirty="0">
                <a:solidFill>
                  <a:srgbClr val="6E6960"/>
                </a:solidFill>
                <a:latin typeface="Yu Gothic" pitchFamily="34" charset="0"/>
                <a:ea typeface="Yu Gothic" pitchFamily="34" charset="-122"/>
                <a:cs typeface="Yu Gothic" pitchFamily="34" charset="-120"/>
              </a:rPr>
              <a:t>2026/6</a:t>
            </a:r>
            <a:endParaRPr lang="en-US" sz="950" dirty="0"/>
          </a:p>
          <a:p>
            <a:pPr algn="ctr" indent="0" marL="0">
              <a:buNone/>
            </a:pPr>
            <a:r>
              <a:rPr lang="en-US" sz="950" dirty="0">
                <a:solidFill>
                  <a:srgbClr val="6E6960"/>
                </a:solidFill>
                <a:latin typeface="Yu Gothic" pitchFamily="34" charset="0"/>
                <a:ea typeface="Yu Gothic" pitchFamily="34" charset="-122"/>
                <a:cs typeface="Yu Gothic" pitchFamily="34" charset="-120"/>
              </a:rPr>
              <a:t>最初の記録機能</a:t>
            </a:r>
            <a:endParaRPr lang="en-US" sz="950" dirty="0"/>
          </a:p>
        </p:txBody>
      </p:sp>
      <p:sp>
        <p:nvSpPr>
          <p:cNvPr id="22" name="Shape 20"/>
          <p:cNvSpPr/>
          <p:nvPr/>
        </p:nvSpPr>
        <p:spPr>
          <a:xfrm>
            <a:off x="3479292" y="5376672"/>
            <a:ext cx="310896" cy="310896"/>
          </a:xfrm>
          <a:prstGeom prst="ellipse">
            <a:avLst/>
          </a:prstGeom>
          <a:solidFill>
            <a:srgbClr val="FFFFFF"/>
          </a:solidFill>
          <a:ln w="25400">
            <a:solidFill>
              <a:srgbClr val="C6613F"/>
            </a:solidFill>
            <a:prstDash val="solid"/>
          </a:ln>
        </p:spPr>
      </p:sp>
      <p:sp>
        <p:nvSpPr>
          <p:cNvPr id="23" name="Text 21"/>
          <p:cNvSpPr txBox="1"/>
          <p:nvPr/>
        </p:nvSpPr>
        <p:spPr>
          <a:xfrm>
            <a:off x="2903220" y="5029200"/>
            <a:ext cx="1463040" cy="292608"/>
          </a:xfrm>
          <a:prstGeom prst="rect">
            <a:avLst/>
          </a:prstGeom>
          <a:noFill/>
          <a:ln/>
        </p:spPr>
        <p:txBody>
          <a:bodyPr wrap="square" lIns="0" tIns="0" rIns="0" bIns="0" rtlCol="0" anchor="ctr"/>
          <a:lstStyle/>
          <a:p>
            <a:pPr algn="ctr" indent="0" marL="0">
              <a:buNone/>
            </a:pPr>
            <a:r>
              <a:rPr lang="en-US" sz="1150" b="1" dirty="0">
                <a:solidFill>
                  <a:srgbClr val="B4552F"/>
                </a:solidFill>
                <a:latin typeface="Yu Gothic" pitchFamily="34" charset="0"/>
                <a:ea typeface="Yu Gothic" pitchFamily="34" charset="-122"/>
                <a:cs typeface="Yu Gothic" pitchFamily="34" charset="-120"/>
              </a:rPr>
              <a:t>v100</a:t>
            </a:r>
            <a:endParaRPr lang="en-US" sz="1150" dirty="0"/>
          </a:p>
        </p:txBody>
      </p:sp>
      <p:sp>
        <p:nvSpPr>
          <p:cNvPr id="24" name="Text 22"/>
          <p:cNvSpPr txBox="1"/>
          <p:nvPr/>
        </p:nvSpPr>
        <p:spPr>
          <a:xfrm>
            <a:off x="2628900" y="5742432"/>
            <a:ext cx="2011680" cy="502920"/>
          </a:xfrm>
          <a:prstGeom prst="rect">
            <a:avLst/>
          </a:prstGeom>
          <a:noFill/>
          <a:ln/>
        </p:spPr>
        <p:txBody>
          <a:bodyPr wrap="square" lIns="0" tIns="0" rIns="0" bIns="0" rtlCol="0" anchor="t"/>
          <a:lstStyle/>
          <a:p>
            <a:pPr algn="ctr" indent="0" marL="0">
              <a:buNone/>
            </a:pPr>
            <a:r>
              <a:rPr lang="en-US" sz="950" dirty="0">
                <a:solidFill>
                  <a:srgbClr val="6E6960"/>
                </a:solidFill>
                <a:latin typeface="Yu Gothic" pitchFamily="34" charset="0"/>
                <a:ea typeface="Yu Gothic" pitchFamily="34" charset="-122"/>
                <a:cs typeface="Yu Gothic" pitchFamily="34" charset="-120"/>
              </a:rPr>
              <a:t>地図・アルバム</a:t>
            </a:r>
            <a:endParaRPr lang="en-US" sz="950" dirty="0"/>
          </a:p>
          <a:p>
            <a:pPr algn="ctr" indent="0" marL="0">
              <a:buNone/>
            </a:pPr>
            <a:r>
              <a:rPr lang="en-US" sz="950" dirty="0">
                <a:solidFill>
                  <a:srgbClr val="6E6960"/>
                </a:solidFill>
                <a:latin typeface="Yu Gothic" pitchFamily="34" charset="0"/>
                <a:ea typeface="Yu Gothic" pitchFamily="34" charset="-122"/>
                <a:cs typeface="Yu Gothic" pitchFamily="34" charset="-120"/>
              </a:rPr>
              <a:t>クラウド同期</a:t>
            </a:r>
            <a:endParaRPr lang="en-US" sz="950" dirty="0"/>
          </a:p>
        </p:txBody>
      </p:sp>
      <p:sp>
        <p:nvSpPr>
          <p:cNvPr id="25" name="Shape 23"/>
          <p:cNvSpPr/>
          <p:nvPr/>
        </p:nvSpPr>
        <p:spPr>
          <a:xfrm>
            <a:off x="5925312" y="5376672"/>
            <a:ext cx="310896" cy="310896"/>
          </a:xfrm>
          <a:prstGeom prst="ellipse">
            <a:avLst/>
          </a:prstGeom>
          <a:solidFill>
            <a:srgbClr val="FFFFFF"/>
          </a:solidFill>
          <a:ln w="25400">
            <a:solidFill>
              <a:srgbClr val="C6613F"/>
            </a:solidFill>
            <a:prstDash val="solid"/>
          </a:ln>
        </p:spPr>
      </p:sp>
      <p:sp>
        <p:nvSpPr>
          <p:cNvPr id="26" name="Text 24"/>
          <p:cNvSpPr txBox="1"/>
          <p:nvPr/>
        </p:nvSpPr>
        <p:spPr>
          <a:xfrm>
            <a:off x="5349240" y="5029200"/>
            <a:ext cx="1463040" cy="292608"/>
          </a:xfrm>
          <a:prstGeom prst="rect">
            <a:avLst/>
          </a:prstGeom>
          <a:noFill/>
          <a:ln/>
        </p:spPr>
        <p:txBody>
          <a:bodyPr wrap="square" lIns="0" tIns="0" rIns="0" bIns="0" rtlCol="0" anchor="ctr"/>
          <a:lstStyle/>
          <a:p>
            <a:pPr algn="ctr" indent="0" marL="0">
              <a:buNone/>
            </a:pPr>
            <a:r>
              <a:rPr lang="en-US" sz="1150" b="1" dirty="0">
                <a:solidFill>
                  <a:srgbClr val="B4552F"/>
                </a:solidFill>
                <a:latin typeface="Yu Gothic" pitchFamily="34" charset="0"/>
                <a:ea typeface="Yu Gothic" pitchFamily="34" charset="-122"/>
                <a:cs typeface="Yu Gothic" pitchFamily="34" charset="-120"/>
              </a:rPr>
              <a:t>v200</a:t>
            </a:r>
            <a:endParaRPr lang="en-US" sz="1150" dirty="0"/>
          </a:p>
        </p:txBody>
      </p:sp>
      <p:sp>
        <p:nvSpPr>
          <p:cNvPr id="27" name="Text 25"/>
          <p:cNvSpPr txBox="1"/>
          <p:nvPr/>
        </p:nvSpPr>
        <p:spPr>
          <a:xfrm>
            <a:off x="5074920" y="5742432"/>
            <a:ext cx="2011680" cy="502920"/>
          </a:xfrm>
          <a:prstGeom prst="rect">
            <a:avLst/>
          </a:prstGeom>
          <a:noFill/>
          <a:ln/>
        </p:spPr>
        <p:txBody>
          <a:bodyPr wrap="square" lIns="0" tIns="0" rIns="0" bIns="0" rtlCol="0" anchor="t"/>
          <a:lstStyle/>
          <a:p>
            <a:pPr algn="ctr" indent="0" marL="0">
              <a:buNone/>
            </a:pPr>
            <a:r>
              <a:rPr lang="en-US" sz="950" dirty="0">
                <a:solidFill>
                  <a:srgbClr val="6E6960"/>
                </a:solidFill>
                <a:latin typeface="Yu Gothic" pitchFamily="34" charset="0"/>
                <a:ea typeface="Yu Gothic" pitchFamily="34" charset="-122"/>
                <a:cs typeface="Yu Gothic" pitchFamily="34" charset="-120"/>
              </a:rPr>
              <a:t>味覚一致率</a:t>
            </a:r>
            <a:endParaRPr lang="en-US" sz="950" dirty="0"/>
          </a:p>
          <a:p>
            <a:pPr algn="ctr" indent="0" marL="0">
              <a:buNone/>
            </a:pPr>
            <a:r>
              <a:rPr lang="en-US" sz="950" dirty="0">
                <a:solidFill>
                  <a:srgbClr val="6E6960"/>
                </a:solidFill>
                <a:latin typeface="Yu Gothic" pitchFamily="34" charset="0"/>
                <a:ea typeface="Yu Gothic" pitchFamily="34" charset="-122"/>
                <a:cs typeface="Yu Gothic" pitchFamily="34" charset="-120"/>
              </a:rPr>
              <a:t>SNS機能</a:t>
            </a:r>
            <a:endParaRPr lang="en-US" sz="950" dirty="0"/>
          </a:p>
        </p:txBody>
      </p:sp>
      <p:sp>
        <p:nvSpPr>
          <p:cNvPr id="28" name="Shape 26"/>
          <p:cNvSpPr/>
          <p:nvPr/>
        </p:nvSpPr>
        <p:spPr>
          <a:xfrm>
            <a:off x="8371332" y="5376672"/>
            <a:ext cx="310896" cy="310896"/>
          </a:xfrm>
          <a:prstGeom prst="ellipse">
            <a:avLst/>
          </a:prstGeom>
          <a:solidFill>
            <a:srgbClr val="FFFFFF"/>
          </a:solidFill>
          <a:ln w="25400">
            <a:solidFill>
              <a:srgbClr val="C6613F"/>
            </a:solidFill>
            <a:prstDash val="solid"/>
          </a:ln>
        </p:spPr>
      </p:sp>
      <p:sp>
        <p:nvSpPr>
          <p:cNvPr id="29" name="Text 27"/>
          <p:cNvSpPr txBox="1"/>
          <p:nvPr/>
        </p:nvSpPr>
        <p:spPr>
          <a:xfrm>
            <a:off x="7795260" y="5029200"/>
            <a:ext cx="1463040" cy="292608"/>
          </a:xfrm>
          <a:prstGeom prst="rect">
            <a:avLst/>
          </a:prstGeom>
          <a:noFill/>
          <a:ln/>
        </p:spPr>
        <p:txBody>
          <a:bodyPr wrap="square" lIns="0" tIns="0" rIns="0" bIns="0" rtlCol="0" anchor="ctr"/>
          <a:lstStyle/>
          <a:p>
            <a:pPr algn="ctr" indent="0" marL="0">
              <a:buNone/>
            </a:pPr>
            <a:r>
              <a:rPr lang="en-US" sz="1150" b="1" dirty="0">
                <a:solidFill>
                  <a:srgbClr val="B4552F"/>
                </a:solidFill>
                <a:latin typeface="Yu Gothic" pitchFamily="34" charset="0"/>
                <a:ea typeface="Yu Gothic" pitchFamily="34" charset="-122"/>
                <a:cs typeface="Yu Gothic" pitchFamily="34" charset="-120"/>
              </a:rPr>
              <a:t>v289</a:t>
            </a:r>
            <a:endParaRPr lang="en-US" sz="1150" dirty="0"/>
          </a:p>
        </p:txBody>
      </p:sp>
      <p:sp>
        <p:nvSpPr>
          <p:cNvPr id="30" name="Text 28"/>
          <p:cNvSpPr txBox="1"/>
          <p:nvPr/>
        </p:nvSpPr>
        <p:spPr>
          <a:xfrm>
            <a:off x="7520940" y="5742432"/>
            <a:ext cx="2011680" cy="502920"/>
          </a:xfrm>
          <a:prstGeom prst="rect">
            <a:avLst/>
          </a:prstGeom>
          <a:noFill/>
          <a:ln/>
        </p:spPr>
        <p:txBody>
          <a:bodyPr wrap="square" lIns="0" tIns="0" rIns="0" bIns="0" rtlCol="0" anchor="t"/>
          <a:lstStyle/>
          <a:p>
            <a:pPr algn="ctr" indent="0" marL="0">
              <a:buNone/>
            </a:pPr>
            <a:r>
              <a:rPr lang="en-US" sz="950" dirty="0">
                <a:solidFill>
                  <a:srgbClr val="6E6960"/>
                </a:solidFill>
                <a:latin typeface="Yu Gothic" pitchFamily="34" charset="0"/>
                <a:ea typeface="Yu Gothic" pitchFamily="34" charset="-122"/>
                <a:cs typeface="Yu Gothic" pitchFamily="34" charset="-120"/>
              </a:rPr>
              <a:t>8/31 予選提出</a:t>
            </a:r>
            <a:endParaRPr lang="en-US" sz="950" dirty="0"/>
          </a:p>
          <a:p>
            <a:pPr algn="ctr" indent="0" marL="0">
              <a:buNone/>
            </a:pPr>
            <a:r>
              <a:rPr lang="en-US" sz="950" dirty="0">
                <a:solidFill>
                  <a:srgbClr val="6E6960"/>
                </a:solidFill>
                <a:latin typeface="Yu Gothic" pitchFamily="34" charset="0"/>
                <a:ea typeface="Yu Gothic" pitchFamily="34" charset="-122"/>
                <a:cs typeface="Yu Gothic" pitchFamily="34" charset="-120"/>
              </a:rPr>
              <a:t>ポスター・動画</a:t>
            </a:r>
            <a:endParaRPr lang="en-US" sz="950" dirty="0"/>
          </a:p>
        </p:txBody>
      </p:sp>
      <p:sp>
        <p:nvSpPr>
          <p:cNvPr id="31" name="Shape 29"/>
          <p:cNvSpPr/>
          <p:nvPr/>
        </p:nvSpPr>
        <p:spPr>
          <a:xfrm>
            <a:off x="10817352" y="5376672"/>
            <a:ext cx="310896" cy="310896"/>
          </a:xfrm>
          <a:prstGeom prst="ellipse">
            <a:avLst/>
          </a:prstGeom>
          <a:solidFill>
            <a:srgbClr val="C6613F"/>
          </a:solidFill>
          <a:ln w="25400">
            <a:solidFill>
              <a:srgbClr val="C6613F"/>
            </a:solidFill>
            <a:prstDash val="solid"/>
          </a:ln>
        </p:spPr>
      </p:sp>
      <p:sp>
        <p:nvSpPr>
          <p:cNvPr id="32" name="Text 30"/>
          <p:cNvSpPr txBox="1"/>
          <p:nvPr/>
        </p:nvSpPr>
        <p:spPr>
          <a:xfrm>
            <a:off x="10241280" y="5029200"/>
            <a:ext cx="1463040" cy="292608"/>
          </a:xfrm>
          <a:prstGeom prst="rect">
            <a:avLst/>
          </a:prstGeom>
          <a:noFill/>
          <a:ln/>
        </p:spPr>
        <p:txBody>
          <a:bodyPr wrap="square" lIns="0" tIns="0" rIns="0" bIns="0" rtlCol="0" anchor="ctr"/>
          <a:lstStyle/>
          <a:p>
            <a:pPr algn="ctr" indent="0" marL="0">
              <a:buNone/>
            </a:pPr>
            <a:r>
              <a:rPr lang="en-US" sz="1150" b="1" dirty="0">
                <a:solidFill>
                  <a:srgbClr val="B4552F"/>
                </a:solidFill>
                <a:latin typeface="Yu Gothic" pitchFamily="34" charset="0"/>
                <a:ea typeface="Yu Gothic" pitchFamily="34" charset="-122"/>
                <a:cs typeface="Yu Gothic" pitchFamily="34" charset="-120"/>
              </a:rPr>
              <a:t>v295</a:t>
            </a:r>
            <a:endParaRPr lang="en-US" sz="1150" dirty="0"/>
          </a:p>
        </p:txBody>
      </p:sp>
      <p:sp>
        <p:nvSpPr>
          <p:cNvPr id="33" name="Text 31"/>
          <p:cNvSpPr txBox="1"/>
          <p:nvPr/>
        </p:nvSpPr>
        <p:spPr>
          <a:xfrm>
            <a:off x="9966960" y="5742432"/>
            <a:ext cx="2011680" cy="502920"/>
          </a:xfrm>
          <a:prstGeom prst="rect">
            <a:avLst/>
          </a:prstGeom>
          <a:noFill/>
          <a:ln/>
        </p:spPr>
        <p:txBody>
          <a:bodyPr wrap="square" lIns="0" tIns="0" rIns="0" bIns="0" rtlCol="0" anchor="t"/>
          <a:lstStyle/>
          <a:p>
            <a:pPr algn="ctr" indent="0" marL="0">
              <a:buNone/>
            </a:pPr>
            <a:r>
              <a:rPr lang="en-US" sz="950" dirty="0">
                <a:solidFill>
                  <a:srgbClr val="6E6960"/>
                </a:solidFill>
                <a:latin typeface="Yu Gothic" pitchFamily="34" charset="0"/>
                <a:ea typeface="Yu Gothic" pitchFamily="34" charset="-122"/>
                <a:cs typeface="Yu Gothic" pitchFamily="34" charset="-120"/>
              </a:rPr>
              <a:t>決勝</a:t>
            </a:r>
            <a:endParaRPr lang="en-US" sz="950" dirty="0"/>
          </a:p>
          <a:p>
            <a:pPr algn="ctr" indent="0" marL="0">
              <a:buNone/>
            </a:pPr>
            <a:r>
              <a:rPr lang="en-US" sz="950" dirty="0">
                <a:solidFill>
                  <a:srgbClr val="6E6960"/>
                </a:solidFill>
                <a:latin typeface="Yu Gothic" pitchFamily="34" charset="0"/>
                <a:ea typeface="Yu Gothic" pitchFamily="34" charset="-122"/>
                <a:cs typeface="Yu Gothic" pitchFamily="34" charset="-120"/>
              </a:rPr>
              <a:t>実利用での改善5件</a:t>
            </a:r>
            <a:endParaRPr lang="en-US" sz="950" dirty="0"/>
          </a:p>
        </p:txBody>
      </p:sp>
      <p:sp>
        <p:nvSpPr>
          <p:cNvPr id="34" name="Text 32"/>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8A857D"/>
                </a:solidFill>
                <a:latin typeface="Yu Gothic" pitchFamily="34" charset="0"/>
                <a:ea typeface="Yu Gothic" pitchFamily="34" charset="-122"/>
                <a:cs typeface="Yu Gothic" pitchFamily="34" charset="-120"/>
              </a:rPr>
              <a:t>BITEMAP ｜ 2026 AI Innovators Cup @ Shibaura 決勝</a:t>
            </a:r>
            <a:endParaRPr lang="en-US" sz="900" dirty="0"/>
          </a:p>
        </p:txBody>
      </p:sp>
      <p:sp>
        <p:nvSpPr>
          <p:cNvPr id="35" name="Text 33"/>
          <p:cNvSpPr txBox="1"/>
          <p:nvPr/>
        </p:nvSpPr>
        <p:spPr>
          <a:xfrm>
            <a:off x="11155680" y="6446520"/>
            <a:ext cx="457200" cy="274320"/>
          </a:xfrm>
          <a:prstGeom prst="rect">
            <a:avLst/>
          </a:prstGeom>
          <a:noFill/>
          <a:ln/>
        </p:spPr>
        <p:txBody>
          <a:bodyPr wrap="square" lIns="0" tIns="0" rIns="0" bIns="0" rtlCol="0" anchor="ctr"/>
          <a:lstStyle/>
          <a:p>
            <a:pPr algn="r" indent="0" marL="0">
              <a:buNone/>
            </a:pPr>
            <a:r>
              <a:rPr lang="en-US" sz="900" dirty="0">
                <a:solidFill>
                  <a:srgbClr val="8A857D"/>
                </a:solidFill>
                <a:latin typeface="Yu Gothic" pitchFamily="34" charset="0"/>
                <a:ea typeface="Yu Gothic" pitchFamily="34" charset="-122"/>
                <a:cs typeface="Yu Gothic"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640080" y="822960"/>
            <a:ext cx="7315200" cy="1097280"/>
          </a:xfrm>
          <a:prstGeom prst="rect">
            <a:avLst/>
          </a:prstGeom>
          <a:noFill/>
          <a:ln/>
        </p:spPr>
        <p:txBody>
          <a:bodyPr wrap="square" lIns="0" tIns="0" rIns="0" bIns="0" rtlCol="0" anchor="ctr"/>
          <a:lstStyle/>
          <a:p>
            <a:pPr indent="0" marL="0">
              <a:buNone/>
            </a:pPr>
            <a:r>
              <a:rPr lang="en-US" sz="6400" b="1" spc="400" kern="0" dirty="0">
                <a:solidFill>
                  <a:srgbClr val="FFFFFF"/>
                </a:solidFill>
                <a:latin typeface="Cambria" pitchFamily="34" charset="0"/>
                <a:ea typeface="Cambria" pitchFamily="34" charset="-122"/>
                <a:cs typeface="Cambria" pitchFamily="34" charset="-120"/>
              </a:rPr>
              <a:t>BITEMAP</a:t>
            </a:r>
            <a:endParaRPr lang="en-US" sz="6400" dirty="0"/>
          </a:p>
        </p:txBody>
      </p:sp>
      <p:sp>
        <p:nvSpPr>
          <p:cNvPr id="3" name="Text 1"/>
          <p:cNvSpPr txBox="1"/>
          <p:nvPr/>
        </p:nvSpPr>
        <p:spPr>
          <a:xfrm>
            <a:off x="640080" y="1920240"/>
            <a:ext cx="7315200" cy="731520"/>
          </a:xfrm>
          <a:prstGeom prst="rect">
            <a:avLst/>
          </a:prstGeom>
          <a:noFill/>
          <a:ln/>
        </p:spPr>
        <p:txBody>
          <a:bodyPr wrap="square" lIns="0" tIns="0" rIns="0" bIns="0" rtlCol="0" anchor="ctr"/>
          <a:lstStyle/>
          <a:p>
            <a:pPr indent="0" marL="0">
              <a:buNone/>
            </a:pPr>
            <a:r>
              <a:rPr lang="en-US" sz="3200" b="1" dirty="0">
                <a:solidFill>
                  <a:srgbClr val="FFFFFF"/>
                </a:solidFill>
                <a:latin typeface="Yu Gothic" pitchFamily="34" charset="0"/>
                <a:ea typeface="Yu Gothic" pitchFamily="34" charset="-122"/>
                <a:cs typeface="Yu Gothic" pitchFamily="34" charset="-120"/>
              </a:rPr>
              <a:t>あなたの味覚で、店を選ぶ。</a:t>
            </a:r>
            <a:endParaRPr lang="en-US" sz="3200" dirty="0"/>
          </a:p>
        </p:txBody>
      </p:sp>
      <p:sp>
        <p:nvSpPr>
          <p:cNvPr id="4" name="Shape 2"/>
          <p:cNvSpPr/>
          <p:nvPr/>
        </p:nvSpPr>
        <p:spPr>
          <a:xfrm>
            <a:off x="640080" y="3063240"/>
            <a:ext cx="502920" cy="502920"/>
          </a:xfrm>
          <a:prstGeom prst="ellipse">
            <a:avLst/>
          </a:prstGeom>
          <a:solidFill>
            <a:srgbClr val="FFFFFF"/>
          </a:solidFill>
          <a:ln w="12700">
            <a:solidFill>
              <a:srgbClr val="FFFFFF"/>
            </a:solidFill>
            <a:prstDash val="solid"/>
          </a:ln>
        </p:spPr>
      </p:sp>
      <p:sp>
        <p:nvSpPr>
          <p:cNvPr id="5" name="Text 3"/>
          <p:cNvSpPr txBox="1"/>
          <p:nvPr/>
        </p:nvSpPr>
        <p:spPr>
          <a:xfrm>
            <a:off x="640080" y="3063240"/>
            <a:ext cx="502920" cy="502920"/>
          </a:xfrm>
          <a:prstGeom prst="rect">
            <a:avLst/>
          </a:prstGeom>
          <a:noFill/>
          <a:ln/>
        </p:spPr>
        <p:txBody>
          <a:bodyPr wrap="square" lIns="0" tIns="0" rIns="0" bIns="0" rtlCol="0" anchor="ctr"/>
          <a:lstStyle/>
          <a:p>
            <a:pPr algn="ctr" indent="0" marL="0">
              <a:buNone/>
            </a:pPr>
            <a:r>
              <a:rPr lang="en-US" sz="1600" b="1" dirty="0">
                <a:solidFill>
                  <a:srgbClr val="B4552F"/>
                </a:solidFill>
                <a:latin typeface="Yu Gothic" pitchFamily="34" charset="0"/>
                <a:ea typeface="Yu Gothic" pitchFamily="34" charset="-122"/>
                <a:cs typeface="Yu Gothic" pitchFamily="34" charset="-120"/>
              </a:rPr>
              <a:t>1</a:t>
            </a:r>
            <a:endParaRPr lang="en-US" sz="1600" dirty="0"/>
          </a:p>
        </p:txBody>
      </p:sp>
      <p:sp>
        <p:nvSpPr>
          <p:cNvPr id="6" name="Text 4"/>
          <p:cNvSpPr txBox="1"/>
          <p:nvPr/>
        </p:nvSpPr>
        <p:spPr>
          <a:xfrm>
            <a:off x="1325880" y="3063240"/>
            <a:ext cx="6583680" cy="502920"/>
          </a:xfrm>
          <a:prstGeom prst="rect">
            <a:avLst/>
          </a:prstGeom>
          <a:noFill/>
          <a:ln/>
        </p:spPr>
        <p:txBody>
          <a:bodyPr wrap="square" lIns="0" tIns="0" rIns="0" bIns="0" rtlCol="0" anchor="ctr"/>
          <a:lstStyle/>
          <a:p>
            <a:pPr indent="0" marL="0">
              <a:buNone/>
            </a:pPr>
            <a:r>
              <a:rPr lang="en-US" sz="1700" dirty="0">
                <a:solidFill>
                  <a:srgbClr val="FFFFFF"/>
                </a:solidFill>
                <a:latin typeface="Yu Gothic" pitchFamily="34" charset="0"/>
                <a:ea typeface="Yu Gothic" pitchFamily="34" charset="-122"/>
                <a:cs typeface="Yu Gothic" pitchFamily="34" charset="-120"/>
              </a:rPr>
              <a:t>自分の食の記録を、AIの手を借りて無理なく続けられる</a:t>
            </a:r>
            <a:endParaRPr lang="en-US" sz="1700" dirty="0"/>
          </a:p>
        </p:txBody>
      </p:sp>
      <p:sp>
        <p:nvSpPr>
          <p:cNvPr id="7" name="Shape 5"/>
          <p:cNvSpPr/>
          <p:nvPr/>
        </p:nvSpPr>
        <p:spPr>
          <a:xfrm>
            <a:off x="640080" y="3840480"/>
            <a:ext cx="502920" cy="502920"/>
          </a:xfrm>
          <a:prstGeom prst="ellipse">
            <a:avLst/>
          </a:prstGeom>
          <a:solidFill>
            <a:srgbClr val="FFFFFF"/>
          </a:solidFill>
          <a:ln w="12700">
            <a:solidFill>
              <a:srgbClr val="FFFFFF"/>
            </a:solidFill>
            <a:prstDash val="solid"/>
          </a:ln>
        </p:spPr>
      </p:sp>
      <p:sp>
        <p:nvSpPr>
          <p:cNvPr id="8" name="Text 6"/>
          <p:cNvSpPr txBox="1"/>
          <p:nvPr/>
        </p:nvSpPr>
        <p:spPr>
          <a:xfrm>
            <a:off x="640080" y="3840480"/>
            <a:ext cx="502920" cy="502920"/>
          </a:xfrm>
          <a:prstGeom prst="rect">
            <a:avLst/>
          </a:prstGeom>
          <a:noFill/>
          <a:ln/>
        </p:spPr>
        <p:txBody>
          <a:bodyPr wrap="square" lIns="0" tIns="0" rIns="0" bIns="0" rtlCol="0" anchor="ctr"/>
          <a:lstStyle/>
          <a:p>
            <a:pPr algn="ctr" indent="0" marL="0">
              <a:buNone/>
            </a:pPr>
            <a:r>
              <a:rPr lang="en-US" sz="1600" b="1" dirty="0">
                <a:solidFill>
                  <a:srgbClr val="B4552F"/>
                </a:solidFill>
                <a:latin typeface="Yu Gothic" pitchFamily="34" charset="0"/>
                <a:ea typeface="Yu Gothic" pitchFamily="34" charset="-122"/>
                <a:cs typeface="Yu Gothic" pitchFamily="34" charset="-120"/>
              </a:rPr>
              <a:t>2</a:t>
            </a:r>
            <a:endParaRPr lang="en-US" sz="1600" dirty="0"/>
          </a:p>
        </p:txBody>
      </p:sp>
      <p:sp>
        <p:nvSpPr>
          <p:cNvPr id="9" name="Text 7"/>
          <p:cNvSpPr txBox="1"/>
          <p:nvPr/>
        </p:nvSpPr>
        <p:spPr>
          <a:xfrm>
            <a:off x="1325880" y="3840480"/>
            <a:ext cx="6583680" cy="502920"/>
          </a:xfrm>
          <a:prstGeom prst="rect">
            <a:avLst/>
          </a:prstGeom>
          <a:noFill/>
          <a:ln/>
        </p:spPr>
        <p:txBody>
          <a:bodyPr wrap="square" lIns="0" tIns="0" rIns="0" bIns="0" rtlCol="0" anchor="ctr"/>
          <a:lstStyle/>
          <a:p>
            <a:pPr indent="0" marL="0">
              <a:buNone/>
            </a:pPr>
            <a:r>
              <a:rPr lang="en-US" sz="1700" dirty="0">
                <a:solidFill>
                  <a:srgbClr val="FFFFFF"/>
                </a:solidFill>
                <a:latin typeface="Yu Gothic" pitchFamily="34" charset="0"/>
                <a:ea typeface="Yu Gothic" pitchFamily="34" charset="-122"/>
                <a:cs typeface="Yu Gothic" pitchFamily="34" charset="-120"/>
              </a:rPr>
              <a:t>平均点ではなく、個人の味覚をデータ化して評価を並び替える</a:t>
            </a:r>
            <a:endParaRPr lang="en-US" sz="1700" dirty="0"/>
          </a:p>
        </p:txBody>
      </p:sp>
      <p:sp>
        <p:nvSpPr>
          <p:cNvPr id="10" name="Shape 8"/>
          <p:cNvSpPr/>
          <p:nvPr/>
        </p:nvSpPr>
        <p:spPr>
          <a:xfrm>
            <a:off x="640080" y="4617720"/>
            <a:ext cx="502920" cy="502920"/>
          </a:xfrm>
          <a:prstGeom prst="ellipse">
            <a:avLst/>
          </a:prstGeom>
          <a:solidFill>
            <a:srgbClr val="FFFFFF"/>
          </a:solidFill>
          <a:ln w="12700">
            <a:solidFill>
              <a:srgbClr val="FFFFFF"/>
            </a:solidFill>
            <a:prstDash val="solid"/>
          </a:ln>
        </p:spPr>
      </p:sp>
      <p:sp>
        <p:nvSpPr>
          <p:cNvPr id="11" name="Text 9"/>
          <p:cNvSpPr txBox="1"/>
          <p:nvPr/>
        </p:nvSpPr>
        <p:spPr>
          <a:xfrm>
            <a:off x="640080" y="4617720"/>
            <a:ext cx="502920" cy="502920"/>
          </a:xfrm>
          <a:prstGeom prst="rect">
            <a:avLst/>
          </a:prstGeom>
          <a:noFill/>
          <a:ln/>
        </p:spPr>
        <p:txBody>
          <a:bodyPr wrap="square" lIns="0" tIns="0" rIns="0" bIns="0" rtlCol="0" anchor="ctr"/>
          <a:lstStyle/>
          <a:p>
            <a:pPr algn="ctr" indent="0" marL="0">
              <a:buNone/>
            </a:pPr>
            <a:r>
              <a:rPr lang="en-US" sz="1600" b="1" dirty="0">
                <a:solidFill>
                  <a:srgbClr val="B4552F"/>
                </a:solidFill>
                <a:latin typeface="Yu Gothic" pitchFamily="34" charset="0"/>
                <a:ea typeface="Yu Gothic" pitchFamily="34" charset="-122"/>
                <a:cs typeface="Yu Gothic" pitchFamily="34" charset="-120"/>
              </a:rPr>
              <a:t>3</a:t>
            </a:r>
            <a:endParaRPr lang="en-US" sz="1600" dirty="0"/>
          </a:p>
        </p:txBody>
      </p:sp>
      <p:sp>
        <p:nvSpPr>
          <p:cNvPr id="12" name="Text 10"/>
          <p:cNvSpPr txBox="1"/>
          <p:nvPr/>
        </p:nvSpPr>
        <p:spPr>
          <a:xfrm>
            <a:off x="1325880" y="4617720"/>
            <a:ext cx="6583680" cy="502920"/>
          </a:xfrm>
          <a:prstGeom prst="rect">
            <a:avLst/>
          </a:prstGeom>
          <a:noFill/>
          <a:ln/>
        </p:spPr>
        <p:txBody>
          <a:bodyPr wrap="square" lIns="0" tIns="0" rIns="0" bIns="0" rtlCol="0" anchor="ctr"/>
          <a:lstStyle/>
          <a:p>
            <a:pPr indent="0" marL="0">
              <a:buNone/>
            </a:pPr>
            <a:r>
              <a:rPr lang="en-US" sz="1700" dirty="0">
                <a:solidFill>
                  <a:srgbClr val="FFFFFF"/>
                </a:solidFill>
                <a:latin typeface="Yu Gothic" pitchFamily="34" charset="0"/>
                <a:ea typeface="Yu Gothic" pitchFamily="34" charset="-122"/>
                <a:cs typeface="Yu Gothic" pitchFamily="34" charset="-120"/>
              </a:rPr>
              <a:t>AIは実装と判定、判断は人。295回のループで完成</a:t>
            </a:r>
            <a:endParaRPr lang="en-US" sz="1700" dirty="0"/>
          </a:p>
        </p:txBody>
      </p:sp>
      <p:sp>
        <p:nvSpPr>
          <p:cNvPr id="13" name="Text 11"/>
          <p:cNvSpPr txBox="1"/>
          <p:nvPr/>
        </p:nvSpPr>
        <p:spPr>
          <a:xfrm>
            <a:off x="640080" y="5760720"/>
            <a:ext cx="7315200" cy="457200"/>
          </a:xfrm>
          <a:prstGeom prst="rect">
            <a:avLst/>
          </a:prstGeom>
          <a:noFill/>
          <a:ln/>
        </p:spPr>
        <p:txBody>
          <a:bodyPr wrap="square" lIns="0" tIns="0" rIns="0" bIns="0" rtlCol="0" anchor="ctr"/>
          <a:lstStyle/>
          <a:p>
            <a:pPr indent="0" marL="0">
              <a:buNone/>
            </a:pPr>
            <a:r>
              <a:rPr lang="en-US" sz="1400" dirty="0">
                <a:solidFill>
                  <a:srgbClr val="FFE9DF"/>
                </a:solidFill>
                <a:latin typeface="Yu Gothic" pitchFamily="34" charset="0"/>
                <a:ea typeface="Yu Gothic" pitchFamily="34" charset="-122"/>
                <a:cs typeface="Yu Gothic" pitchFamily="34" charset="-120"/>
              </a:rPr>
              <a:t>ご清聴ありがとうございました。質疑応答をお願いします。</a:t>
            </a:r>
            <a:endParaRPr lang="en-US" sz="1400" dirty="0"/>
          </a:p>
        </p:txBody>
      </p:sp>
      <p:sp>
        <p:nvSpPr>
          <p:cNvPr id="14" name="Shape 12"/>
          <p:cNvSpPr/>
          <p:nvPr/>
        </p:nvSpPr>
        <p:spPr>
          <a:xfrm>
            <a:off x="8860536" y="448056"/>
            <a:ext cx="2813925" cy="5961888"/>
          </a:xfrm>
          <a:prstGeom prst="roundRect">
            <a:avLst>
              <a:gd name="adj" fmla="val 7149"/>
            </a:avLst>
          </a:prstGeom>
          <a:solidFill>
            <a:srgbClr val="1F1E1D"/>
          </a:solidFill>
          <a:ln w="12700">
            <a:solidFill>
              <a:srgbClr val="1F1E1D"/>
            </a:solidFill>
            <a:prstDash val="solid"/>
          </a:ln>
          <a:effectLst>
            <a:outerShdw sx="100000" sy="100000" kx="0" ky="0" algn="bl" rotWithShape="0" blurRad="76200" dist="25400" dir="5400000">
              <a:srgbClr val="000000">
                <a:alpha val="12000"/>
              </a:srgbClr>
            </a:outerShdw>
          </a:effectLst>
        </p:spPr>
      </p:sp>
      <p:pic>
        <p:nvPicPr>
          <p:cNvPr id="15" name="Image 0" descr="/tmp/claude-0/-home-user-gourmet-app/8edbdaa3-b81a-5c49-b452-bda755b7f07f/scratchpad/real/shots/profile.png">    </p:cNvPr>
          <p:cNvPicPr>
            <a:picLocks noChangeAspect="1"/>
          </p:cNvPicPr>
          <p:nvPr/>
        </p:nvPicPr>
        <p:blipFill>
          <a:blip r:embed="rId2"/>
          <a:stretch>
            <a:fillRect/>
          </a:stretch>
        </p:blipFill>
        <p:spPr>
          <a:xfrm>
            <a:off x="8915400" y="502920"/>
            <a:ext cx="2704197" cy="5852160"/>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7315200" cy="320040"/>
          </a:xfrm>
          <a:prstGeom prst="rect">
            <a:avLst/>
          </a:prstGeom>
          <a:noFill/>
          <a:ln/>
        </p:spPr>
        <p:txBody>
          <a:bodyPr wrap="square" lIns="0" tIns="0" rIns="0" bIns="0" rtlCol="0" anchor="ctr"/>
          <a:lstStyle/>
          <a:p>
            <a:pPr indent="0" marL="0">
              <a:buNone/>
            </a:pPr>
            <a:r>
              <a:rPr lang="en-US" sz="1300" b="1" spc="200" kern="0" dirty="0">
                <a:solidFill>
                  <a:srgbClr val="C6613F"/>
                </a:solidFill>
                <a:latin typeface="Yu Gothic" pitchFamily="34" charset="0"/>
                <a:ea typeface="Yu Gothic" pitchFamily="34" charset="-122"/>
                <a:cs typeface="Yu Gothic" pitchFamily="34" charset="-120"/>
              </a:rPr>
              <a:t>APPENDIX</a:t>
            </a:r>
            <a:endParaRPr lang="en-US" sz="1300" dirty="0"/>
          </a:p>
        </p:txBody>
      </p:sp>
      <p:sp>
        <p:nvSpPr>
          <p:cNvPr id="3" name="Text 1"/>
          <p:cNvSpPr txBox="1"/>
          <p:nvPr/>
        </p:nvSpPr>
        <p:spPr>
          <a:xfrm>
            <a:off x="548640" y="621792"/>
            <a:ext cx="11064240" cy="685800"/>
          </a:xfrm>
          <a:prstGeom prst="rect">
            <a:avLst/>
          </a:prstGeom>
          <a:noFill/>
          <a:ln/>
        </p:spPr>
        <p:txBody>
          <a:bodyPr wrap="square" lIns="0" tIns="0" rIns="0" bIns="0" rtlCol="0" anchor="ctr"/>
          <a:lstStyle/>
          <a:p>
            <a:pPr indent="0" marL="0">
              <a:buNone/>
            </a:pPr>
            <a:r>
              <a:rPr lang="en-US" sz="3000" b="1" dirty="0">
                <a:solidFill>
                  <a:srgbClr val="1F1E1D"/>
                </a:solidFill>
                <a:latin typeface="Yu Gothic" pitchFamily="34" charset="0"/>
                <a:ea typeface="Yu Gothic" pitchFamily="34" charset="-122"/>
                <a:cs typeface="Yu Gothic" pitchFamily="34" charset="-120"/>
              </a:rPr>
              <a:t>補足：想定される質問と回答（質疑応答用）</a:t>
            </a:r>
            <a:endParaRPr lang="en-US" sz="3000" dirty="0"/>
          </a:p>
        </p:txBody>
      </p:sp>
      <p:sp>
        <p:nvSpPr>
          <p:cNvPr id="4" name="Shape 2"/>
          <p:cNvSpPr/>
          <p:nvPr/>
        </p:nvSpPr>
        <p:spPr>
          <a:xfrm>
            <a:off x="548640" y="1463040"/>
            <a:ext cx="5468112" cy="1481328"/>
          </a:xfrm>
          <a:prstGeom prst="roundRect">
            <a:avLst>
              <a:gd name="adj" fmla="val 7407"/>
            </a:avLst>
          </a:prstGeom>
          <a:solidFill>
            <a:srgbClr val="FBF8F3"/>
          </a:solidFill>
          <a:ln w="12700">
            <a:solidFill>
              <a:srgbClr val="EAE3D8"/>
            </a:solidFill>
            <a:prstDash val="solid"/>
          </a:ln>
        </p:spPr>
      </p:sp>
      <p:sp>
        <p:nvSpPr>
          <p:cNvPr id="5" name="Text 3"/>
          <p:cNvSpPr txBox="1"/>
          <p:nvPr/>
        </p:nvSpPr>
        <p:spPr>
          <a:xfrm>
            <a:off x="749808" y="1591056"/>
            <a:ext cx="5074920" cy="365760"/>
          </a:xfrm>
          <a:prstGeom prst="rect">
            <a:avLst/>
          </a:prstGeom>
          <a:noFill/>
          <a:ln/>
        </p:spPr>
        <p:txBody>
          <a:bodyPr wrap="square" lIns="0" tIns="0" rIns="0" bIns="0" rtlCol="0" anchor="ctr"/>
          <a:lstStyle/>
          <a:p>
            <a:pPr indent="0" marL="0">
              <a:buNone/>
            </a:pPr>
            <a:r>
              <a:rPr lang="en-US" sz="1250" b="1" dirty="0">
                <a:solidFill>
                  <a:srgbClr val="C6613F"/>
                </a:solidFill>
                <a:latin typeface="Yu Gothic" pitchFamily="34" charset="0"/>
                <a:ea typeface="Yu Gothic" pitchFamily="34" charset="-122"/>
                <a:cs typeface="Yu Gothic" pitchFamily="34" charset="-120"/>
              </a:rPr>
              <a:t>Q. 一致率は何人分のデータで検証した？</a:t>
            </a:r>
            <a:endParaRPr lang="en-US" sz="1250" dirty="0"/>
          </a:p>
        </p:txBody>
      </p:sp>
      <p:sp>
        <p:nvSpPr>
          <p:cNvPr id="6" name="Text 4"/>
          <p:cNvSpPr txBox="1"/>
          <p:nvPr/>
        </p:nvSpPr>
        <p:spPr>
          <a:xfrm>
            <a:off x="749808" y="1965960"/>
            <a:ext cx="5074920" cy="914400"/>
          </a:xfrm>
          <a:prstGeom prst="rect">
            <a:avLst/>
          </a:prstGeom>
          <a:noFill/>
          <a:ln/>
        </p:spPr>
        <p:txBody>
          <a:bodyPr wrap="square" lIns="0" tIns="0" rIns="0" bIns="0" rtlCol="0" anchor="t"/>
          <a:lstStyle/>
          <a:p>
            <a:pPr indent="0" marL="0">
              <a:buNone/>
            </a:pPr>
            <a:r>
              <a:rPr lang="en-US" sz="1050" dirty="0">
                <a:solidFill>
                  <a:srgbClr val="1F1E1D"/>
                </a:solidFill>
                <a:latin typeface="Yu Gothic" pitchFamily="34" charset="0"/>
                <a:ea typeface="Yu Gothic" pitchFamily="34" charset="-122"/>
                <a:cs typeface="Yu Gothic" pitchFamily="34" charset="-120"/>
              </a:rPr>
              <a:t>評価傾向を変えたテストデータ（近い／真逆／無関係）で検証し 79%・27% を確認。実ユーザー間の検証は共通店5件以上が集まった段階で行う予定。</a:t>
            </a:r>
            <a:endParaRPr lang="en-US" sz="1050" dirty="0"/>
          </a:p>
        </p:txBody>
      </p:sp>
      <p:sp>
        <p:nvSpPr>
          <p:cNvPr id="7" name="Shape 5"/>
          <p:cNvSpPr/>
          <p:nvPr/>
        </p:nvSpPr>
        <p:spPr>
          <a:xfrm>
            <a:off x="6172200" y="1463040"/>
            <a:ext cx="5468112" cy="1481328"/>
          </a:xfrm>
          <a:prstGeom prst="roundRect">
            <a:avLst>
              <a:gd name="adj" fmla="val 7407"/>
            </a:avLst>
          </a:prstGeom>
          <a:solidFill>
            <a:srgbClr val="FBF8F3"/>
          </a:solidFill>
          <a:ln w="12700">
            <a:solidFill>
              <a:srgbClr val="EAE3D8"/>
            </a:solidFill>
            <a:prstDash val="solid"/>
          </a:ln>
        </p:spPr>
      </p:sp>
      <p:sp>
        <p:nvSpPr>
          <p:cNvPr id="8" name="Text 6"/>
          <p:cNvSpPr txBox="1"/>
          <p:nvPr/>
        </p:nvSpPr>
        <p:spPr>
          <a:xfrm>
            <a:off x="6373368" y="1591056"/>
            <a:ext cx="5074920" cy="365760"/>
          </a:xfrm>
          <a:prstGeom prst="rect">
            <a:avLst/>
          </a:prstGeom>
          <a:noFill/>
          <a:ln/>
        </p:spPr>
        <p:txBody>
          <a:bodyPr wrap="square" lIns="0" tIns="0" rIns="0" bIns="0" rtlCol="0" anchor="ctr"/>
          <a:lstStyle/>
          <a:p>
            <a:pPr indent="0" marL="0">
              <a:buNone/>
            </a:pPr>
            <a:r>
              <a:rPr lang="en-US" sz="1250" b="1" dirty="0">
                <a:solidFill>
                  <a:srgbClr val="C6613F"/>
                </a:solidFill>
                <a:latin typeface="Yu Gothic" pitchFamily="34" charset="0"/>
                <a:ea typeface="Yu Gothic" pitchFamily="34" charset="-122"/>
                <a:cs typeface="Yu Gothic" pitchFamily="34" charset="-120"/>
              </a:rPr>
              <a:t>Q. AIの判定が間違ったらどうなる？</a:t>
            </a:r>
            <a:endParaRPr lang="en-US" sz="1250" dirty="0"/>
          </a:p>
        </p:txBody>
      </p:sp>
      <p:sp>
        <p:nvSpPr>
          <p:cNvPr id="9" name="Text 7"/>
          <p:cNvSpPr txBox="1"/>
          <p:nvPr/>
        </p:nvSpPr>
        <p:spPr>
          <a:xfrm>
            <a:off x="6373368" y="1965960"/>
            <a:ext cx="5074920" cy="914400"/>
          </a:xfrm>
          <a:prstGeom prst="rect">
            <a:avLst/>
          </a:prstGeom>
          <a:noFill/>
          <a:ln/>
        </p:spPr>
        <p:txBody>
          <a:bodyPr wrap="square" lIns="0" tIns="0" rIns="0" bIns="0" rtlCol="0" anchor="t"/>
          <a:lstStyle/>
          <a:p>
            <a:pPr indent="0" marL="0">
              <a:buNone/>
            </a:pPr>
            <a:r>
              <a:rPr lang="en-US" sz="1050" dirty="0">
                <a:solidFill>
                  <a:srgbClr val="1F1E1D"/>
                </a:solidFill>
                <a:latin typeface="Yu Gothic" pitchFamily="34" charset="0"/>
                <a:ea typeface="Yu Gothic" pitchFamily="34" charset="-122"/>
                <a:cs typeface="Yu Gothic" pitchFamily="34" charset="-120"/>
              </a:rPr>
              <a:t>利用者が登録時に必ず確認・修正できる。手動で選んだ後はAIが上書きしない「所有権」ルール。自信のない判定はそもそも空欄。</a:t>
            </a:r>
            <a:endParaRPr lang="en-US" sz="1050" dirty="0"/>
          </a:p>
        </p:txBody>
      </p:sp>
      <p:sp>
        <p:nvSpPr>
          <p:cNvPr id="10" name="Shape 8"/>
          <p:cNvSpPr/>
          <p:nvPr/>
        </p:nvSpPr>
        <p:spPr>
          <a:xfrm>
            <a:off x="548640" y="3090672"/>
            <a:ext cx="5468112" cy="1481328"/>
          </a:xfrm>
          <a:prstGeom prst="roundRect">
            <a:avLst>
              <a:gd name="adj" fmla="val 7407"/>
            </a:avLst>
          </a:prstGeom>
          <a:solidFill>
            <a:srgbClr val="FBF8F3"/>
          </a:solidFill>
          <a:ln w="12700">
            <a:solidFill>
              <a:srgbClr val="EAE3D8"/>
            </a:solidFill>
            <a:prstDash val="solid"/>
          </a:ln>
        </p:spPr>
      </p:sp>
      <p:sp>
        <p:nvSpPr>
          <p:cNvPr id="11" name="Text 9"/>
          <p:cNvSpPr txBox="1"/>
          <p:nvPr/>
        </p:nvSpPr>
        <p:spPr>
          <a:xfrm>
            <a:off x="749808" y="3218688"/>
            <a:ext cx="5074920" cy="365760"/>
          </a:xfrm>
          <a:prstGeom prst="rect">
            <a:avLst/>
          </a:prstGeom>
          <a:noFill/>
          <a:ln/>
        </p:spPr>
        <p:txBody>
          <a:bodyPr wrap="square" lIns="0" tIns="0" rIns="0" bIns="0" rtlCol="0" anchor="ctr"/>
          <a:lstStyle/>
          <a:p>
            <a:pPr indent="0" marL="0">
              <a:buNone/>
            </a:pPr>
            <a:r>
              <a:rPr lang="en-US" sz="1250" b="1" dirty="0">
                <a:solidFill>
                  <a:srgbClr val="C6613F"/>
                </a:solidFill>
                <a:latin typeface="Yu Gothic" pitchFamily="34" charset="0"/>
                <a:ea typeface="Yu Gothic" pitchFamily="34" charset="-122"/>
                <a:cs typeface="Yu Gothic" pitchFamily="34" charset="-120"/>
              </a:rPr>
              <a:t>Q. 一般公開の予定は？費用は？</a:t>
            </a:r>
            <a:endParaRPr lang="en-US" sz="1250" dirty="0"/>
          </a:p>
        </p:txBody>
      </p:sp>
      <p:sp>
        <p:nvSpPr>
          <p:cNvPr id="12" name="Text 10"/>
          <p:cNvSpPr txBox="1"/>
          <p:nvPr/>
        </p:nvSpPr>
        <p:spPr>
          <a:xfrm>
            <a:off x="749808" y="3593592"/>
            <a:ext cx="5074920" cy="914400"/>
          </a:xfrm>
          <a:prstGeom prst="rect">
            <a:avLst/>
          </a:prstGeom>
          <a:noFill/>
          <a:ln/>
        </p:spPr>
        <p:txBody>
          <a:bodyPr wrap="square" lIns="0" tIns="0" rIns="0" bIns="0" rtlCol="0" anchor="t"/>
          <a:lstStyle/>
          <a:p>
            <a:pPr indent="0" marL="0">
              <a:buNone/>
            </a:pPr>
            <a:r>
              <a:rPr lang="en-US" sz="1050" dirty="0">
                <a:solidFill>
                  <a:srgbClr val="1F1E1D"/>
                </a:solidFill>
                <a:latin typeface="Yu Gothic" pitchFamily="34" charset="0"/>
                <a:ea typeface="Yu Gothic" pitchFamily="34" charset="-122"/>
                <a:cs typeface="Yu Gothic" pitchFamily="34" charset="-120"/>
              </a:rPr>
              <a:t>Google Places・Claude・Firebase は利用量課金のため、多人数に無料公開すると運営費が発生し、現状は難しい。利用者自身のキーで動かし、キー未設定でも無料の OpenStreetMap 検索で使える構成。公開には無料枠内の設計か費用モデルが必要。</a:t>
            </a:r>
            <a:endParaRPr lang="en-US" sz="1050" dirty="0"/>
          </a:p>
        </p:txBody>
      </p:sp>
      <p:sp>
        <p:nvSpPr>
          <p:cNvPr id="13" name="Shape 11"/>
          <p:cNvSpPr/>
          <p:nvPr/>
        </p:nvSpPr>
        <p:spPr>
          <a:xfrm>
            <a:off x="6172200" y="3090672"/>
            <a:ext cx="5468112" cy="1481328"/>
          </a:xfrm>
          <a:prstGeom prst="roundRect">
            <a:avLst>
              <a:gd name="adj" fmla="val 7407"/>
            </a:avLst>
          </a:prstGeom>
          <a:solidFill>
            <a:srgbClr val="FBF8F3"/>
          </a:solidFill>
          <a:ln w="12700">
            <a:solidFill>
              <a:srgbClr val="EAE3D8"/>
            </a:solidFill>
            <a:prstDash val="solid"/>
          </a:ln>
        </p:spPr>
      </p:sp>
      <p:sp>
        <p:nvSpPr>
          <p:cNvPr id="14" name="Text 12"/>
          <p:cNvSpPr txBox="1"/>
          <p:nvPr/>
        </p:nvSpPr>
        <p:spPr>
          <a:xfrm>
            <a:off x="6373368" y="3218688"/>
            <a:ext cx="5074920" cy="365760"/>
          </a:xfrm>
          <a:prstGeom prst="rect">
            <a:avLst/>
          </a:prstGeom>
          <a:noFill/>
          <a:ln/>
        </p:spPr>
        <p:txBody>
          <a:bodyPr wrap="square" lIns="0" tIns="0" rIns="0" bIns="0" rtlCol="0" anchor="ctr"/>
          <a:lstStyle/>
          <a:p>
            <a:pPr indent="0" marL="0">
              <a:buNone/>
            </a:pPr>
            <a:r>
              <a:rPr lang="en-US" sz="1250" b="1" dirty="0">
                <a:solidFill>
                  <a:srgbClr val="C6613F"/>
                </a:solidFill>
                <a:latin typeface="Yu Gothic" pitchFamily="34" charset="0"/>
                <a:ea typeface="Yu Gothic" pitchFamily="34" charset="-122"/>
                <a:cs typeface="Yu Gothic" pitchFamily="34" charset="-120"/>
              </a:rPr>
              <a:t>Q. なぜ全量AI実装？品質は？</a:t>
            </a:r>
            <a:endParaRPr lang="en-US" sz="1250" dirty="0"/>
          </a:p>
        </p:txBody>
      </p:sp>
      <p:sp>
        <p:nvSpPr>
          <p:cNvPr id="15" name="Text 13"/>
          <p:cNvSpPr txBox="1"/>
          <p:nvPr/>
        </p:nvSpPr>
        <p:spPr>
          <a:xfrm>
            <a:off x="6373368" y="3593592"/>
            <a:ext cx="5074920" cy="914400"/>
          </a:xfrm>
          <a:prstGeom prst="rect">
            <a:avLst/>
          </a:prstGeom>
          <a:noFill/>
          <a:ln/>
        </p:spPr>
        <p:txBody>
          <a:bodyPr wrap="square" lIns="0" tIns="0" rIns="0" bIns="0" rtlCol="0" anchor="t"/>
          <a:lstStyle/>
          <a:p>
            <a:pPr indent="0" marL="0">
              <a:buNone/>
            </a:pPr>
            <a:r>
              <a:rPr lang="en-US" sz="1050" dirty="0">
                <a:solidFill>
                  <a:srgbClr val="1F1E1D"/>
                </a:solidFill>
                <a:latin typeface="Yu Gothic" pitchFamily="34" charset="0"/>
                <a:ea typeface="Yu Gothic" pitchFamily="34" charset="-122"/>
                <a:cs typeface="Yu Gothic" pitchFamily="34" charset="-120"/>
              </a:rPr>
              <a:t>人は判断に専念し、判断の回数を最大化するため。品質は自動テスト（Playwright）＋毎回の実機検証＋差し戻しで担保。CLAUDE.mdで規約を固定。</a:t>
            </a:r>
            <a:endParaRPr lang="en-US" sz="1050" dirty="0"/>
          </a:p>
        </p:txBody>
      </p:sp>
      <p:sp>
        <p:nvSpPr>
          <p:cNvPr id="16" name="Shape 14"/>
          <p:cNvSpPr/>
          <p:nvPr/>
        </p:nvSpPr>
        <p:spPr>
          <a:xfrm>
            <a:off x="548640" y="4718304"/>
            <a:ext cx="5468112" cy="1481328"/>
          </a:xfrm>
          <a:prstGeom prst="roundRect">
            <a:avLst>
              <a:gd name="adj" fmla="val 7407"/>
            </a:avLst>
          </a:prstGeom>
          <a:solidFill>
            <a:srgbClr val="FBF8F3"/>
          </a:solidFill>
          <a:ln w="12700">
            <a:solidFill>
              <a:srgbClr val="EAE3D8"/>
            </a:solidFill>
            <a:prstDash val="solid"/>
          </a:ln>
        </p:spPr>
      </p:sp>
      <p:sp>
        <p:nvSpPr>
          <p:cNvPr id="17" name="Text 15"/>
          <p:cNvSpPr txBox="1"/>
          <p:nvPr/>
        </p:nvSpPr>
        <p:spPr>
          <a:xfrm>
            <a:off x="749808" y="4846320"/>
            <a:ext cx="5074920" cy="365760"/>
          </a:xfrm>
          <a:prstGeom prst="rect">
            <a:avLst/>
          </a:prstGeom>
          <a:noFill/>
          <a:ln/>
        </p:spPr>
        <p:txBody>
          <a:bodyPr wrap="square" lIns="0" tIns="0" rIns="0" bIns="0" rtlCol="0" anchor="ctr"/>
          <a:lstStyle/>
          <a:p>
            <a:pPr indent="0" marL="0">
              <a:buNone/>
            </a:pPr>
            <a:r>
              <a:rPr lang="en-US" sz="1250" b="1" dirty="0">
                <a:solidFill>
                  <a:srgbClr val="C6613F"/>
                </a:solidFill>
                <a:latin typeface="Yu Gothic" pitchFamily="34" charset="0"/>
                <a:ea typeface="Yu Gothic" pitchFamily="34" charset="-122"/>
                <a:cs typeface="Yu Gothic" pitchFamily="34" charset="-120"/>
              </a:rPr>
              <a:t>Q. 既存のグルメサービスとの違いは？</a:t>
            </a:r>
            <a:endParaRPr lang="en-US" sz="1250" dirty="0"/>
          </a:p>
        </p:txBody>
      </p:sp>
      <p:sp>
        <p:nvSpPr>
          <p:cNvPr id="18" name="Text 16"/>
          <p:cNvSpPr txBox="1"/>
          <p:nvPr/>
        </p:nvSpPr>
        <p:spPr>
          <a:xfrm>
            <a:off x="749808" y="5221224"/>
            <a:ext cx="5074920" cy="914400"/>
          </a:xfrm>
          <a:prstGeom prst="rect">
            <a:avLst/>
          </a:prstGeom>
          <a:noFill/>
          <a:ln/>
        </p:spPr>
        <p:txBody>
          <a:bodyPr wrap="square" lIns="0" tIns="0" rIns="0" bIns="0" rtlCol="0" anchor="t"/>
          <a:lstStyle/>
          <a:p>
            <a:pPr indent="0" marL="0">
              <a:buNone/>
            </a:pPr>
            <a:r>
              <a:rPr lang="en-US" sz="1050" dirty="0">
                <a:solidFill>
                  <a:srgbClr val="1F1E1D"/>
                </a:solidFill>
                <a:latin typeface="Yu Gothic" pitchFamily="34" charset="0"/>
                <a:ea typeface="Yu Gothic" pitchFamily="34" charset="-122"/>
                <a:cs typeface="Yu Gothic" pitchFamily="34" charset="-120"/>
              </a:rPr>
              <a:t>「平均点」ではなく「自分と味覚が近い人」の評価で並び替える点。評価の主語が「みんな」から「あなた」に変わる。</a:t>
            </a:r>
            <a:endParaRPr lang="en-US" sz="1050" dirty="0"/>
          </a:p>
        </p:txBody>
      </p:sp>
      <p:sp>
        <p:nvSpPr>
          <p:cNvPr id="19" name="Shape 17"/>
          <p:cNvSpPr/>
          <p:nvPr/>
        </p:nvSpPr>
        <p:spPr>
          <a:xfrm>
            <a:off x="6172200" y="4718304"/>
            <a:ext cx="5468112" cy="1481328"/>
          </a:xfrm>
          <a:prstGeom prst="roundRect">
            <a:avLst>
              <a:gd name="adj" fmla="val 7407"/>
            </a:avLst>
          </a:prstGeom>
          <a:solidFill>
            <a:srgbClr val="FBF8F3"/>
          </a:solidFill>
          <a:ln w="12700">
            <a:solidFill>
              <a:srgbClr val="EAE3D8"/>
            </a:solidFill>
            <a:prstDash val="solid"/>
          </a:ln>
        </p:spPr>
      </p:sp>
      <p:sp>
        <p:nvSpPr>
          <p:cNvPr id="20" name="Text 18"/>
          <p:cNvSpPr txBox="1"/>
          <p:nvPr/>
        </p:nvSpPr>
        <p:spPr>
          <a:xfrm>
            <a:off x="6373368" y="4846320"/>
            <a:ext cx="5074920" cy="365760"/>
          </a:xfrm>
          <a:prstGeom prst="rect">
            <a:avLst/>
          </a:prstGeom>
          <a:noFill/>
          <a:ln/>
        </p:spPr>
        <p:txBody>
          <a:bodyPr wrap="square" lIns="0" tIns="0" rIns="0" bIns="0" rtlCol="0" anchor="ctr"/>
          <a:lstStyle/>
          <a:p>
            <a:pPr indent="0" marL="0">
              <a:buNone/>
            </a:pPr>
            <a:r>
              <a:rPr lang="en-US" sz="1250" b="1" dirty="0">
                <a:solidFill>
                  <a:srgbClr val="C6613F"/>
                </a:solidFill>
                <a:latin typeface="Yu Gothic" pitchFamily="34" charset="0"/>
                <a:ea typeface="Yu Gothic" pitchFamily="34" charset="-122"/>
                <a:cs typeface="Yu Gothic" pitchFamily="34" charset="-120"/>
              </a:rPr>
              <a:t>Q. プライバシーは？</a:t>
            </a:r>
            <a:endParaRPr lang="en-US" sz="1250" dirty="0"/>
          </a:p>
        </p:txBody>
      </p:sp>
      <p:sp>
        <p:nvSpPr>
          <p:cNvPr id="21" name="Text 19"/>
          <p:cNvSpPr txBox="1"/>
          <p:nvPr/>
        </p:nvSpPr>
        <p:spPr>
          <a:xfrm>
            <a:off x="6373368" y="5221224"/>
            <a:ext cx="5074920" cy="914400"/>
          </a:xfrm>
          <a:prstGeom prst="rect">
            <a:avLst/>
          </a:prstGeom>
          <a:noFill/>
          <a:ln/>
        </p:spPr>
        <p:txBody>
          <a:bodyPr wrap="square" lIns="0" tIns="0" rIns="0" bIns="0" rtlCol="0" anchor="t"/>
          <a:lstStyle/>
          <a:p>
            <a:pPr indent="0" marL="0">
              <a:buNone/>
            </a:pPr>
            <a:r>
              <a:rPr lang="en-US" sz="1050" dirty="0">
                <a:solidFill>
                  <a:srgbClr val="1F1E1D"/>
                </a:solidFill>
                <a:latin typeface="Yu Gothic" pitchFamily="34" charset="0"/>
                <a:ea typeface="Yu Gothic" pitchFamily="34" charset="-122"/>
                <a:cs typeface="Yu Gothic" pitchFamily="34" charset="-120"/>
              </a:rPr>
              <a:t>記録・写真は本人のアカウント領域のみ（Firebaseルール）。公開は本人が公開した投稿のみ。他人の投稿には日付を出さない（v293で全画面統一）。</a:t>
            </a:r>
            <a:endParaRPr lang="en-US" sz="1050" dirty="0"/>
          </a:p>
        </p:txBody>
      </p:sp>
      <p:sp>
        <p:nvSpPr>
          <p:cNvPr id="22" name="Text 20"/>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8A857D"/>
                </a:solidFill>
                <a:latin typeface="Yu Gothic" pitchFamily="34" charset="0"/>
                <a:ea typeface="Yu Gothic" pitchFamily="34" charset="-122"/>
                <a:cs typeface="Yu Gothic" pitchFamily="34" charset="-120"/>
              </a:rPr>
              <a:t>BITEMAP ｜ 2026 AI Innovators Cup @ Shibaura 決勝</a:t>
            </a:r>
            <a:endParaRPr lang="en-US" sz="900" dirty="0"/>
          </a:p>
        </p:txBody>
      </p:sp>
      <p:sp>
        <p:nvSpPr>
          <p:cNvPr id="23" name="Text 21"/>
          <p:cNvSpPr txBox="1"/>
          <p:nvPr/>
        </p:nvSpPr>
        <p:spPr>
          <a:xfrm>
            <a:off x="11155680" y="6446520"/>
            <a:ext cx="457200" cy="274320"/>
          </a:xfrm>
          <a:prstGeom prst="rect">
            <a:avLst/>
          </a:prstGeom>
          <a:noFill/>
          <a:ln/>
        </p:spPr>
        <p:txBody>
          <a:bodyPr wrap="square" lIns="0" tIns="0" rIns="0" bIns="0" rtlCol="0" anchor="ctr"/>
          <a:lstStyle/>
          <a:p>
            <a:pPr algn="r" indent="0" marL="0">
              <a:buNone/>
            </a:pPr>
            <a:r>
              <a:rPr lang="en-US" sz="900" dirty="0">
                <a:solidFill>
                  <a:srgbClr val="8A857D"/>
                </a:solidFill>
                <a:latin typeface="Yu Gothic" pitchFamily="34" charset="0"/>
                <a:ea typeface="Yu Gothic" pitchFamily="34" charset="-122"/>
                <a:cs typeface="Yu Gothic" pitchFamily="34" charset="-120"/>
              </a:rPr>
              <a:t>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7315200" cy="320040"/>
          </a:xfrm>
          <a:prstGeom prst="rect">
            <a:avLst/>
          </a:prstGeom>
          <a:noFill/>
          <a:ln/>
        </p:spPr>
        <p:txBody>
          <a:bodyPr wrap="square" lIns="0" tIns="0" rIns="0" bIns="0" rtlCol="0" anchor="ctr"/>
          <a:lstStyle/>
          <a:p>
            <a:pPr indent="0" marL="0">
              <a:buNone/>
            </a:pPr>
            <a:r>
              <a:rPr lang="en-US" sz="1300" b="1" spc="200" kern="0" dirty="0">
                <a:solidFill>
                  <a:srgbClr val="C6613F"/>
                </a:solidFill>
                <a:latin typeface="Yu Gothic" pitchFamily="34" charset="0"/>
                <a:ea typeface="Yu Gothic" pitchFamily="34" charset="-122"/>
                <a:cs typeface="Yu Gothic" pitchFamily="34" charset="-120"/>
              </a:rPr>
              <a:t>補足 ｜ 審査観点 ① AI活用の目的と方法（詳細）</a:t>
            </a:r>
            <a:endParaRPr lang="en-US" sz="1300" dirty="0"/>
          </a:p>
        </p:txBody>
      </p:sp>
      <p:sp>
        <p:nvSpPr>
          <p:cNvPr id="3" name="Text 1"/>
          <p:cNvSpPr txBox="1"/>
          <p:nvPr/>
        </p:nvSpPr>
        <p:spPr>
          <a:xfrm>
            <a:off x="548640" y="621792"/>
            <a:ext cx="11064240" cy="685800"/>
          </a:xfrm>
          <a:prstGeom prst="rect">
            <a:avLst/>
          </a:prstGeom>
          <a:noFill/>
          <a:ln/>
        </p:spPr>
        <p:txBody>
          <a:bodyPr wrap="square" lIns="0" tIns="0" rIns="0" bIns="0" rtlCol="0" anchor="ctr"/>
          <a:lstStyle/>
          <a:p>
            <a:pPr indent="0" marL="0">
              <a:buNone/>
            </a:pPr>
            <a:r>
              <a:rPr lang="en-US" sz="3000" b="1" dirty="0">
                <a:solidFill>
                  <a:srgbClr val="1F1E1D"/>
                </a:solidFill>
                <a:latin typeface="Yu Gothic" pitchFamily="34" charset="0"/>
                <a:ea typeface="Yu Gothic" pitchFamily="34" charset="-122"/>
                <a:cs typeface="Yu Gothic" pitchFamily="34" charset="-120"/>
              </a:rPr>
              <a:t>AIの活用 ― 「つくる」も「つかう」もAI、決めるのは人</a:t>
            </a:r>
            <a:endParaRPr lang="en-US" sz="3000" dirty="0"/>
          </a:p>
        </p:txBody>
      </p:sp>
      <p:sp>
        <p:nvSpPr>
          <p:cNvPr id="4" name="Shape 2"/>
          <p:cNvSpPr/>
          <p:nvPr/>
        </p:nvSpPr>
        <p:spPr>
          <a:xfrm>
            <a:off x="548640" y="1508760"/>
            <a:ext cx="6949440" cy="4754880"/>
          </a:xfrm>
          <a:prstGeom prst="roundRect">
            <a:avLst>
              <a:gd name="adj" fmla="val 2308"/>
            </a:avLst>
          </a:prstGeom>
          <a:solidFill>
            <a:srgbClr val="FFFFFF"/>
          </a:solidFill>
          <a:ln w="12700">
            <a:solidFill>
              <a:srgbClr val="EAE3D8"/>
            </a:solidFill>
            <a:prstDash val="solid"/>
          </a:ln>
          <a:effectLst>
            <a:outerShdw sx="100000" sy="100000" kx="0" ky="0" algn="bl" rotWithShape="0" blurRad="76200" dist="25400" dir="5400000">
              <a:srgbClr val="000000">
                <a:alpha val="12000"/>
              </a:srgbClr>
            </a:outerShdw>
          </a:effectLst>
        </p:spPr>
      </p:sp>
      <p:sp>
        <p:nvSpPr>
          <p:cNvPr id="5" name="Text 3"/>
          <p:cNvSpPr txBox="1"/>
          <p:nvPr/>
        </p:nvSpPr>
        <p:spPr>
          <a:xfrm>
            <a:off x="777240" y="1645920"/>
            <a:ext cx="6583680" cy="365760"/>
          </a:xfrm>
          <a:prstGeom prst="rect">
            <a:avLst/>
          </a:prstGeom>
          <a:noFill/>
          <a:ln/>
        </p:spPr>
        <p:txBody>
          <a:bodyPr wrap="square" lIns="0" tIns="0" rIns="0" bIns="0" rtlCol="0" anchor="ctr"/>
          <a:lstStyle/>
          <a:p>
            <a:pPr indent="0" marL="0">
              <a:buNone/>
            </a:pPr>
            <a:r>
              <a:rPr lang="en-US" sz="1400" b="1" dirty="0">
                <a:solidFill>
                  <a:srgbClr val="1F1E1D"/>
                </a:solidFill>
                <a:latin typeface="Yu Gothic" pitchFamily="34" charset="0"/>
                <a:ea typeface="Yu Gothic" pitchFamily="34" charset="-122"/>
                <a:cs typeface="Yu Gothic" pitchFamily="34" charset="-120"/>
              </a:rPr>
              <a:t>開発：コードは全量AI実装 × 人間は判断に専念（Claude Code）</a:t>
            </a:r>
            <a:endParaRPr lang="en-US" sz="1400" dirty="0"/>
          </a:p>
        </p:txBody>
      </p:sp>
      <p:sp>
        <p:nvSpPr>
          <p:cNvPr id="6" name="Shape 4"/>
          <p:cNvSpPr/>
          <p:nvPr/>
        </p:nvSpPr>
        <p:spPr>
          <a:xfrm>
            <a:off x="777240" y="2194560"/>
            <a:ext cx="1417320" cy="1143000"/>
          </a:xfrm>
          <a:prstGeom prst="roundRect">
            <a:avLst>
              <a:gd name="adj" fmla="val 8000"/>
            </a:avLst>
          </a:prstGeom>
          <a:solidFill>
            <a:srgbClr val="FBEFE9"/>
          </a:solidFill>
          <a:ln w="12700">
            <a:solidFill>
              <a:srgbClr val="FBEFE9"/>
            </a:solidFill>
            <a:prstDash val="solid"/>
          </a:ln>
        </p:spPr>
      </p:sp>
      <p:sp>
        <p:nvSpPr>
          <p:cNvPr id="7" name="Text 5"/>
          <p:cNvSpPr txBox="1"/>
          <p:nvPr/>
        </p:nvSpPr>
        <p:spPr>
          <a:xfrm>
            <a:off x="777240" y="2258568"/>
            <a:ext cx="1417320" cy="274320"/>
          </a:xfrm>
          <a:prstGeom prst="rect">
            <a:avLst/>
          </a:prstGeom>
          <a:noFill/>
          <a:ln/>
        </p:spPr>
        <p:txBody>
          <a:bodyPr wrap="square" lIns="0" tIns="0" rIns="0" bIns="0" rtlCol="0" anchor="ctr"/>
          <a:lstStyle/>
          <a:p>
            <a:pPr algn="ctr" indent="0" marL="0">
              <a:buNone/>
            </a:pPr>
            <a:r>
              <a:rPr lang="en-US" sz="1050" b="1" dirty="0">
                <a:solidFill>
                  <a:srgbClr val="C6613F"/>
                </a:solidFill>
                <a:latin typeface="Yu Gothic" pitchFamily="34" charset="0"/>
                <a:ea typeface="Yu Gothic" pitchFamily="34" charset="-122"/>
                <a:cs typeface="Yu Gothic" pitchFamily="34" charset="-120"/>
              </a:rPr>
              <a:t>人間</a:t>
            </a:r>
            <a:endParaRPr lang="en-US" sz="1050" dirty="0"/>
          </a:p>
        </p:txBody>
      </p:sp>
      <p:sp>
        <p:nvSpPr>
          <p:cNvPr id="8" name="Text 6"/>
          <p:cNvSpPr txBox="1"/>
          <p:nvPr/>
        </p:nvSpPr>
        <p:spPr>
          <a:xfrm>
            <a:off x="822960" y="2542032"/>
            <a:ext cx="1325880" cy="731520"/>
          </a:xfrm>
          <a:prstGeom prst="rect">
            <a:avLst/>
          </a:prstGeom>
          <a:noFill/>
          <a:ln/>
        </p:spPr>
        <p:txBody>
          <a:bodyPr wrap="square" lIns="0" tIns="0" rIns="0" bIns="0" rtlCol="0" anchor="t"/>
          <a:lstStyle/>
          <a:p>
            <a:pPr algn="ctr" indent="0" marL="0">
              <a:buNone/>
            </a:pPr>
            <a:r>
              <a:rPr lang="en-US" sz="1050" dirty="0">
                <a:solidFill>
                  <a:srgbClr val="1F1E1D"/>
                </a:solidFill>
                <a:latin typeface="Yu Gothic" pitchFamily="34" charset="0"/>
                <a:ea typeface="Yu Gothic" pitchFamily="34" charset="-122"/>
                <a:cs typeface="Yu Gothic" pitchFamily="34" charset="-120"/>
              </a:rPr>
              <a:t>要望を日本語で</a:t>
            </a:r>
            <a:endParaRPr lang="en-US" sz="1050" dirty="0"/>
          </a:p>
          <a:p>
            <a:pPr algn="ctr" indent="0" marL="0">
              <a:buNone/>
            </a:pPr>
            <a:r>
              <a:rPr lang="en-US" sz="1050" dirty="0">
                <a:solidFill>
                  <a:srgbClr val="1F1E1D"/>
                </a:solidFill>
                <a:latin typeface="Yu Gothic" pitchFamily="34" charset="0"/>
                <a:ea typeface="Yu Gothic" pitchFamily="34" charset="-122"/>
                <a:cs typeface="Yu Gothic" pitchFamily="34" charset="-120"/>
              </a:rPr>
              <a:t>（文章・画像）</a:t>
            </a:r>
            <a:endParaRPr lang="en-US" sz="1050" dirty="0"/>
          </a:p>
        </p:txBody>
      </p:sp>
      <p:sp>
        <p:nvSpPr>
          <p:cNvPr id="9" name="Shape 7"/>
          <p:cNvSpPr/>
          <p:nvPr/>
        </p:nvSpPr>
        <p:spPr>
          <a:xfrm>
            <a:off x="2212848" y="2606040"/>
            <a:ext cx="219456" cy="310896"/>
          </a:xfrm>
          <a:prstGeom prst="rightArrow">
            <a:avLst/>
          </a:prstGeom>
          <a:solidFill>
            <a:srgbClr val="D9CFC2"/>
          </a:solidFill>
          <a:ln w="12700">
            <a:solidFill>
              <a:srgbClr val="D9CFC2"/>
            </a:solidFill>
            <a:prstDash val="solid"/>
          </a:ln>
        </p:spPr>
      </p:sp>
      <p:sp>
        <p:nvSpPr>
          <p:cNvPr id="10" name="Shape 8"/>
          <p:cNvSpPr/>
          <p:nvPr/>
        </p:nvSpPr>
        <p:spPr>
          <a:xfrm>
            <a:off x="2441448" y="2194560"/>
            <a:ext cx="1417320" cy="1143000"/>
          </a:xfrm>
          <a:prstGeom prst="roundRect">
            <a:avLst>
              <a:gd name="adj" fmla="val 8000"/>
            </a:avLst>
          </a:prstGeom>
          <a:solidFill>
            <a:srgbClr val="EEF3FB"/>
          </a:solidFill>
          <a:ln w="12700">
            <a:solidFill>
              <a:srgbClr val="EEF3FB"/>
            </a:solidFill>
            <a:prstDash val="solid"/>
          </a:ln>
        </p:spPr>
      </p:sp>
      <p:sp>
        <p:nvSpPr>
          <p:cNvPr id="11" name="Text 9"/>
          <p:cNvSpPr txBox="1"/>
          <p:nvPr/>
        </p:nvSpPr>
        <p:spPr>
          <a:xfrm>
            <a:off x="2441448" y="2258568"/>
            <a:ext cx="1417320" cy="274320"/>
          </a:xfrm>
          <a:prstGeom prst="rect">
            <a:avLst/>
          </a:prstGeom>
          <a:noFill/>
          <a:ln/>
        </p:spPr>
        <p:txBody>
          <a:bodyPr wrap="square" lIns="0" tIns="0" rIns="0" bIns="0" rtlCol="0" anchor="ctr"/>
          <a:lstStyle/>
          <a:p>
            <a:pPr algn="ctr" indent="0" marL="0">
              <a:buNone/>
            </a:pPr>
            <a:r>
              <a:rPr lang="en-US" sz="1050" b="1" dirty="0">
                <a:solidFill>
                  <a:srgbClr val="2F5D8A"/>
                </a:solidFill>
                <a:latin typeface="Yu Gothic" pitchFamily="34" charset="0"/>
                <a:ea typeface="Yu Gothic" pitchFamily="34" charset="-122"/>
                <a:cs typeface="Yu Gothic" pitchFamily="34" charset="-120"/>
              </a:rPr>
              <a:t>AI</a:t>
            </a:r>
            <a:endParaRPr lang="en-US" sz="1050" dirty="0"/>
          </a:p>
        </p:txBody>
      </p:sp>
      <p:sp>
        <p:nvSpPr>
          <p:cNvPr id="12" name="Text 10"/>
          <p:cNvSpPr txBox="1"/>
          <p:nvPr/>
        </p:nvSpPr>
        <p:spPr>
          <a:xfrm>
            <a:off x="2487168" y="2542032"/>
            <a:ext cx="1325880" cy="731520"/>
          </a:xfrm>
          <a:prstGeom prst="rect">
            <a:avLst/>
          </a:prstGeom>
          <a:noFill/>
          <a:ln/>
        </p:spPr>
        <p:txBody>
          <a:bodyPr wrap="square" lIns="0" tIns="0" rIns="0" bIns="0" rtlCol="0" anchor="t"/>
          <a:lstStyle/>
          <a:p>
            <a:pPr algn="ctr" indent="0" marL="0">
              <a:buNone/>
            </a:pPr>
            <a:r>
              <a:rPr lang="en-US" sz="1050" dirty="0">
                <a:solidFill>
                  <a:srgbClr val="1F1E1D"/>
                </a:solidFill>
                <a:latin typeface="Yu Gothic" pitchFamily="34" charset="0"/>
                <a:ea typeface="Yu Gothic" pitchFamily="34" charset="-122"/>
                <a:cs typeface="Yu Gothic" pitchFamily="34" charset="-120"/>
              </a:rPr>
              <a:t>実装＋自動テスト</a:t>
            </a:r>
            <a:endParaRPr lang="en-US" sz="1050" dirty="0"/>
          </a:p>
          <a:p>
            <a:pPr algn="ctr" indent="0" marL="0">
              <a:buNone/>
            </a:pPr>
            <a:r>
              <a:rPr lang="en-US" sz="1050" dirty="0">
                <a:solidFill>
                  <a:srgbClr val="1F1E1D"/>
                </a:solidFill>
                <a:latin typeface="Yu Gothic" pitchFamily="34" charset="0"/>
                <a:ea typeface="Yu Gothic" pitchFamily="34" charset="-122"/>
                <a:cs typeface="Yu Gothic" pitchFamily="34" charset="-120"/>
              </a:rPr>
              <a:t>（Playwright）</a:t>
            </a:r>
            <a:endParaRPr lang="en-US" sz="1050" dirty="0"/>
          </a:p>
        </p:txBody>
      </p:sp>
      <p:sp>
        <p:nvSpPr>
          <p:cNvPr id="13" name="Shape 11"/>
          <p:cNvSpPr/>
          <p:nvPr/>
        </p:nvSpPr>
        <p:spPr>
          <a:xfrm>
            <a:off x="3877056" y="2606040"/>
            <a:ext cx="219456" cy="310896"/>
          </a:xfrm>
          <a:prstGeom prst="rightArrow">
            <a:avLst/>
          </a:prstGeom>
          <a:solidFill>
            <a:srgbClr val="D9CFC2"/>
          </a:solidFill>
          <a:ln w="12700">
            <a:solidFill>
              <a:srgbClr val="D9CFC2"/>
            </a:solidFill>
            <a:prstDash val="solid"/>
          </a:ln>
        </p:spPr>
      </p:sp>
      <p:sp>
        <p:nvSpPr>
          <p:cNvPr id="14" name="Shape 12"/>
          <p:cNvSpPr/>
          <p:nvPr/>
        </p:nvSpPr>
        <p:spPr>
          <a:xfrm>
            <a:off x="4105656" y="2194560"/>
            <a:ext cx="1417320" cy="1143000"/>
          </a:xfrm>
          <a:prstGeom prst="roundRect">
            <a:avLst>
              <a:gd name="adj" fmla="val 8000"/>
            </a:avLst>
          </a:prstGeom>
          <a:solidFill>
            <a:srgbClr val="EEF3FB"/>
          </a:solidFill>
          <a:ln w="12700">
            <a:solidFill>
              <a:srgbClr val="EEF3FB"/>
            </a:solidFill>
            <a:prstDash val="solid"/>
          </a:ln>
        </p:spPr>
      </p:sp>
      <p:sp>
        <p:nvSpPr>
          <p:cNvPr id="15" name="Text 13"/>
          <p:cNvSpPr txBox="1"/>
          <p:nvPr/>
        </p:nvSpPr>
        <p:spPr>
          <a:xfrm>
            <a:off x="4105656" y="2258568"/>
            <a:ext cx="1417320" cy="274320"/>
          </a:xfrm>
          <a:prstGeom prst="rect">
            <a:avLst/>
          </a:prstGeom>
          <a:noFill/>
          <a:ln/>
        </p:spPr>
        <p:txBody>
          <a:bodyPr wrap="square" lIns="0" tIns="0" rIns="0" bIns="0" rtlCol="0" anchor="ctr"/>
          <a:lstStyle/>
          <a:p>
            <a:pPr algn="ctr" indent="0" marL="0">
              <a:buNone/>
            </a:pPr>
            <a:r>
              <a:rPr lang="en-US" sz="1050" b="1" dirty="0">
                <a:solidFill>
                  <a:srgbClr val="2F5D8A"/>
                </a:solidFill>
                <a:latin typeface="Yu Gothic" pitchFamily="34" charset="0"/>
                <a:ea typeface="Yu Gothic" pitchFamily="34" charset="-122"/>
                <a:cs typeface="Yu Gothic" pitchFamily="34" charset="-120"/>
              </a:rPr>
              <a:t>AI</a:t>
            </a:r>
            <a:endParaRPr lang="en-US" sz="1050" dirty="0"/>
          </a:p>
        </p:txBody>
      </p:sp>
      <p:sp>
        <p:nvSpPr>
          <p:cNvPr id="16" name="Text 14"/>
          <p:cNvSpPr txBox="1"/>
          <p:nvPr/>
        </p:nvSpPr>
        <p:spPr>
          <a:xfrm>
            <a:off x="4151376" y="2542032"/>
            <a:ext cx="1325880" cy="731520"/>
          </a:xfrm>
          <a:prstGeom prst="rect">
            <a:avLst/>
          </a:prstGeom>
          <a:noFill/>
          <a:ln/>
        </p:spPr>
        <p:txBody>
          <a:bodyPr wrap="square" lIns="0" tIns="0" rIns="0" bIns="0" rtlCol="0" anchor="t"/>
          <a:lstStyle/>
          <a:p>
            <a:pPr algn="ctr" indent="0" marL="0">
              <a:buNone/>
            </a:pPr>
            <a:r>
              <a:rPr lang="en-US" sz="1050" dirty="0">
                <a:solidFill>
                  <a:srgbClr val="1F1E1D"/>
                </a:solidFill>
                <a:latin typeface="Yu Gothic" pitchFamily="34" charset="0"/>
                <a:ea typeface="Yu Gothic" pitchFamily="34" charset="-122"/>
                <a:cs typeface="Yu Gothic" pitchFamily="34" charset="-120"/>
              </a:rPr>
              <a:t>コミット＆</a:t>
            </a:r>
            <a:endParaRPr lang="en-US" sz="1050" dirty="0"/>
          </a:p>
          <a:p>
            <a:pPr algn="ctr" indent="0" marL="0">
              <a:buNone/>
            </a:pPr>
            <a:r>
              <a:rPr lang="en-US" sz="1050" dirty="0">
                <a:solidFill>
                  <a:srgbClr val="1F1E1D"/>
                </a:solidFill>
                <a:latin typeface="Yu Gothic" pitchFamily="34" charset="0"/>
                <a:ea typeface="Yu Gothic" pitchFamily="34" charset="-122"/>
                <a:cs typeface="Yu Gothic" pitchFamily="34" charset="-120"/>
              </a:rPr>
              <a:t>本番デプロイ</a:t>
            </a:r>
            <a:endParaRPr lang="en-US" sz="1050" dirty="0"/>
          </a:p>
        </p:txBody>
      </p:sp>
      <p:sp>
        <p:nvSpPr>
          <p:cNvPr id="17" name="Shape 15"/>
          <p:cNvSpPr/>
          <p:nvPr/>
        </p:nvSpPr>
        <p:spPr>
          <a:xfrm>
            <a:off x="5541264" y="2606040"/>
            <a:ext cx="219456" cy="310896"/>
          </a:xfrm>
          <a:prstGeom prst="rightArrow">
            <a:avLst/>
          </a:prstGeom>
          <a:solidFill>
            <a:srgbClr val="D9CFC2"/>
          </a:solidFill>
          <a:ln w="12700">
            <a:solidFill>
              <a:srgbClr val="D9CFC2"/>
            </a:solidFill>
            <a:prstDash val="solid"/>
          </a:ln>
        </p:spPr>
      </p:sp>
      <p:sp>
        <p:nvSpPr>
          <p:cNvPr id="18" name="Shape 16"/>
          <p:cNvSpPr/>
          <p:nvPr/>
        </p:nvSpPr>
        <p:spPr>
          <a:xfrm>
            <a:off x="5769864" y="2194560"/>
            <a:ext cx="1417320" cy="1143000"/>
          </a:xfrm>
          <a:prstGeom prst="roundRect">
            <a:avLst>
              <a:gd name="adj" fmla="val 8000"/>
            </a:avLst>
          </a:prstGeom>
          <a:solidFill>
            <a:srgbClr val="FBEFE9"/>
          </a:solidFill>
          <a:ln w="12700">
            <a:solidFill>
              <a:srgbClr val="FBEFE9"/>
            </a:solidFill>
            <a:prstDash val="solid"/>
          </a:ln>
        </p:spPr>
      </p:sp>
      <p:sp>
        <p:nvSpPr>
          <p:cNvPr id="19" name="Text 17"/>
          <p:cNvSpPr txBox="1"/>
          <p:nvPr/>
        </p:nvSpPr>
        <p:spPr>
          <a:xfrm>
            <a:off x="5769864" y="2258568"/>
            <a:ext cx="1417320" cy="274320"/>
          </a:xfrm>
          <a:prstGeom prst="rect">
            <a:avLst/>
          </a:prstGeom>
          <a:noFill/>
          <a:ln/>
        </p:spPr>
        <p:txBody>
          <a:bodyPr wrap="square" lIns="0" tIns="0" rIns="0" bIns="0" rtlCol="0" anchor="ctr"/>
          <a:lstStyle/>
          <a:p>
            <a:pPr algn="ctr" indent="0" marL="0">
              <a:buNone/>
            </a:pPr>
            <a:r>
              <a:rPr lang="en-US" sz="1050" b="1" dirty="0">
                <a:solidFill>
                  <a:srgbClr val="C6613F"/>
                </a:solidFill>
                <a:latin typeface="Yu Gothic" pitchFamily="34" charset="0"/>
                <a:ea typeface="Yu Gothic" pitchFamily="34" charset="-122"/>
                <a:cs typeface="Yu Gothic" pitchFamily="34" charset="-120"/>
              </a:rPr>
              <a:t>人間</a:t>
            </a:r>
            <a:endParaRPr lang="en-US" sz="1050" dirty="0"/>
          </a:p>
        </p:txBody>
      </p:sp>
      <p:sp>
        <p:nvSpPr>
          <p:cNvPr id="20" name="Text 18"/>
          <p:cNvSpPr txBox="1"/>
          <p:nvPr/>
        </p:nvSpPr>
        <p:spPr>
          <a:xfrm>
            <a:off x="5815584" y="2542032"/>
            <a:ext cx="1325880" cy="731520"/>
          </a:xfrm>
          <a:prstGeom prst="rect">
            <a:avLst/>
          </a:prstGeom>
          <a:noFill/>
          <a:ln/>
        </p:spPr>
        <p:txBody>
          <a:bodyPr wrap="square" lIns="0" tIns="0" rIns="0" bIns="0" rtlCol="0" anchor="t"/>
          <a:lstStyle/>
          <a:p>
            <a:pPr algn="ctr" indent="0" marL="0">
              <a:buNone/>
            </a:pPr>
            <a:r>
              <a:rPr lang="en-US" sz="1050" dirty="0">
                <a:solidFill>
                  <a:srgbClr val="1F1E1D"/>
                </a:solidFill>
                <a:latin typeface="Yu Gothic" pitchFamily="34" charset="0"/>
                <a:ea typeface="Yu Gothic" pitchFamily="34" charset="-122"/>
                <a:cs typeface="Yu Gothic" pitchFamily="34" charset="-120"/>
              </a:rPr>
              <a:t>実機で検証</a:t>
            </a:r>
            <a:endParaRPr lang="en-US" sz="1050" dirty="0"/>
          </a:p>
          <a:p>
            <a:pPr algn="ctr" indent="0" marL="0">
              <a:buNone/>
            </a:pPr>
            <a:r>
              <a:rPr lang="en-US" sz="1050" dirty="0">
                <a:solidFill>
                  <a:srgbClr val="1F1E1D"/>
                </a:solidFill>
                <a:latin typeface="Yu Gothic" pitchFamily="34" charset="0"/>
                <a:ea typeface="Yu Gothic" pitchFamily="34" charset="-122"/>
                <a:cs typeface="Yu Gothic" pitchFamily="34" charset="-120"/>
              </a:rPr>
              <a:t>採用／差し戻し</a:t>
            </a:r>
            <a:endParaRPr lang="en-US" sz="1050" dirty="0"/>
          </a:p>
        </p:txBody>
      </p:sp>
      <p:sp>
        <p:nvSpPr>
          <p:cNvPr id="21" name="Text 19"/>
          <p:cNvSpPr txBox="1"/>
          <p:nvPr/>
        </p:nvSpPr>
        <p:spPr>
          <a:xfrm>
            <a:off x="777240" y="3520440"/>
            <a:ext cx="6492240" cy="685800"/>
          </a:xfrm>
          <a:prstGeom prst="rect">
            <a:avLst/>
          </a:prstGeom>
          <a:noFill/>
          <a:ln/>
        </p:spPr>
        <p:txBody>
          <a:bodyPr wrap="square" lIns="0" tIns="0" rIns="0" bIns="0" rtlCol="0" anchor="t"/>
          <a:lstStyle/>
          <a:p>
            <a:pPr algn="l" indent="0" marL="0">
              <a:buNone/>
            </a:pPr>
            <a:r>
              <a:rPr lang="en-US" sz="1200" dirty="0">
                <a:solidFill>
                  <a:srgbClr val="1F1E1D"/>
                </a:solidFill>
                <a:latin typeface="Yu Gothic" pitchFamily="34" charset="0"/>
                <a:ea typeface="Yu Gothic" pitchFamily="34" charset="-122"/>
                <a:cs typeface="Yu Gothic" pitchFamily="34" charset="-120"/>
              </a:rPr>
              <a:t>このループを </a:t>
            </a:r>
            <a:pPr algn="l" indent="0" marL="0">
              <a:buNone/>
            </a:pPr>
            <a:r>
              <a:rPr lang="en-US" sz="1200" b="1" dirty="0">
                <a:solidFill>
                  <a:srgbClr val="C6613F"/>
                </a:solidFill>
                <a:latin typeface="Yu Gothic" pitchFamily="34" charset="0"/>
                <a:ea typeface="Yu Gothic" pitchFamily="34" charset="-122"/>
                <a:cs typeface="Yu Gothic" pitchFamily="34" charset="-120"/>
              </a:rPr>
              <a:t>295回転</a:t>
            </a:r>
            <a:pPr algn="l" indent="0" marL="0">
              <a:buNone/>
            </a:pPr>
            <a:r>
              <a:rPr lang="en-US" sz="1200" dirty="0">
                <a:solidFill>
                  <a:srgbClr val="1F1E1D"/>
                </a:solidFill>
                <a:latin typeface="Yu Gothic" pitchFamily="34" charset="0"/>
                <a:ea typeface="Yu Gothic" pitchFamily="34" charset="-122"/>
                <a:cs typeface="Yu Gothic" pitchFamily="34" charset="-120"/>
              </a:rPr>
              <a:t>（v1〜v295）。仕様書・デザイン案は画像のまま渡し、守るべき決め事は </a:t>
            </a:r>
            <a:pPr algn="l" indent="0" marL="0">
              <a:buNone/>
            </a:pPr>
            <a:r>
              <a:rPr lang="en-US" sz="1200" b="1" dirty="0">
                <a:solidFill>
                  <a:srgbClr val="1F1E1D"/>
                </a:solidFill>
                <a:latin typeface="Yu Gothic" pitchFamily="34" charset="0"/>
                <a:ea typeface="Yu Gothic" pitchFamily="34" charset="-122"/>
                <a:cs typeface="Yu Gothic" pitchFamily="34" charset="-120"/>
              </a:rPr>
              <a:t>CLAUDE.md</a:t>
            </a:r>
            <a:pPr algn="l" indent="0" marL="0">
              <a:buNone/>
            </a:pPr>
            <a:r>
              <a:rPr lang="en-US" sz="1200" dirty="0">
                <a:solidFill>
                  <a:srgbClr val="1F1E1D"/>
                </a:solidFill>
                <a:latin typeface="Yu Gothic" pitchFamily="34" charset="0"/>
                <a:ea typeface="Yu Gothic" pitchFamily="34" charset="-122"/>
                <a:cs typeface="Yu Gothic" pitchFamily="34" charset="-120"/>
              </a:rPr>
              <a:t> に明文化して全会話で共有。</a:t>
            </a:r>
            <a:endParaRPr lang="en-US" sz="1200" dirty="0"/>
          </a:p>
        </p:txBody>
      </p:sp>
      <p:sp>
        <p:nvSpPr>
          <p:cNvPr id="22" name="Text 20"/>
          <p:cNvSpPr txBox="1"/>
          <p:nvPr/>
        </p:nvSpPr>
        <p:spPr>
          <a:xfrm>
            <a:off x="777240" y="4297680"/>
            <a:ext cx="6492240" cy="1828800"/>
          </a:xfrm>
          <a:prstGeom prst="rect">
            <a:avLst/>
          </a:prstGeom>
          <a:noFill/>
          <a:ln/>
        </p:spPr>
        <p:txBody>
          <a:bodyPr wrap="square" lIns="0" tIns="0" rIns="0" bIns="0" rtlCol="0" anchor="t"/>
          <a:lstStyle/>
          <a:p>
            <a:pPr marL="342900" indent="-342900">
              <a:spcAft>
                <a:spcPts val="500"/>
              </a:spcAft>
              <a:buSzPct val="100000"/>
              <a:buChar char="•"/>
            </a:pPr>
            <a:r>
              <a:rPr lang="en-US" sz="1200" dirty="0">
                <a:solidFill>
                  <a:srgbClr val="1F1E1D"/>
                </a:solidFill>
                <a:latin typeface="Yu Gothic" pitchFamily="34" charset="0"/>
                <a:ea typeface="Yu Gothic" pitchFamily="34" charset="-122"/>
                <a:cs typeface="Yu Gothic" pitchFamily="34" charset="-120"/>
              </a:rPr>
              <a:t>目的：実装速度ではなく「判断の回数」を最大化する。1日で十数回、実機で試して直す</a:t>
            </a:r>
            <a:endParaRPr lang="en-US" sz="1200" dirty="0"/>
          </a:p>
          <a:p>
            <a:pPr marL="342900" indent="-342900">
              <a:spcAft>
                <a:spcPts val="500"/>
              </a:spcAft>
              <a:buSzPct val="100000"/>
              <a:buChar char="•"/>
            </a:pPr>
            <a:r>
              <a:rPr lang="en-US" sz="1200" dirty="0">
                <a:solidFill>
                  <a:srgbClr val="1F1E1D"/>
                </a:solidFill>
                <a:latin typeface="Yu Gothic" pitchFamily="34" charset="0"/>
                <a:ea typeface="Yu Gothic" pitchFamily="34" charset="-122"/>
                <a:cs typeface="Yu Gothic" pitchFamily="34" charset="-120"/>
              </a:rPr>
              <a:t>人の役割：要望・検証・採否の決定。AIの役割：実装・テスト・デプロイ・原因調査</a:t>
            </a:r>
            <a:endParaRPr lang="en-US" sz="1200" dirty="0"/>
          </a:p>
          <a:p>
            <a:pPr marL="342900" indent="-342900">
              <a:spcAft>
                <a:spcPts val="500"/>
              </a:spcAft>
              <a:buSzPct val="100000"/>
              <a:buChar char="•"/>
            </a:pPr>
            <a:r>
              <a:rPr lang="en-US" sz="1200" dirty="0">
                <a:solidFill>
                  <a:srgbClr val="1F1E1D"/>
                </a:solidFill>
                <a:latin typeface="Yu Gothic" pitchFamily="34" charset="0"/>
                <a:ea typeface="Yu Gothic" pitchFamily="34" charset="-122"/>
                <a:cs typeface="Yu Gothic" pitchFamily="34" charset="-120"/>
              </a:rPr>
              <a:t>自動テスト（Playwright）で回帰を防ぎ、本番デプロイまでAIが完結</a:t>
            </a:r>
            <a:endParaRPr lang="en-US" sz="1200" dirty="0"/>
          </a:p>
        </p:txBody>
      </p:sp>
      <p:sp>
        <p:nvSpPr>
          <p:cNvPr id="23" name="Shape 21"/>
          <p:cNvSpPr/>
          <p:nvPr/>
        </p:nvSpPr>
        <p:spPr>
          <a:xfrm>
            <a:off x="7726680" y="1508760"/>
            <a:ext cx="3913632" cy="4754880"/>
          </a:xfrm>
          <a:prstGeom prst="roundRect">
            <a:avLst>
              <a:gd name="adj" fmla="val 2804"/>
            </a:avLst>
          </a:prstGeom>
          <a:solidFill>
            <a:srgbClr val="FFFFFF"/>
          </a:solidFill>
          <a:ln w="12700">
            <a:solidFill>
              <a:srgbClr val="EAE3D8"/>
            </a:solidFill>
            <a:prstDash val="solid"/>
          </a:ln>
          <a:effectLst>
            <a:outerShdw sx="100000" sy="100000" kx="0" ky="0" algn="bl" rotWithShape="0" blurRad="76200" dist="25400" dir="5400000">
              <a:srgbClr val="000000">
                <a:alpha val="12000"/>
              </a:srgbClr>
            </a:outerShdw>
          </a:effectLst>
        </p:spPr>
      </p:sp>
      <p:sp>
        <p:nvSpPr>
          <p:cNvPr id="24" name="Text 22"/>
          <p:cNvSpPr txBox="1"/>
          <p:nvPr/>
        </p:nvSpPr>
        <p:spPr>
          <a:xfrm>
            <a:off x="7955280" y="1645920"/>
            <a:ext cx="3566160" cy="594360"/>
          </a:xfrm>
          <a:prstGeom prst="rect">
            <a:avLst/>
          </a:prstGeom>
          <a:noFill/>
          <a:ln/>
        </p:spPr>
        <p:txBody>
          <a:bodyPr wrap="square" lIns="0" tIns="0" rIns="0" bIns="0" rtlCol="0" anchor="ctr"/>
          <a:lstStyle/>
          <a:p>
            <a:pPr indent="0" marL="0">
              <a:buNone/>
            </a:pPr>
            <a:r>
              <a:rPr lang="en-US" sz="1400" b="1" dirty="0">
                <a:solidFill>
                  <a:srgbClr val="1F1E1D"/>
                </a:solidFill>
                <a:latin typeface="Yu Gothic" pitchFamily="34" charset="0"/>
                <a:ea typeface="Yu Gothic" pitchFamily="34" charset="-122"/>
                <a:cs typeface="Yu Gothic" pitchFamily="34" charset="-120"/>
              </a:rPr>
              <a:t>アプリ内：料理写真をAIが分類（Claude API・画像入力）</a:t>
            </a:r>
            <a:endParaRPr lang="en-US" sz="1400" dirty="0"/>
          </a:p>
        </p:txBody>
      </p:sp>
      <p:sp>
        <p:nvSpPr>
          <p:cNvPr id="25" name="Shape 23"/>
          <p:cNvSpPr/>
          <p:nvPr/>
        </p:nvSpPr>
        <p:spPr>
          <a:xfrm>
            <a:off x="7955280" y="2377440"/>
            <a:ext cx="457200" cy="457200"/>
          </a:xfrm>
          <a:prstGeom prst="ellipse">
            <a:avLst/>
          </a:prstGeom>
          <a:solidFill>
            <a:srgbClr val="FBEFE9"/>
          </a:solidFill>
          <a:ln w="12700">
            <a:solidFill>
              <a:srgbClr val="FBEFE9"/>
            </a:solidFill>
            <a:prstDash val="solid"/>
          </a:ln>
        </p:spPr>
      </p:sp>
      <p:sp>
        <p:nvSpPr>
          <p:cNvPr id="26" name="Text 24"/>
          <p:cNvSpPr txBox="1"/>
          <p:nvPr/>
        </p:nvSpPr>
        <p:spPr>
          <a:xfrm>
            <a:off x="7955280" y="2377440"/>
            <a:ext cx="457200" cy="457200"/>
          </a:xfrm>
          <a:prstGeom prst="rect">
            <a:avLst/>
          </a:prstGeom>
          <a:noFill/>
          <a:ln/>
        </p:spPr>
        <p:txBody>
          <a:bodyPr wrap="square" lIns="0" tIns="0" rIns="0" bIns="0" rtlCol="0" anchor="ctr"/>
          <a:lstStyle/>
          <a:p>
            <a:pPr algn="ctr" indent="0" marL="0">
              <a:buNone/>
            </a:pPr>
            <a:r>
              <a:rPr lang="en-US" sz="1500" dirty="0">
                <a:solidFill>
                  <a:srgbClr val="000000"/>
                </a:solidFill>
              </a:rPr>
              <a:t>📷</a:t>
            </a:r>
            <a:endParaRPr lang="en-US" sz="1500" dirty="0"/>
          </a:p>
        </p:txBody>
      </p:sp>
      <p:sp>
        <p:nvSpPr>
          <p:cNvPr id="27" name="Text 25"/>
          <p:cNvSpPr txBox="1"/>
          <p:nvPr/>
        </p:nvSpPr>
        <p:spPr>
          <a:xfrm>
            <a:off x="8522208" y="2359152"/>
            <a:ext cx="3017520" cy="512064"/>
          </a:xfrm>
          <a:prstGeom prst="rect">
            <a:avLst/>
          </a:prstGeom>
          <a:noFill/>
          <a:ln/>
        </p:spPr>
        <p:txBody>
          <a:bodyPr wrap="square" lIns="0" tIns="0" rIns="0" bIns="0" rtlCol="0" anchor="ctr"/>
          <a:lstStyle/>
          <a:p>
            <a:pPr indent="0" marL="0">
              <a:buNone/>
            </a:pPr>
            <a:r>
              <a:rPr lang="en-US" sz="1150" dirty="0">
                <a:solidFill>
                  <a:srgbClr val="1F1E1D"/>
                </a:solidFill>
                <a:latin typeface="Yu Gothic" pitchFamily="34" charset="0"/>
                <a:ea typeface="Yu Gothic" pitchFamily="34" charset="-122"/>
                <a:cs typeface="Yu Gothic" pitchFamily="34" charset="-120"/>
              </a:rPr>
              <a:t>写真を768pxに縮小して送信</a:t>
            </a:r>
            <a:endParaRPr lang="en-US" sz="1150" dirty="0"/>
          </a:p>
        </p:txBody>
      </p:sp>
      <p:sp>
        <p:nvSpPr>
          <p:cNvPr id="28" name="Shape 26"/>
          <p:cNvSpPr/>
          <p:nvPr/>
        </p:nvSpPr>
        <p:spPr>
          <a:xfrm>
            <a:off x="7955280" y="3090672"/>
            <a:ext cx="457200" cy="457200"/>
          </a:xfrm>
          <a:prstGeom prst="ellipse">
            <a:avLst/>
          </a:prstGeom>
          <a:solidFill>
            <a:srgbClr val="FBEFE9"/>
          </a:solidFill>
          <a:ln w="12700">
            <a:solidFill>
              <a:srgbClr val="FBEFE9"/>
            </a:solidFill>
            <a:prstDash val="solid"/>
          </a:ln>
        </p:spPr>
      </p:sp>
      <p:sp>
        <p:nvSpPr>
          <p:cNvPr id="29" name="Text 27"/>
          <p:cNvSpPr txBox="1"/>
          <p:nvPr/>
        </p:nvSpPr>
        <p:spPr>
          <a:xfrm>
            <a:off x="7955280" y="3090672"/>
            <a:ext cx="457200" cy="457200"/>
          </a:xfrm>
          <a:prstGeom prst="rect">
            <a:avLst/>
          </a:prstGeom>
          <a:noFill/>
          <a:ln/>
        </p:spPr>
        <p:txBody>
          <a:bodyPr wrap="square" lIns="0" tIns="0" rIns="0" bIns="0" rtlCol="0" anchor="ctr"/>
          <a:lstStyle/>
          <a:p>
            <a:pPr algn="ctr" indent="0" marL="0">
              <a:buNone/>
            </a:pPr>
            <a:r>
              <a:rPr lang="en-US" sz="1500" dirty="0">
                <a:solidFill>
                  <a:srgbClr val="000000"/>
                </a:solidFill>
              </a:rPr>
              <a:t>🍜</a:t>
            </a:r>
            <a:endParaRPr lang="en-US" sz="1500" dirty="0"/>
          </a:p>
        </p:txBody>
      </p:sp>
      <p:sp>
        <p:nvSpPr>
          <p:cNvPr id="30" name="Text 28"/>
          <p:cNvSpPr txBox="1"/>
          <p:nvPr/>
        </p:nvSpPr>
        <p:spPr>
          <a:xfrm>
            <a:off x="8522208" y="3072384"/>
            <a:ext cx="3017520" cy="512064"/>
          </a:xfrm>
          <a:prstGeom prst="rect">
            <a:avLst/>
          </a:prstGeom>
          <a:noFill/>
          <a:ln/>
        </p:spPr>
        <p:txBody>
          <a:bodyPr wrap="square" lIns="0" tIns="0" rIns="0" bIns="0" rtlCol="0" anchor="ctr"/>
          <a:lstStyle/>
          <a:p>
            <a:pPr indent="0" marL="0">
              <a:buNone/>
            </a:pPr>
            <a:r>
              <a:rPr lang="en-US" sz="1150" dirty="0">
                <a:solidFill>
                  <a:srgbClr val="1F1E1D"/>
                </a:solidFill>
                <a:latin typeface="Yu Gothic" pitchFamily="34" charset="0"/>
                <a:ea typeface="Yu Gothic" pitchFamily="34" charset="-122"/>
                <a:cs typeface="Yu Gothic" pitchFamily="34" charset="-120"/>
              </a:rPr>
              <a:t>料理ジャンル（70+）と店舗ジャンルを判定</a:t>
            </a:r>
            <a:endParaRPr lang="en-US" sz="1150" dirty="0"/>
          </a:p>
        </p:txBody>
      </p:sp>
      <p:sp>
        <p:nvSpPr>
          <p:cNvPr id="31" name="Shape 29"/>
          <p:cNvSpPr/>
          <p:nvPr/>
        </p:nvSpPr>
        <p:spPr>
          <a:xfrm>
            <a:off x="7955280" y="3803904"/>
            <a:ext cx="457200" cy="457200"/>
          </a:xfrm>
          <a:prstGeom prst="ellipse">
            <a:avLst/>
          </a:prstGeom>
          <a:solidFill>
            <a:srgbClr val="FBEFE9"/>
          </a:solidFill>
          <a:ln w="12700">
            <a:solidFill>
              <a:srgbClr val="FBEFE9"/>
            </a:solidFill>
            <a:prstDash val="solid"/>
          </a:ln>
        </p:spPr>
      </p:sp>
      <p:sp>
        <p:nvSpPr>
          <p:cNvPr id="32" name="Text 30"/>
          <p:cNvSpPr txBox="1"/>
          <p:nvPr/>
        </p:nvSpPr>
        <p:spPr>
          <a:xfrm>
            <a:off x="7955280" y="3803904"/>
            <a:ext cx="457200" cy="457200"/>
          </a:xfrm>
          <a:prstGeom prst="rect">
            <a:avLst/>
          </a:prstGeom>
          <a:noFill/>
          <a:ln/>
        </p:spPr>
        <p:txBody>
          <a:bodyPr wrap="square" lIns="0" tIns="0" rIns="0" bIns="0" rtlCol="0" anchor="ctr"/>
          <a:lstStyle/>
          <a:p>
            <a:pPr algn="ctr" indent="0" marL="0">
              <a:buNone/>
            </a:pPr>
            <a:r>
              <a:rPr lang="en-US" sz="1500" dirty="0">
                <a:solidFill>
                  <a:srgbClr val="000000"/>
                </a:solidFill>
              </a:rPr>
              <a:t>❓</a:t>
            </a:r>
            <a:endParaRPr lang="en-US" sz="1500" dirty="0"/>
          </a:p>
        </p:txBody>
      </p:sp>
      <p:sp>
        <p:nvSpPr>
          <p:cNvPr id="33" name="Text 31"/>
          <p:cNvSpPr txBox="1"/>
          <p:nvPr/>
        </p:nvSpPr>
        <p:spPr>
          <a:xfrm>
            <a:off x="8522208" y="3785616"/>
            <a:ext cx="3017520" cy="512064"/>
          </a:xfrm>
          <a:prstGeom prst="rect">
            <a:avLst/>
          </a:prstGeom>
          <a:noFill/>
          <a:ln/>
        </p:spPr>
        <p:txBody>
          <a:bodyPr wrap="square" lIns="0" tIns="0" rIns="0" bIns="0" rtlCol="0" anchor="ctr"/>
          <a:lstStyle/>
          <a:p>
            <a:pPr indent="0" marL="0">
              <a:buNone/>
            </a:pPr>
            <a:r>
              <a:rPr lang="en-US" sz="1150" dirty="0">
                <a:solidFill>
                  <a:srgbClr val="1F1E1D"/>
                </a:solidFill>
                <a:latin typeface="Yu Gothic" pitchFamily="34" charset="0"/>
                <a:ea typeface="Yu Gothic" pitchFamily="34" charset="-122"/>
                <a:cs typeface="Yu Gothic" pitchFamily="34" charset="-120"/>
              </a:rPr>
              <a:t>自信がなければ空欄→人が選ぶ</a:t>
            </a:r>
            <a:endParaRPr lang="en-US" sz="1150" dirty="0"/>
          </a:p>
        </p:txBody>
      </p:sp>
      <p:sp>
        <p:nvSpPr>
          <p:cNvPr id="34" name="Shape 32"/>
          <p:cNvSpPr/>
          <p:nvPr/>
        </p:nvSpPr>
        <p:spPr>
          <a:xfrm>
            <a:off x="7955280" y="4517136"/>
            <a:ext cx="457200" cy="457200"/>
          </a:xfrm>
          <a:prstGeom prst="ellipse">
            <a:avLst/>
          </a:prstGeom>
          <a:solidFill>
            <a:srgbClr val="FBEFE9"/>
          </a:solidFill>
          <a:ln w="12700">
            <a:solidFill>
              <a:srgbClr val="FBEFE9"/>
            </a:solidFill>
            <a:prstDash val="solid"/>
          </a:ln>
        </p:spPr>
      </p:sp>
      <p:sp>
        <p:nvSpPr>
          <p:cNvPr id="35" name="Text 33"/>
          <p:cNvSpPr txBox="1"/>
          <p:nvPr/>
        </p:nvSpPr>
        <p:spPr>
          <a:xfrm>
            <a:off x="7955280" y="4517136"/>
            <a:ext cx="457200" cy="457200"/>
          </a:xfrm>
          <a:prstGeom prst="rect">
            <a:avLst/>
          </a:prstGeom>
          <a:noFill/>
          <a:ln/>
        </p:spPr>
        <p:txBody>
          <a:bodyPr wrap="square" lIns="0" tIns="0" rIns="0" bIns="0" rtlCol="0" anchor="ctr"/>
          <a:lstStyle/>
          <a:p>
            <a:pPr algn="ctr" indent="0" marL="0">
              <a:buNone/>
            </a:pPr>
            <a:r>
              <a:rPr lang="en-US" sz="1500" dirty="0">
                <a:solidFill>
                  <a:srgbClr val="000000"/>
                </a:solidFill>
              </a:rPr>
              <a:t>🗺</a:t>
            </a:r>
            <a:endParaRPr lang="en-US" sz="1500" dirty="0"/>
          </a:p>
        </p:txBody>
      </p:sp>
      <p:sp>
        <p:nvSpPr>
          <p:cNvPr id="36" name="Text 34"/>
          <p:cNvSpPr txBox="1"/>
          <p:nvPr/>
        </p:nvSpPr>
        <p:spPr>
          <a:xfrm>
            <a:off x="8522208" y="4498848"/>
            <a:ext cx="3017520" cy="512064"/>
          </a:xfrm>
          <a:prstGeom prst="rect">
            <a:avLst/>
          </a:prstGeom>
          <a:noFill/>
          <a:ln/>
        </p:spPr>
        <p:txBody>
          <a:bodyPr wrap="square" lIns="0" tIns="0" rIns="0" bIns="0" rtlCol="0" anchor="ctr"/>
          <a:lstStyle/>
          <a:p>
            <a:pPr indent="0" marL="0">
              <a:buNone/>
            </a:pPr>
            <a:r>
              <a:rPr lang="en-US" sz="1150" dirty="0">
                <a:solidFill>
                  <a:srgbClr val="1F1E1D"/>
                </a:solidFill>
                <a:latin typeface="Yu Gothic" pitchFamily="34" charset="0"/>
                <a:ea typeface="Yu Gothic" pitchFamily="34" charset="-122"/>
                <a:cs typeface="Yu Gothic" pitchFamily="34" charset="-120"/>
              </a:rPr>
              <a:t>キー未設定でもOSMタグ推定へ自動フォールバック</a:t>
            </a:r>
            <a:endParaRPr lang="en-US" sz="1150" dirty="0"/>
          </a:p>
        </p:txBody>
      </p:sp>
      <p:sp>
        <p:nvSpPr>
          <p:cNvPr id="37" name="Text 35"/>
          <p:cNvSpPr txBox="1"/>
          <p:nvPr/>
        </p:nvSpPr>
        <p:spPr>
          <a:xfrm>
            <a:off x="7955280" y="5257800"/>
            <a:ext cx="3520440" cy="914400"/>
          </a:xfrm>
          <a:prstGeom prst="rect">
            <a:avLst/>
          </a:prstGeom>
          <a:noFill/>
          <a:ln/>
        </p:spPr>
        <p:txBody>
          <a:bodyPr wrap="square" lIns="0" tIns="0" rIns="0" bIns="0" rtlCol="0" anchor="t"/>
          <a:lstStyle/>
          <a:p>
            <a:pPr algn="l" indent="0" marL="0">
              <a:buNone/>
            </a:pPr>
            <a:r>
              <a:rPr lang="en-US" sz="1150" b="1" dirty="0">
                <a:solidFill>
                  <a:srgbClr val="C6613F"/>
                </a:solidFill>
                <a:latin typeface="Yu Gothic" pitchFamily="34" charset="0"/>
                <a:ea typeface="Yu Gothic" pitchFamily="34" charset="-122"/>
                <a:cs typeface="Yu Gothic" pitchFamily="34" charset="-120"/>
              </a:rPr>
              <a:t>目的：</a:t>
            </a:r>
            <a:pPr algn="l" indent="0" marL="0">
              <a:buNone/>
            </a:pPr>
            <a:r>
              <a:rPr lang="en-US" sz="1150" dirty="0">
                <a:solidFill>
                  <a:srgbClr val="1F1E1D"/>
                </a:solidFill>
                <a:latin typeface="Yu Gothic" pitchFamily="34" charset="0"/>
                <a:ea typeface="Yu Gothic" pitchFamily="34" charset="-122"/>
                <a:cs typeface="Yu Gothic" pitchFamily="34" charset="-120"/>
              </a:rPr>
              <a:t>記録の手間を「店名と★だけ」に減らす。AIは提案役、決定は利用者。判定は利用者自身のAPIキーで実行。</a:t>
            </a:r>
            <a:endParaRPr lang="en-US" sz="1150" dirty="0"/>
          </a:p>
        </p:txBody>
      </p:sp>
      <p:sp>
        <p:nvSpPr>
          <p:cNvPr id="38" name="Text 36"/>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8A857D"/>
                </a:solidFill>
                <a:latin typeface="Yu Gothic" pitchFamily="34" charset="0"/>
                <a:ea typeface="Yu Gothic" pitchFamily="34" charset="-122"/>
                <a:cs typeface="Yu Gothic" pitchFamily="34" charset="-120"/>
              </a:rPr>
              <a:t>BITEMAP ｜ 2026 AI Innovators Cup @ Shibaura 決勝</a:t>
            </a:r>
            <a:endParaRPr lang="en-US" sz="900" dirty="0"/>
          </a:p>
        </p:txBody>
      </p:sp>
      <p:sp>
        <p:nvSpPr>
          <p:cNvPr id="39" name="Text 37"/>
          <p:cNvSpPr txBox="1"/>
          <p:nvPr/>
        </p:nvSpPr>
        <p:spPr>
          <a:xfrm>
            <a:off x="11155680" y="6446520"/>
            <a:ext cx="457200" cy="274320"/>
          </a:xfrm>
          <a:prstGeom prst="rect">
            <a:avLst/>
          </a:prstGeom>
          <a:noFill/>
          <a:ln/>
        </p:spPr>
        <p:txBody>
          <a:bodyPr wrap="square" lIns="0" tIns="0" rIns="0" bIns="0" rtlCol="0" anchor="ctr"/>
          <a:lstStyle/>
          <a:p>
            <a:pPr algn="r" indent="0" marL="0">
              <a:buNone/>
            </a:pPr>
            <a:r>
              <a:rPr lang="en-US" sz="900" dirty="0">
                <a:solidFill>
                  <a:srgbClr val="8A857D"/>
                </a:solidFill>
                <a:latin typeface="Yu Gothic" pitchFamily="34" charset="0"/>
                <a:ea typeface="Yu Gothic" pitchFamily="34" charset="-122"/>
                <a:cs typeface="Yu Gothic" pitchFamily="34" charset="-120"/>
              </a:rPr>
              <a:t>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7315200" cy="320040"/>
          </a:xfrm>
          <a:prstGeom prst="rect">
            <a:avLst/>
          </a:prstGeom>
          <a:noFill/>
          <a:ln/>
        </p:spPr>
        <p:txBody>
          <a:bodyPr wrap="square" lIns="0" tIns="0" rIns="0" bIns="0" rtlCol="0" anchor="ctr"/>
          <a:lstStyle/>
          <a:p>
            <a:pPr indent="0" marL="0">
              <a:buNone/>
            </a:pPr>
            <a:r>
              <a:rPr lang="en-US" sz="1300" b="1" spc="200" kern="0" dirty="0">
                <a:solidFill>
                  <a:srgbClr val="C6613F"/>
                </a:solidFill>
                <a:latin typeface="Yu Gothic" pitchFamily="34" charset="0"/>
                <a:ea typeface="Yu Gothic" pitchFamily="34" charset="-122"/>
                <a:cs typeface="Yu Gothic" pitchFamily="34" charset="-120"/>
              </a:rPr>
              <a:t>補足 ｜ 審査観点 ② プロンプト設計（詳細）</a:t>
            </a:r>
            <a:endParaRPr lang="en-US" sz="1300" dirty="0"/>
          </a:p>
        </p:txBody>
      </p:sp>
      <p:sp>
        <p:nvSpPr>
          <p:cNvPr id="3" name="Text 1"/>
          <p:cNvSpPr txBox="1"/>
          <p:nvPr/>
        </p:nvSpPr>
        <p:spPr>
          <a:xfrm>
            <a:off x="548640" y="621792"/>
            <a:ext cx="11064240" cy="685800"/>
          </a:xfrm>
          <a:prstGeom prst="rect">
            <a:avLst/>
          </a:prstGeom>
          <a:noFill/>
          <a:ln/>
        </p:spPr>
        <p:txBody>
          <a:bodyPr wrap="square" lIns="0" tIns="0" rIns="0" bIns="0" rtlCol="0" anchor="ctr"/>
          <a:lstStyle/>
          <a:p>
            <a:pPr indent="0" marL="0">
              <a:buNone/>
            </a:pPr>
            <a:r>
              <a:rPr lang="en-US" sz="3000" b="1" dirty="0">
                <a:solidFill>
                  <a:srgbClr val="1F1E1D"/>
                </a:solidFill>
                <a:latin typeface="Yu Gothic" pitchFamily="34" charset="0"/>
                <a:ea typeface="Yu Gothic" pitchFamily="34" charset="-122"/>
                <a:cs typeface="Yu Gothic" pitchFamily="34" charset="-120"/>
              </a:rPr>
              <a:t>プロンプト設計 ― ルールは文書に、要望は現象で</a:t>
            </a:r>
            <a:endParaRPr lang="en-US" sz="3000" dirty="0"/>
          </a:p>
        </p:txBody>
      </p:sp>
      <p:sp>
        <p:nvSpPr>
          <p:cNvPr id="4" name="Shape 2"/>
          <p:cNvSpPr/>
          <p:nvPr/>
        </p:nvSpPr>
        <p:spPr>
          <a:xfrm>
            <a:off x="548640" y="1508760"/>
            <a:ext cx="5669280" cy="4754880"/>
          </a:xfrm>
          <a:prstGeom prst="roundRect">
            <a:avLst>
              <a:gd name="adj" fmla="val 2308"/>
            </a:avLst>
          </a:prstGeom>
          <a:solidFill>
            <a:srgbClr val="FFFFFF"/>
          </a:solidFill>
          <a:ln w="12700">
            <a:solidFill>
              <a:srgbClr val="EAE3D8"/>
            </a:solidFill>
            <a:prstDash val="solid"/>
          </a:ln>
          <a:effectLst>
            <a:outerShdw sx="100000" sy="100000" kx="0" ky="0" algn="bl" rotWithShape="0" blurRad="76200" dist="25400" dir="5400000">
              <a:srgbClr val="000000">
                <a:alpha val="12000"/>
              </a:srgbClr>
            </a:outerShdw>
          </a:effectLst>
        </p:spPr>
      </p:sp>
      <p:sp>
        <p:nvSpPr>
          <p:cNvPr id="5" name="Text 3"/>
          <p:cNvSpPr txBox="1"/>
          <p:nvPr/>
        </p:nvSpPr>
        <p:spPr>
          <a:xfrm>
            <a:off x="777240" y="1645920"/>
            <a:ext cx="5303520" cy="365760"/>
          </a:xfrm>
          <a:prstGeom prst="rect">
            <a:avLst/>
          </a:prstGeom>
          <a:noFill/>
          <a:ln/>
        </p:spPr>
        <p:txBody>
          <a:bodyPr wrap="square" lIns="0" tIns="0" rIns="0" bIns="0" rtlCol="0" anchor="ctr"/>
          <a:lstStyle/>
          <a:p>
            <a:pPr indent="0" marL="0">
              <a:buNone/>
            </a:pPr>
            <a:r>
              <a:rPr lang="en-US" sz="1400" b="1" dirty="0">
                <a:solidFill>
                  <a:srgbClr val="1F1E1D"/>
                </a:solidFill>
                <a:latin typeface="Yu Gothic" pitchFamily="34" charset="0"/>
                <a:ea typeface="Yu Gothic" pitchFamily="34" charset="-122"/>
                <a:cs typeface="Yu Gothic" pitchFamily="34" charset="-120"/>
              </a:rPr>
              <a:t>開発への指示（Claude Code）</a:t>
            </a:r>
            <a:endParaRPr lang="en-US" sz="1400" dirty="0"/>
          </a:p>
        </p:txBody>
      </p:sp>
      <p:sp>
        <p:nvSpPr>
          <p:cNvPr id="6" name="Text 4"/>
          <p:cNvSpPr txBox="1"/>
          <p:nvPr/>
        </p:nvSpPr>
        <p:spPr>
          <a:xfrm>
            <a:off x="777240" y="2057400"/>
            <a:ext cx="5303520" cy="274320"/>
          </a:xfrm>
          <a:prstGeom prst="rect">
            <a:avLst/>
          </a:prstGeom>
          <a:noFill/>
          <a:ln/>
        </p:spPr>
        <p:txBody>
          <a:bodyPr wrap="square" lIns="0" tIns="0" rIns="0" bIns="0" rtlCol="0" anchor="ctr"/>
          <a:lstStyle/>
          <a:p>
            <a:pPr indent="0" marL="0">
              <a:buNone/>
            </a:pPr>
            <a:r>
              <a:rPr lang="en-US" sz="1150" b="1" dirty="0">
                <a:solidFill>
                  <a:srgbClr val="C6613F"/>
                </a:solidFill>
                <a:latin typeface="Yu Gothic" pitchFamily="34" charset="0"/>
                <a:ea typeface="Yu Gothic" pitchFamily="34" charset="-122"/>
                <a:cs typeface="Yu Gothic" pitchFamily="34" charset="-120"/>
              </a:rPr>
              <a:t>CLAUDE.md ― 毎回守るルールを明文化（抜粋）</a:t>
            </a:r>
            <a:endParaRPr lang="en-US" sz="1150" dirty="0"/>
          </a:p>
        </p:txBody>
      </p:sp>
      <p:sp>
        <p:nvSpPr>
          <p:cNvPr id="7" name="Text 5"/>
          <p:cNvSpPr txBox="1"/>
          <p:nvPr/>
        </p:nvSpPr>
        <p:spPr>
          <a:xfrm>
            <a:off x="777240" y="2350008"/>
            <a:ext cx="5303520" cy="1051560"/>
          </a:xfrm>
          <a:prstGeom prst="rect">
            <a:avLst/>
          </a:prstGeom>
          <a:noFill/>
          <a:ln/>
        </p:spPr>
        <p:txBody>
          <a:bodyPr wrap="square" lIns="0" tIns="0" rIns="0" bIns="0" rtlCol="0" anchor="t"/>
          <a:lstStyle/>
          <a:p>
            <a:pPr marL="342900" indent="-342900">
              <a:spcAft>
                <a:spcPts val="500"/>
              </a:spcAft>
              <a:buSzPct val="100000"/>
              <a:buChar char="•"/>
            </a:pPr>
            <a:r>
              <a:rPr lang="en-US" sz="1100" dirty="0">
                <a:solidFill>
                  <a:srgbClr val="1F1E1D"/>
                </a:solidFill>
                <a:latin typeface="Yu Gothic" pitchFamily="34" charset="0"/>
                <a:ea typeface="Yu Gothic" pitchFamily="34" charset="-122"/>
                <a:cs typeface="Yu Gothic" pitchFamily="34" charset="-120"/>
              </a:rPr>
              <a:t>変更のたびに4箇所のバージョンを揃える（PWAキャッシュ対策）</a:t>
            </a:r>
            <a:endParaRPr lang="en-US" sz="1100" dirty="0"/>
          </a:p>
          <a:p>
            <a:pPr marL="342900" indent="-342900">
              <a:spcAft>
                <a:spcPts val="500"/>
              </a:spcAft>
              <a:buSzPct val="100000"/>
              <a:buChar char="•"/>
            </a:pPr>
            <a:r>
              <a:rPr lang="en-US" sz="1100" dirty="0">
                <a:solidFill>
                  <a:srgbClr val="1F1E1D"/>
                </a:solidFill>
                <a:latin typeface="Yu Gothic" pitchFamily="34" charset="0"/>
                <a:ea typeface="Yu Gothic" pitchFamily="34" charset="-122"/>
                <a:cs typeface="Yu Gothic" pitchFamily="34" charset="-120"/>
              </a:rPr>
              <a:t>星評価は共通SVG部品を使う／他人の投稿に日付を出さない</a:t>
            </a:r>
            <a:endParaRPr lang="en-US" sz="1100" dirty="0"/>
          </a:p>
          <a:p>
            <a:pPr marL="342900" indent="-342900">
              <a:spcAft>
                <a:spcPts val="500"/>
              </a:spcAft>
              <a:buSzPct val="100000"/>
              <a:buChar char="•"/>
            </a:pPr>
            <a:r>
              <a:rPr lang="en-US" sz="1100" dirty="0">
                <a:solidFill>
                  <a:srgbClr val="1F1E1D"/>
                </a:solidFill>
                <a:latin typeface="Yu Gothic" pitchFamily="34" charset="0"/>
                <a:ea typeface="Yu Gothic" pitchFamily="34" charset="-122"/>
                <a:cs typeface="Yu Gothic" pitchFamily="34" charset="-120"/>
              </a:rPr>
              <a:t>main へ直接 push → GitHub Pages で1〜2分後に本番反映</a:t>
            </a:r>
            <a:endParaRPr lang="en-US" sz="1100" dirty="0"/>
          </a:p>
        </p:txBody>
      </p:sp>
      <p:sp>
        <p:nvSpPr>
          <p:cNvPr id="8" name="Text 6"/>
          <p:cNvSpPr txBox="1"/>
          <p:nvPr/>
        </p:nvSpPr>
        <p:spPr>
          <a:xfrm>
            <a:off x="777240" y="3429000"/>
            <a:ext cx="5303520" cy="274320"/>
          </a:xfrm>
          <a:prstGeom prst="rect">
            <a:avLst/>
          </a:prstGeom>
          <a:noFill/>
          <a:ln/>
        </p:spPr>
        <p:txBody>
          <a:bodyPr wrap="square" lIns="0" tIns="0" rIns="0" bIns="0" rtlCol="0" anchor="ctr"/>
          <a:lstStyle/>
          <a:p>
            <a:pPr indent="0" marL="0">
              <a:buNone/>
            </a:pPr>
            <a:r>
              <a:rPr lang="en-US" sz="1150" b="1" dirty="0">
                <a:solidFill>
                  <a:srgbClr val="C6613F"/>
                </a:solidFill>
                <a:latin typeface="Yu Gothic" pitchFamily="34" charset="0"/>
                <a:ea typeface="Yu Gothic" pitchFamily="34" charset="-122"/>
                <a:cs typeface="Yu Gothic" pitchFamily="34" charset="-120"/>
              </a:rPr>
              <a:t>実際の要望プロンプト（そのまま）</a:t>
            </a:r>
            <a:endParaRPr lang="en-US" sz="1150" dirty="0"/>
          </a:p>
        </p:txBody>
      </p:sp>
      <p:sp>
        <p:nvSpPr>
          <p:cNvPr id="9" name="Shape 7"/>
          <p:cNvSpPr/>
          <p:nvPr/>
        </p:nvSpPr>
        <p:spPr>
          <a:xfrm>
            <a:off x="777240" y="3730752"/>
            <a:ext cx="5212080" cy="1280160"/>
          </a:xfrm>
          <a:prstGeom prst="roundRect">
            <a:avLst>
              <a:gd name="adj" fmla="val 5714"/>
            </a:avLst>
          </a:prstGeom>
          <a:solidFill>
            <a:srgbClr val="2B2825"/>
          </a:solidFill>
          <a:ln w="12700">
            <a:solidFill>
              <a:srgbClr val="2B2825"/>
            </a:solidFill>
            <a:prstDash val="solid"/>
          </a:ln>
        </p:spPr>
      </p:sp>
      <p:sp>
        <p:nvSpPr>
          <p:cNvPr id="10" name="Text 8"/>
          <p:cNvSpPr txBox="1"/>
          <p:nvPr/>
        </p:nvSpPr>
        <p:spPr>
          <a:xfrm>
            <a:off x="914400" y="3794760"/>
            <a:ext cx="4983480" cy="1170432"/>
          </a:xfrm>
          <a:prstGeom prst="rect">
            <a:avLst/>
          </a:prstGeom>
          <a:noFill/>
          <a:ln/>
        </p:spPr>
        <p:txBody>
          <a:bodyPr wrap="square" lIns="0" tIns="0" rIns="0" bIns="0" rtlCol="0" anchor="ctr"/>
          <a:lstStyle/>
          <a:p>
            <a:pPr indent="0" marL="0">
              <a:buNone/>
            </a:pPr>
            <a:r>
              <a:rPr lang="en-US" sz="1050" dirty="0">
                <a:solidFill>
                  <a:srgbClr val="F4EFE8"/>
                </a:solidFill>
                <a:latin typeface="Yu Gothic" pitchFamily="34" charset="0"/>
                <a:ea typeface="Yu Gothic" pitchFamily="34" charset="-122"/>
                <a:cs typeface="Yu Gothic" pitchFamily="34" charset="-120"/>
              </a:rPr>
              <a:t>「検索で麺類→ラーメンとタップして写真一覧にいったときに、勝手にジャンル一覧に戻ってしまうことがあるので修正して」</a:t>
            </a:r>
            <a:endParaRPr lang="en-US" sz="1050" dirty="0"/>
          </a:p>
          <a:p>
            <a:pPr indent="0" marL="0">
              <a:buNone/>
            </a:pPr>
            <a:r>
              <a:rPr lang="en-US" sz="1050" dirty="0">
                <a:solidFill>
                  <a:srgbClr val="F4EFE8"/>
                </a:solidFill>
                <a:latin typeface="Yu Gothic" pitchFamily="34" charset="0"/>
                <a:ea typeface="Yu Gothic" pitchFamily="34" charset="-122"/>
                <a:cs typeface="Yu Gothic" pitchFamily="34" charset="-120"/>
              </a:rPr>
              <a:t>「評価をする時に .0 だけでなく .5 でも評価できるようにして」</a:t>
            </a:r>
            <a:endParaRPr lang="en-US" sz="1050" dirty="0"/>
          </a:p>
          <a:p>
            <a:pPr indent="0" marL="0">
              <a:buNone/>
            </a:pPr>
            <a:r>
              <a:rPr lang="en-US" sz="1050" dirty="0">
                <a:solidFill>
                  <a:srgbClr val="F4EFE8"/>
                </a:solidFill>
                <a:latin typeface="Yu Gothic" pitchFamily="34" charset="0"/>
                <a:ea typeface="Yu Gothic" pitchFamily="34" charset="-122"/>
                <a:cs typeface="Yu Gothic" pitchFamily="34" charset="-120"/>
              </a:rPr>
              <a:t>「スクロールがなめらかではないのでなめらかになるようにして」</a:t>
            </a:r>
            <a:endParaRPr lang="en-US" sz="1050" dirty="0"/>
          </a:p>
        </p:txBody>
      </p:sp>
      <p:sp>
        <p:nvSpPr>
          <p:cNvPr id="11" name="Text 9"/>
          <p:cNvSpPr txBox="1"/>
          <p:nvPr/>
        </p:nvSpPr>
        <p:spPr>
          <a:xfrm>
            <a:off x="777240" y="5120640"/>
            <a:ext cx="5303520" cy="1097280"/>
          </a:xfrm>
          <a:prstGeom prst="rect">
            <a:avLst/>
          </a:prstGeom>
          <a:noFill/>
          <a:ln/>
        </p:spPr>
        <p:txBody>
          <a:bodyPr wrap="square" lIns="0" tIns="0" rIns="0" bIns="0" rtlCol="0" anchor="t"/>
          <a:lstStyle/>
          <a:p>
            <a:pPr marL="342900" indent="-342900">
              <a:spcAft>
                <a:spcPts val="500"/>
              </a:spcAft>
              <a:buSzPct val="100000"/>
              <a:buChar char="•"/>
            </a:pPr>
            <a:r>
              <a:rPr lang="en-US" sz="1100" dirty="0">
                <a:solidFill>
                  <a:srgbClr val="1F1E1D"/>
                </a:solidFill>
                <a:latin typeface="Yu Gothic" pitchFamily="34" charset="0"/>
                <a:ea typeface="Yu Gothic" pitchFamily="34" charset="-122"/>
                <a:cs typeface="Yu Gothic" pitchFamily="34" charset="-120"/>
              </a:rPr>
              <a:t>要望は「現象ベース」で伝え、原因の特定はAIに任せる（人はコードを読まない）</a:t>
            </a:r>
            <a:endParaRPr lang="en-US" sz="1100" dirty="0"/>
          </a:p>
          <a:p>
            <a:pPr marL="342900" indent="-342900">
              <a:spcAft>
                <a:spcPts val="500"/>
              </a:spcAft>
              <a:buSzPct val="100000"/>
              <a:buChar char="•"/>
            </a:pPr>
            <a:r>
              <a:rPr lang="en-US" sz="1100" dirty="0">
                <a:solidFill>
                  <a:srgbClr val="1F1E1D"/>
                </a:solidFill>
                <a:latin typeface="Yu Gothic" pitchFamily="34" charset="0"/>
                <a:ea typeface="Yu Gothic" pitchFamily="34" charset="-122"/>
                <a:cs typeface="Yu Gothic" pitchFamily="34" charset="-120"/>
              </a:rPr>
              <a:t>デザインは文章より画像（手描き・スクショ）で渡す</a:t>
            </a:r>
            <a:endParaRPr lang="en-US" sz="1100" dirty="0"/>
          </a:p>
          <a:p>
            <a:pPr marL="342900" indent="-342900">
              <a:spcAft>
                <a:spcPts val="500"/>
              </a:spcAft>
              <a:buSzPct val="100000"/>
              <a:buChar char="•"/>
            </a:pPr>
            <a:r>
              <a:rPr lang="en-US" sz="1100" dirty="0">
                <a:solidFill>
                  <a:srgbClr val="1F1E1D"/>
                </a:solidFill>
                <a:latin typeface="Yu Gothic" pitchFamily="34" charset="0"/>
                <a:ea typeface="Yu Gothic" pitchFamily="34" charset="-122"/>
                <a:cs typeface="Yu Gothic" pitchFamily="34" charset="-120"/>
              </a:rPr>
              <a:t>差し戻しは短く：「277の状態に戻して」で3バージョン分を巻き戻し</a:t>
            </a:r>
            <a:endParaRPr lang="en-US" sz="1100" dirty="0"/>
          </a:p>
        </p:txBody>
      </p:sp>
      <p:sp>
        <p:nvSpPr>
          <p:cNvPr id="12" name="Shape 10"/>
          <p:cNvSpPr/>
          <p:nvPr/>
        </p:nvSpPr>
        <p:spPr>
          <a:xfrm>
            <a:off x="6446520" y="1508760"/>
            <a:ext cx="5193792" cy="4754880"/>
          </a:xfrm>
          <a:prstGeom prst="roundRect">
            <a:avLst>
              <a:gd name="adj" fmla="val 2308"/>
            </a:avLst>
          </a:prstGeom>
          <a:solidFill>
            <a:srgbClr val="FFFFFF"/>
          </a:solidFill>
          <a:ln w="12700">
            <a:solidFill>
              <a:srgbClr val="EAE3D8"/>
            </a:solidFill>
            <a:prstDash val="solid"/>
          </a:ln>
          <a:effectLst>
            <a:outerShdw sx="100000" sy="100000" kx="0" ky="0" algn="bl" rotWithShape="0" blurRad="76200" dist="25400" dir="5400000">
              <a:srgbClr val="000000">
                <a:alpha val="12000"/>
              </a:srgbClr>
            </a:outerShdw>
          </a:effectLst>
        </p:spPr>
      </p:sp>
      <p:sp>
        <p:nvSpPr>
          <p:cNvPr id="13" name="Text 11"/>
          <p:cNvSpPr txBox="1"/>
          <p:nvPr/>
        </p:nvSpPr>
        <p:spPr>
          <a:xfrm>
            <a:off x="6675120" y="1645920"/>
            <a:ext cx="4754880" cy="365760"/>
          </a:xfrm>
          <a:prstGeom prst="rect">
            <a:avLst/>
          </a:prstGeom>
          <a:noFill/>
          <a:ln/>
        </p:spPr>
        <p:txBody>
          <a:bodyPr wrap="square" lIns="0" tIns="0" rIns="0" bIns="0" rtlCol="0" anchor="ctr"/>
          <a:lstStyle/>
          <a:p>
            <a:pPr indent="0" marL="0">
              <a:buNone/>
            </a:pPr>
            <a:r>
              <a:rPr lang="en-US" sz="1400" b="1" dirty="0">
                <a:solidFill>
                  <a:srgbClr val="1F1E1D"/>
                </a:solidFill>
                <a:latin typeface="Yu Gothic" pitchFamily="34" charset="0"/>
                <a:ea typeface="Yu Gothic" pitchFamily="34" charset="-122"/>
                <a:cs typeface="Yu Gothic" pitchFamily="34" charset="-120"/>
              </a:rPr>
              <a:t>アプリ内の分類プロンプト（実物）</a:t>
            </a:r>
            <a:endParaRPr lang="en-US" sz="1400" dirty="0"/>
          </a:p>
        </p:txBody>
      </p:sp>
      <p:sp>
        <p:nvSpPr>
          <p:cNvPr id="14" name="Shape 12"/>
          <p:cNvSpPr/>
          <p:nvPr/>
        </p:nvSpPr>
        <p:spPr>
          <a:xfrm>
            <a:off x="6675120" y="2057400"/>
            <a:ext cx="4736592" cy="1600200"/>
          </a:xfrm>
          <a:prstGeom prst="roundRect">
            <a:avLst>
              <a:gd name="adj" fmla="val 4571"/>
            </a:avLst>
          </a:prstGeom>
          <a:solidFill>
            <a:srgbClr val="2B2825"/>
          </a:solidFill>
          <a:ln w="12700">
            <a:solidFill>
              <a:srgbClr val="2B2825"/>
            </a:solidFill>
            <a:prstDash val="solid"/>
          </a:ln>
        </p:spPr>
      </p:sp>
      <p:sp>
        <p:nvSpPr>
          <p:cNvPr id="15" name="Text 13"/>
          <p:cNvSpPr txBox="1"/>
          <p:nvPr/>
        </p:nvSpPr>
        <p:spPr>
          <a:xfrm>
            <a:off x="6812280" y="2121408"/>
            <a:ext cx="4480560" cy="1481328"/>
          </a:xfrm>
          <a:prstGeom prst="rect">
            <a:avLst/>
          </a:prstGeom>
          <a:noFill/>
          <a:ln/>
        </p:spPr>
        <p:txBody>
          <a:bodyPr wrap="square" lIns="0" tIns="0" rIns="0" bIns="0" rtlCol="0" anchor="t"/>
          <a:lstStyle/>
          <a:p>
            <a:pPr indent="0" marL="0">
              <a:buNone/>
            </a:pPr>
            <a:r>
              <a:rPr lang="en-US" sz="1000" b="1" dirty="0">
                <a:solidFill>
                  <a:srgbClr val="FFD75E"/>
                </a:solidFill>
                <a:latin typeface="Yu Gothic" pitchFamily="34" charset="0"/>
                <a:ea typeface="Yu Gothic" pitchFamily="34" charset="-122"/>
                <a:cs typeface="Yu Gothic" pitchFamily="34" charset="-120"/>
              </a:rPr>
              <a:t>system: </a:t>
            </a:r>
            <a:pPr indent="0" marL="0">
              <a:buNone/>
            </a:pPr>
            <a:r>
              <a:rPr lang="en-US" sz="1000" dirty="0">
                <a:solidFill>
                  <a:srgbClr val="F4EFE8"/>
                </a:solidFill>
                <a:latin typeface="Yu Gothic" pitchFamily="34" charset="0"/>
                <a:ea typeface="Yu Gothic" pitchFamily="34" charset="-122"/>
                <a:cs typeface="Yu Gothic" pitchFamily="34" charset="-120"/>
              </a:rPr>
              <a:t>あなたは料理写真の分類器です。写真に写っている料理を指定されたジャンル一覧から選んで分類してください。料理が写っていない写真（外観・店内・メニュー表など）や判別が難しい場合は dishGenres を空配列、confident を false にしてください。</a:t>
            </a:r>
            <a:pPr indent="0" marL="0">
              <a:buNone/>
            </a:pPr>
            <a:endParaRPr lang="en-US" sz="1000" dirty="0"/>
          </a:p>
          <a:p>
            <a:pPr indent="0" marL="0">
              <a:buNone/>
            </a:pPr>
            <a:r>
              <a:rPr lang="en-US" sz="1000" b="1" dirty="0">
                <a:solidFill>
                  <a:srgbClr val="FFD75E"/>
                </a:solidFill>
                <a:latin typeface="Yu Gothic" pitchFamily="34" charset="0"/>
                <a:ea typeface="Yu Gothic" pitchFamily="34" charset="-122"/>
                <a:cs typeface="Yu Gothic" pitchFamily="34" charset="-120"/>
              </a:rPr>
              <a:t>output: </a:t>
            </a:r>
            <a:endParaRPr lang="en-US" sz="1000" dirty="0"/>
          </a:p>
          <a:p>
            <a:pPr indent="0" marL="0">
              <a:buNone/>
            </a:pPr>
            <a:r>
              <a:rPr lang="en-US" sz="1000" dirty="0">
                <a:solidFill>
                  <a:srgbClr val="F4EFE8"/>
                </a:solidFill>
                <a:latin typeface="Yu Gothic" pitchFamily="34" charset="0"/>
                <a:ea typeface="Yu Gothic" pitchFamily="34" charset="-122"/>
                <a:cs typeface="Yu Gothic" pitchFamily="34" charset="-120"/>
              </a:rPr>
              <a:t>JSON Schema（dishGenres: enum[70+], shopGenre: enum, confident: boolean）</a:t>
            </a:r>
            <a:endParaRPr lang="en-US" sz="1000" dirty="0"/>
          </a:p>
        </p:txBody>
      </p:sp>
      <p:sp>
        <p:nvSpPr>
          <p:cNvPr id="16" name="Shape 14"/>
          <p:cNvSpPr/>
          <p:nvPr/>
        </p:nvSpPr>
        <p:spPr>
          <a:xfrm>
            <a:off x="6675120" y="3840480"/>
            <a:ext cx="1417320" cy="457200"/>
          </a:xfrm>
          <a:prstGeom prst="roundRect">
            <a:avLst>
              <a:gd name="adj" fmla="val 50000"/>
            </a:avLst>
          </a:prstGeom>
          <a:solidFill>
            <a:srgbClr val="FBEFE9"/>
          </a:solidFill>
          <a:ln w="12700">
            <a:solidFill>
              <a:srgbClr val="FBEFE9"/>
            </a:solidFill>
            <a:prstDash val="solid"/>
          </a:ln>
        </p:spPr>
      </p:sp>
      <p:sp>
        <p:nvSpPr>
          <p:cNvPr id="17" name="Text 15"/>
          <p:cNvSpPr txBox="1"/>
          <p:nvPr/>
        </p:nvSpPr>
        <p:spPr>
          <a:xfrm>
            <a:off x="6675120" y="3840480"/>
            <a:ext cx="1417320" cy="457200"/>
          </a:xfrm>
          <a:prstGeom prst="rect">
            <a:avLst/>
          </a:prstGeom>
          <a:noFill/>
          <a:ln/>
        </p:spPr>
        <p:txBody>
          <a:bodyPr wrap="square" lIns="0" tIns="0" rIns="0" bIns="0" rtlCol="0" anchor="ctr"/>
          <a:lstStyle/>
          <a:p>
            <a:pPr algn="ctr" indent="0" marL="0">
              <a:buNone/>
            </a:pPr>
            <a:r>
              <a:rPr lang="en-US" sz="1050" b="1" dirty="0">
                <a:solidFill>
                  <a:srgbClr val="C6613F"/>
                </a:solidFill>
                <a:latin typeface="Yu Gothic" pitchFamily="34" charset="0"/>
                <a:ea typeface="Yu Gothic" pitchFamily="34" charset="-122"/>
                <a:cs typeface="Yu Gothic" pitchFamily="34" charset="-120"/>
              </a:rPr>
              <a:t>enum 制約</a:t>
            </a:r>
            <a:endParaRPr lang="en-US" sz="1050" dirty="0"/>
          </a:p>
        </p:txBody>
      </p:sp>
      <p:sp>
        <p:nvSpPr>
          <p:cNvPr id="18" name="Text 16"/>
          <p:cNvSpPr txBox="1"/>
          <p:nvPr/>
        </p:nvSpPr>
        <p:spPr>
          <a:xfrm>
            <a:off x="8183880" y="3840480"/>
            <a:ext cx="3246120" cy="457200"/>
          </a:xfrm>
          <a:prstGeom prst="rect">
            <a:avLst/>
          </a:prstGeom>
          <a:noFill/>
          <a:ln/>
        </p:spPr>
        <p:txBody>
          <a:bodyPr wrap="square" lIns="0" tIns="0" rIns="0" bIns="0" rtlCol="0" anchor="ctr"/>
          <a:lstStyle/>
          <a:p>
            <a:pPr indent="0" marL="0">
              <a:buNone/>
            </a:pPr>
            <a:r>
              <a:rPr lang="en-US" sz="1050" dirty="0">
                <a:solidFill>
                  <a:srgbClr val="1F1E1D"/>
                </a:solidFill>
                <a:latin typeface="Yu Gothic" pitchFamily="34" charset="0"/>
                <a:ea typeface="Yu Gothic" pitchFamily="34" charset="-122"/>
                <a:cs typeface="Yu Gothic" pitchFamily="34" charset="-120"/>
              </a:rPr>
              <a:t>ジャンル名を一覧に固定し、表記ゆれ・幻覚を出させない</a:t>
            </a:r>
            <a:endParaRPr lang="en-US" sz="1050" dirty="0"/>
          </a:p>
        </p:txBody>
      </p:sp>
      <p:sp>
        <p:nvSpPr>
          <p:cNvPr id="19" name="Shape 17"/>
          <p:cNvSpPr/>
          <p:nvPr/>
        </p:nvSpPr>
        <p:spPr>
          <a:xfrm>
            <a:off x="6675120" y="4443984"/>
            <a:ext cx="1417320" cy="457200"/>
          </a:xfrm>
          <a:prstGeom prst="roundRect">
            <a:avLst>
              <a:gd name="adj" fmla="val 50000"/>
            </a:avLst>
          </a:prstGeom>
          <a:solidFill>
            <a:srgbClr val="FBEFE9"/>
          </a:solidFill>
          <a:ln w="12700">
            <a:solidFill>
              <a:srgbClr val="FBEFE9"/>
            </a:solidFill>
            <a:prstDash val="solid"/>
          </a:ln>
        </p:spPr>
      </p:sp>
      <p:sp>
        <p:nvSpPr>
          <p:cNvPr id="20" name="Text 18"/>
          <p:cNvSpPr txBox="1"/>
          <p:nvPr/>
        </p:nvSpPr>
        <p:spPr>
          <a:xfrm>
            <a:off x="6675120" y="4443984"/>
            <a:ext cx="1417320" cy="457200"/>
          </a:xfrm>
          <a:prstGeom prst="rect">
            <a:avLst/>
          </a:prstGeom>
          <a:noFill/>
          <a:ln/>
        </p:spPr>
        <p:txBody>
          <a:bodyPr wrap="square" lIns="0" tIns="0" rIns="0" bIns="0" rtlCol="0" anchor="ctr"/>
          <a:lstStyle/>
          <a:p>
            <a:pPr algn="ctr" indent="0" marL="0">
              <a:buNone/>
            </a:pPr>
            <a:r>
              <a:rPr lang="en-US" sz="1050" b="1" dirty="0">
                <a:solidFill>
                  <a:srgbClr val="C6613F"/>
                </a:solidFill>
                <a:latin typeface="Yu Gothic" pitchFamily="34" charset="0"/>
                <a:ea typeface="Yu Gothic" pitchFamily="34" charset="-122"/>
                <a:cs typeface="Yu Gothic" pitchFamily="34" charset="-120"/>
              </a:rPr>
              <a:t>confident フラグ</a:t>
            </a:r>
            <a:endParaRPr lang="en-US" sz="1050" dirty="0"/>
          </a:p>
        </p:txBody>
      </p:sp>
      <p:sp>
        <p:nvSpPr>
          <p:cNvPr id="21" name="Text 19"/>
          <p:cNvSpPr txBox="1"/>
          <p:nvPr/>
        </p:nvSpPr>
        <p:spPr>
          <a:xfrm>
            <a:off x="8183880" y="4443984"/>
            <a:ext cx="3246120" cy="457200"/>
          </a:xfrm>
          <a:prstGeom prst="rect">
            <a:avLst/>
          </a:prstGeom>
          <a:noFill/>
          <a:ln/>
        </p:spPr>
        <p:txBody>
          <a:bodyPr wrap="square" lIns="0" tIns="0" rIns="0" bIns="0" rtlCol="0" anchor="ctr"/>
          <a:lstStyle/>
          <a:p>
            <a:pPr indent="0" marL="0">
              <a:buNone/>
            </a:pPr>
            <a:r>
              <a:rPr lang="en-US" sz="1050" dirty="0">
                <a:solidFill>
                  <a:srgbClr val="1F1E1D"/>
                </a:solidFill>
                <a:latin typeface="Yu Gothic" pitchFamily="34" charset="0"/>
                <a:ea typeface="Yu Gothic" pitchFamily="34" charset="-122"/>
                <a:cs typeface="Yu Gothic" pitchFamily="34" charset="-120"/>
              </a:rPr>
              <a:t>自信のない判定は空欄に。利用者の選択に委ねる</a:t>
            </a:r>
            <a:endParaRPr lang="en-US" sz="1050" dirty="0"/>
          </a:p>
        </p:txBody>
      </p:sp>
      <p:sp>
        <p:nvSpPr>
          <p:cNvPr id="22" name="Shape 20"/>
          <p:cNvSpPr/>
          <p:nvPr/>
        </p:nvSpPr>
        <p:spPr>
          <a:xfrm>
            <a:off x="6675120" y="5047488"/>
            <a:ext cx="1417320" cy="457200"/>
          </a:xfrm>
          <a:prstGeom prst="roundRect">
            <a:avLst>
              <a:gd name="adj" fmla="val 50000"/>
            </a:avLst>
          </a:prstGeom>
          <a:solidFill>
            <a:srgbClr val="FBEFE9"/>
          </a:solidFill>
          <a:ln w="12700">
            <a:solidFill>
              <a:srgbClr val="FBEFE9"/>
            </a:solidFill>
            <a:prstDash val="solid"/>
          </a:ln>
        </p:spPr>
      </p:sp>
      <p:sp>
        <p:nvSpPr>
          <p:cNvPr id="23" name="Text 21"/>
          <p:cNvSpPr txBox="1"/>
          <p:nvPr/>
        </p:nvSpPr>
        <p:spPr>
          <a:xfrm>
            <a:off x="6675120" y="5047488"/>
            <a:ext cx="1417320" cy="457200"/>
          </a:xfrm>
          <a:prstGeom prst="rect">
            <a:avLst/>
          </a:prstGeom>
          <a:noFill/>
          <a:ln/>
        </p:spPr>
        <p:txBody>
          <a:bodyPr wrap="square" lIns="0" tIns="0" rIns="0" bIns="0" rtlCol="0" anchor="ctr"/>
          <a:lstStyle/>
          <a:p>
            <a:pPr algn="ctr" indent="0" marL="0">
              <a:buNone/>
            </a:pPr>
            <a:r>
              <a:rPr lang="en-US" sz="1050" b="1" dirty="0">
                <a:solidFill>
                  <a:srgbClr val="C6613F"/>
                </a:solidFill>
                <a:latin typeface="Yu Gothic" pitchFamily="34" charset="0"/>
                <a:ea typeface="Yu Gothic" pitchFamily="34" charset="-122"/>
                <a:cs typeface="Yu Gothic" pitchFamily="34" charset="-120"/>
              </a:rPr>
              <a:t>スキーマ出力</a:t>
            </a:r>
            <a:endParaRPr lang="en-US" sz="1050" dirty="0"/>
          </a:p>
        </p:txBody>
      </p:sp>
      <p:sp>
        <p:nvSpPr>
          <p:cNvPr id="24" name="Text 22"/>
          <p:cNvSpPr txBox="1"/>
          <p:nvPr/>
        </p:nvSpPr>
        <p:spPr>
          <a:xfrm>
            <a:off x="8183880" y="5047488"/>
            <a:ext cx="3246120" cy="457200"/>
          </a:xfrm>
          <a:prstGeom prst="rect">
            <a:avLst/>
          </a:prstGeom>
          <a:noFill/>
          <a:ln/>
        </p:spPr>
        <p:txBody>
          <a:bodyPr wrap="square" lIns="0" tIns="0" rIns="0" bIns="0" rtlCol="0" anchor="ctr"/>
          <a:lstStyle/>
          <a:p>
            <a:pPr indent="0" marL="0">
              <a:buNone/>
            </a:pPr>
            <a:r>
              <a:rPr lang="en-US" sz="1050" dirty="0">
                <a:solidFill>
                  <a:srgbClr val="1F1E1D"/>
                </a:solidFill>
                <a:latin typeface="Yu Gothic" pitchFamily="34" charset="0"/>
                <a:ea typeface="Yu Gothic" pitchFamily="34" charset="-122"/>
                <a:cs typeface="Yu Gothic" pitchFamily="34" charset="-120"/>
              </a:rPr>
              <a:t>JSON Schema で構造化出力。文章の解析なしで即UIに反映</a:t>
            </a:r>
            <a:endParaRPr lang="en-US" sz="1050" dirty="0"/>
          </a:p>
        </p:txBody>
      </p:sp>
      <p:sp>
        <p:nvSpPr>
          <p:cNvPr id="25" name="Shape 23"/>
          <p:cNvSpPr/>
          <p:nvPr/>
        </p:nvSpPr>
        <p:spPr>
          <a:xfrm>
            <a:off x="6675120" y="5650992"/>
            <a:ext cx="1417320" cy="457200"/>
          </a:xfrm>
          <a:prstGeom prst="roundRect">
            <a:avLst>
              <a:gd name="adj" fmla="val 50000"/>
            </a:avLst>
          </a:prstGeom>
          <a:solidFill>
            <a:srgbClr val="FBEFE9"/>
          </a:solidFill>
          <a:ln w="12700">
            <a:solidFill>
              <a:srgbClr val="FBEFE9"/>
            </a:solidFill>
            <a:prstDash val="solid"/>
          </a:ln>
        </p:spPr>
      </p:sp>
      <p:sp>
        <p:nvSpPr>
          <p:cNvPr id="26" name="Text 24"/>
          <p:cNvSpPr txBox="1"/>
          <p:nvPr/>
        </p:nvSpPr>
        <p:spPr>
          <a:xfrm>
            <a:off x="6675120" y="5650992"/>
            <a:ext cx="1417320" cy="457200"/>
          </a:xfrm>
          <a:prstGeom prst="rect">
            <a:avLst/>
          </a:prstGeom>
          <a:noFill/>
          <a:ln/>
        </p:spPr>
        <p:txBody>
          <a:bodyPr wrap="square" lIns="0" tIns="0" rIns="0" bIns="0" rtlCol="0" anchor="ctr"/>
          <a:lstStyle/>
          <a:p>
            <a:pPr algn="ctr" indent="0" marL="0">
              <a:buNone/>
            </a:pPr>
            <a:r>
              <a:rPr lang="en-US" sz="1050" b="1" dirty="0">
                <a:solidFill>
                  <a:srgbClr val="C6613F"/>
                </a:solidFill>
                <a:latin typeface="Yu Gothic" pitchFamily="34" charset="0"/>
                <a:ea typeface="Yu Gothic" pitchFamily="34" charset="-122"/>
                <a:cs typeface="Yu Gothic" pitchFamily="34" charset="-120"/>
              </a:rPr>
              <a:t>縮小して送信</a:t>
            </a:r>
            <a:endParaRPr lang="en-US" sz="1050" dirty="0"/>
          </a:p>
        </p:txBody>
      </p:sp>
      <p:sp>
        <p:nvSpPr>
          <p:cNvPr id="27" name="Text 25"/>
          <p:cNvSpPr txBox="1"/>
          <p:nvPr/>
        </p:nvSpPr>
        <p:spPr>
          <a:xfrm>
            <a:off x="8183880" y="5650992"/>
            <a:ext cx="3246120" cy="457200"/>
          </a:xfrm>
          <a:prstGeom prst="rect">
            <a:avLst/>
          </a:prstGeom>
          <a:noFill/>
          <a:ln/>
        </p:spPr>
        <p:txBody>
          <a:bodyPr wrap="square" lIns="0" tIns="0" rIns="0" bIns="0" rtlCol="0" anchor="ctr"/>
          <a:lstStyle/>
          <a:p>
            <a:pPr indent="0" marL="0">
              <a:buNone/>
            </a:pPr>
            <a:r>
              <a:rPr lang="en-US" sz="1050" dirty="0">
                <a:solidFill>
                  <a:srgbClr val="1F1E1D"/>
                </a:solidFill>
                <a:latin typeface="Yu Gothic" pitchFamily="34" charset="0"/>
                <a:ea typeface="Yu Gothic" pitchFamily="34" charset="-122"/>
                <a:cs typeface="Yu Gothic" pitchFamily="34" charset="-120"/>
              </a:rPr>
              <a:t>768px・品質0.7に圧縮。精度を保ちつつコストと時間を1/10に</a:t>
            </a:r>
            <a:endParaRPr lang="en-US" sz="1050" dirty="0"/>
          </a:p>
        </p:txBody>
      </p:sp>
      <p:sp>
        <p:nvSpPr>
          <p:cNvPr id="28" name="Text 26"/>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8A857D"/>
                </a:solidFill>
                <a:latin typeface="Yu Gothic" pitchFamily="34" charset="0"/>
                <a:ea typeface="Yu Gothic" pitchFamily="34" charset="-122"/>
                <a:cs typeface="Yu Gothic" pitchFamily="34" charset="-120"/>
              </a:rPr>
              <a:t>BITEMAP ｜ 2026 AI Innovators Cup @ Shibaura 決勝</a:t>
            </a:r>
            <a:endParaRPr lang="en-US" sz="900" dirty="0"/>
          </a:p>
        </p:txBody>
      </p:sp>
      <p:sp>
        <p:nvSpPr>
          <p:cNvPr id="29" name="Text 27"/>
          <p:cNvSpPr txBox="1"/>
          <p:nvPr/>
        </p:nvSpPr>
        <p:spPr>
          <a:xfrm>
            <a:off x="11155680" y="6446520"/>
            <a:ext cx="457200" cy="274320"/>
          </a:xfrm>
          <a:prstGeom prst="rect">
            <a:avLst/>
          </a:prstGeom>
          <a:noFill/>
          <a:ln/>
        </p:spPr>
        <p:txBody>
          <a:bodyPr wrap="square" lIns="0" tIns="0" rIns="0" bIns="0" rtlCol="0" anchor="ctr"/>
          <a:lstStyle/>
          <a:p>
            <a:pPr algn="r" indent="0" marL="0">
              <a:buNone/>
            </a:pPr>
            <a:r>
              <a:rPr lang="en-US" sz="900" dirty="0">
                <a:solidFill>
                  <a:srgbClr val="8A857D"/>
                </a:solidFill>
                <a:latin typeface="Yu Gothic" pitchFamily="34" charset="0"/>
                <a:ea typeface="Yu Gothic" pitchFamily="34" charset="-122"/>
                <a:cs typeface="Yu Gothic" pitchFamily="34" charset="-120"/>
              </a:rPr>
              <a:t>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7315200" cy="320040"/>
          </a:xfrm>
          <a:prstGeom prst="rect">
            <a:avLst/>
          </a:prstGeom>
          <a:noFill/>
          <a:ln/>
        </p:spPr>
        <p:txBody>
          <a:bodyPr wrap="square" lIns="0" tIns="0" rIns="0" bIns="0" rtlCol="0" anchor="ctr"/>
          <a:lstStyle/>
          <a:p>
            <a:pPr indent="0" marL="0">
              <a:buNone/>
            </a:pPr>
            <a:r>
              <a:rPr lang="en-US" sz="1300" b="1" spc="200" kern="0" dirty="0">
                <a:solidFill>
                  <a:srgbClr val="C6613F"/>
                </a:solidFill>
                <a:latin typeface="Yu Gothic" pitchFamily="34" charset="0"/>
                <a:ea typeface="Yu Gothic" pitchFamily="34" charset="-122"/>
                <a:cs typeface="Yu Gothic" pitchFamily="34" charset="-120"/>
              </a:rPr>
              <a:t>補足 ｜ 審査観点 ③ 人の判断・修正（詳細）</a:t>
            </a:r>
            <a:endParaRPr lang="en-US" sz="1300" dirty="0"/>
          </a:p>
        </p:txBody>
      </p:sp>
      <p:sp>
        <p:nvSpPr>
          <p:cNvPr id="3" name="Text 1"/>
          <p:cNvSpPr txBox="1"/>
          <p:nvPr/>
        </p:nvSpPr>
        <p:spPr>
          <a:xfrm>
            <a:off x="548640" y="621792"/>
            <a:ext cx="11064240" cy="685800"/>
          </a:xfrm>
          <a:prstGeom prst="rect">
            <a:avLst/>
          </a:prstGeom>
          <a:noFill/>
          <a:ln/>
        </p:spPr>
        <p:txBody>
          <a:bodyPr wrap="square" lIns="0" tIns="0" rIns="0" bIns="0" rtlCol="0" anchor="ctr"/>
          <a:lstStyle/>
          <a:p>
            <a:pPr indent="0" marL="0">
              <a:buNone/>
            </a:pPr>
            <a:r>
              <a:rPr lang="en-US" sz="3000" b="1" dirty="0">
                <a:solidFill>
                  <a:srgbClr val="1F1E1D"/>
                </a:solidFill>
                <a:latin typeface="Yu Gothic" pitchFamily="34" charset="0"/>
                <a:ea typeface="Yu Gothic" pitchFamily="34" charset="-122"/>
                <a:cs typeface="Yu Gothic" pitchFamily="34" charset="-120"/>
              </a:rPr>
              <a:t>AI出力に対する人の判断・修正（代表例）</a:t>
            </a:r>
            <a:endParaRPr lang="en-US" sz="30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548640" y="1508760"/>
          <a:ext cx="11091672" cy="914400"/>
        </p:xfrm>
        <a:graphic>
          <a:graphicData uri="http://schemas.openxmlformats.org/drawingml/2006/table">
            <a:tbl>
              <a:tblPr/>
              <a:tblGrid>
                <a:gridCol w="1920240"/>
                <a:gridCol w="4023360"/>
                <a:gridCol w="5148072"/>
              </a:tblGrid>
              <a:tr h="384048">
                <a:tc>
                  <a:txBody>
                    <a:bodyPr/>
                    <a:lstStyle/>
                    <a:p>
                      <a:pPr indent="0" marL="0">
                        <a:buNone/>
                      </a:pPr>
                      <a:r>
                        <a:rPr lang="en-US" sz="1200" b="1" dirty="0">
                          <a:solidFill>
                            <a:srgbClr val="FFFFFF"/>
                          </a:solidFill>
                          <a:latin typeface="Yu Gothic" pitchFamily="34" charset="0"/>
                          <a:ea typeface="Yu Gothic" pitchFamily="34" charset="-122"/>
                          <a:cs typeface="Yu Gothic" pitchFamily="34" charset="-120"/>
                        </a:rPr>
                        <a:t>場面</a:t>
                      </a:r>
                      <a:endParaRPr lang="en-US" sz="1200" dirty="0">
                        <a:latin typeface="Yu Gothic" charset="0"/>
                        <a:ea typeface="Yu Gothic" charset="0"/>
                        <a:cs typeface="Yu Gothic" charset="0"/>
                      </a:endParaRPr>
                    </a:p>
                  </a:txBody>
                  <a:tcPr marL="91440" marR="91440" marT="45720" marB="45720" anchor="ctr">
                    <a:lnL w="9525" cap="flat" cmpd="sng" algn="ctr">
                      <a:solidFill>
                        <a:srgbClr val="EAE3D8"/>
                      </a:solidFill>
                      <a:prstDash val="solid"/>
                      <a:round/>
                      <a:headEnd type="none" w="med" len="med"/>
                      <a:tailEnd type="none" w="med" len="med"/>
                    </a:lnL>
                    <a:lnR w="9525" cap="flat" cmpd="sng" algn="ctr">
                      <a:solidFill>
                        <a:srgbClr val="EAE3D8"/>
                      </a:solidFill>
                      <a:prstDash val="solid"/>
                      <a:round/>
                      <a:headEnd type="none" w="med" len="med"/>
                      <a:tailEnd type="none" w="med" len="med"/>
                    </a:lnR>
                    <a:lnT w="9525" cap="flat" cmpd="sng" algn="ctr">
                      <a:solidFill>
                        <a:srgbClr val="EAE3D8"/>
                      </a:solidFill>
                      <a:prstDash val="solid"/>
                      <a:round/>
                      <a:headEnd type="none" w="med" len="med"/>
                      <a:tailEnd type="none" w="med" len="med"/>
                    </a:lnT>
                    <a:lnB w="9525" cap="flat" cmpd="sng" algn="ctr">
                      <a:solidFill>
                        <a:srgbClr val="EAE3D8"/>
                      </a:solidFill>
                      <a:prstDash val="solid"/>
                      <a:round/>
                      <a:headEnd type="none" w="med" len="med"/>
                      <a:tailEnd type="none" w="med" len="med"/>
                    </a:lnB>
                    <a:solidFill>
                      <a:srgbClr val="C6613F"/>
                    </a:solidFill>
                  </a:tcPr>
                </a:tc>
                <a:tc>
                  <a:txBody>
                    <a:bodyPr/>
                    <a:lstStyle/>
                    <a:p>
                      <a:pPr indent="0" marL="0">
                        <a:buNone/>
                      </a:pPr>
                      <a:r>
                        <a:rPr lang="en-US" sz="1200" b="1" dirty="0">
                          <a:solidFill>
                            <a:srgbClr val="FFFFFF"/>
                          </a:solidFill>
                          <a:latin typeface="Yu Gothic" pitchFamily="34" charset="0"/>
                          <a:ea typeface="Yu Gothic" pitchFamily="34" charset="-122"/>
                          <a:cs typeface="Yu Gothic" pitchFamily="34" charset="-120"/>
                        </a:rPr>
                        <a:t>Before：AIの出力・提案</a:t>
                      </a:r>
                      <a:endParaRPr lang="en-US" sz="1200" dirty="0">
                        <a:latin typeface="Yu Gothic" charset="0"/>
                        <a:ea typeface="Yu Gothic" charset="0"/>
                        <a:cs typeface="Yu Gothic" charset="0"/>
                      </a:endParaRPr>
                    </a:p>
                  </a:txBody>
                  <a:tcPr marL="91440" marR="91440" marT="45720" marB="45720" anchor="ctr">
                    <a:lnL w="9525" cap="flat" cmpd="sng" algn="ctr">
                      <a:solidFill>
                        <a:srgbClr val="EAE3D8"/>
                      </a:solidFill>
                      <a:prstDash val="solid"/>
                      <a:round/>
                      <a:headEnd type="none" w="med" len="med"/>
                      <a:tailEnd type="none" w="med" len="med"/>
                    </a:lnL>
                    <a:lnR w="9525" cap="flat" cmpd="sng" algn="ctr">
                      <a:solidFill>
                        <a:srgbClr val="EAE3D8"/>
                      </a:solidFill>
                      <a:prstDash val="solid"/>
                      <a:round/>
                      <a:headEnd type="none" w="med" len="med"/>
                      <a:tailEnd type="none" w="med" len="med"/>
                    </a:lnR>
                    <a:lnT w="9525" cap="flat" cmpd="sng" algn="ctr">
                      <a:solidFill>
                        <a:srgbClr val="EAE3D8"/>
                      </a:solidFill>
                      <a:prstDash val="solid"/>
                      <a:round/>
                      <a:headEnd type="none" w="med" len="med"/>
                      <a:tailEnd type="none" w="med" len="med"/>
                    </a:lnT>
                    <a:lnB w="9525" cap="flat" cmpd="sng" algn="ctr">
                      <a:solidFill>
                        <a:srgbClr val="EAE3D8"/>
                      </a:solidFill>
                      <a:prstDash val="solid"/>
                      <a:round/>
                      <a:headEnd type="none" w="med" len="med"/>
                      <a:tailEnd type="none" w="med" len="med"/>
                    </a:lnB>
                    <a:solidFill>
                      <a:srgbClr val="C6613F"/>
                    </a:solidFill>
                  </a:tcPr>
                </a:tc>
                <a:tc>
                  <a:txBody>
                    <a:bodyPr/>
                    <a:lstStyle/>
                    <a:p>
                      <a:pPr indent="0" marL="0">
                        <a:buNone/>
                      </a:pPr>
                      <a:r>
                        <a:rPr lang="en-US" sz="1200" b="1" dirty="0">
                          <a:solidFill>
                            <a:srgbClr val="FFFFFF"/>
                          </a:solidFill>
                          <a:latin typeface="Yu Gothic" pitchFamily="34" charset="0"/>
                          <a:ea typeface="Yu Gothic" pitchFamily="34" charset="-122"/>
                          <a:cs typeface="Yu Gothic" pitchFamily="34" charset="-120"/>
                        </a:rPr>
                        <a:t>After：人の判断</a:t>
                      </a:r>
                      <a:endParaRPr lang="en-US" sz="1200" dirty="0">
                        <a:latin typeface="Yu Gothic" charset="0"/>
                        <a:ea typeface="Yu Gothic" charset="0"/>
                        <a:cs typeface="Yu Gothic" charset="0"/>
                      </a:endParaRPr>
                    </a:p>
                  </a:txBody>
                  <a:tcPr marL="91440" marR="91440" marT="45720" marB="45720" anchor="ctr">
                    <a:lnL w="9525" cap="flat" cmpd="sng" algn="ctr">
                      <a:solidFill>
                        <a:srgbClr val="EAE3D8"/>
                      </a:solidFill>
                      <a:prstDash val="solid"/>
                      <a:round/>
                      <a:headEnd type="none" w="med" len="med"/>
                      <a:tailEnd type="none" w="med" len="med"/>
                    </a:lnL>
                    <a:lnR w="9525" cap="flat" cmpd="sng" algn="ctr">
                      <a:solidFill>
                        <a:srgbClr val="EAE3D8"/>
                      </a:solidFill>
                      <a:prstDash val="solid"/>
                      <a:round/>
                      <a:headEnd type="none" w="med" len="med"/>
                      <a:tailEnd type="none" w="med" len="med"/>
                    </a:lnR>
                    <a:lnT w="9525" cap="flat" cmpd="sng" algn="ctr">
                      <a:solidFill>
                        <a:srgbClr val="EAE3D8"/>
                      </a:solidFill>
                      <a:prstDash val="solid"/>
                      <a:round/>
                      <a:headEnd type="none" w="med" len="med"/>
                      <a:tailEnd type="none" w="med" len="med"/>
                    </a:lnT>
                    <a:lnB w="9525" cap="flat" cmpd="sng" algn="ctr">
                      <a:solidFill>
                        <a:srgbClr val="EAE3D8"/>
                      </a:solidFill>
                      <a:prstDash val="solid"/>
                      <a:round/>
                      <a:headEnd type="none" w="med" len="med"/>
                      <a:tailEnd type="none" w="med" len="med"/>
                    </a:lnB>
                    <a:solidFill>
                      <a:srgbClr val="C6613F"/>
                    </a:solidFill>
                  </a:tcPr>
                </a:tc>
              </a:tr>
              <a:tr h="713232">
                <a:tc>
                  <a:txBody>
                    <a:bodyPr/>
                    <a:lstStyle/>
                    <a:p>
                      <a:pPr indent="0" marL="0">
                        <a:buNone/>
                      </a:pPr>
                      <a:r>
                        <a:rPr lang="en-US" sz="1100" b="1" dirty="0">
                          <a:solidFill>
                            <a:srgbClr val="1F1E1D"/>
                          </a:solidFill>
                          <a:latin typeface="Yu Gothic" pitchFamily="34" charset="0"/>
                          <a:ea typeface="Yu Gothic" pitchFamily="34" charset="-122"/>
                          <a:cs typeface="Yu Gothic" pitchFamily="34" charset="-120"/>
                        </a:rPr>
                        <a:t>写真一覧のUI</a:t>
                      </a:r>
                      <a:endParaRPr lang="en-US" sz="1100" dirty="0">
                        <a:latin typeface="Yu Gothic" charset="0"/>
                        <a:ea typeface="Yu Gothic" charset="0"/>
                        <a:cs typeface="Yu Gothic" charset="0"/>
                      </a:endParaRPr>
                    </a:p>
                  </a:txBody>
                  <a:tcPr marL="91440" marR="91440" marT="45720" marB="45720" anchor="ctr">
                    <a:lnL w="9525" cap="flat" cmpd="sng" algn="ctr">
                      <a:solidFill>
                        <a:srgbClr val="EAE3D8"/>
                      </a:solidFill>
                      <a:prstDash val="solid"/>
                      <a:round/>
                      <a:headEnd type="none" w="med" len="med"/>
                      <a:tailEnd type="none" w="med" len="med"/>
                    </a:lnL>
                    <a:lnR w="9525" cap="flat" cmpd="sng" algn="ctr">
                      <a:solidFill>
                        <a:srgbClr val="EAE3D8"/>
                      </a:solidFill>
                      <a:prstDash val="solid"/>
                      <a:round/>
                      <a:headEnd type="none" w="med" len="med"/>
                      <a:tailEnd type="none" w="med" len="med"/>
                    </a:lnR>
                    <a:lnT w="9525" cap="flat" cmpd="sng" algn="ctr">
                      <a:solidFill>
                        <a:srgbClr val="EAE3D8"/>
                      </a:solidFill>
                      <a:prstDash val="solid"/>
                      <a:round/>
                      <a:headEnd type="none" w="med" len="med"/>
                      <a:tailEnd type="none" w="med" len="med"/>
                    </a:lnT>
                    <a:lnB w="9525" cap="flat" cmpd="sng" algn="ctr">
                      <a:solidFill>
                        <a:srgbClr val="EAE3D8"/>
                      </a:solidFill>
                      <a:prstDash val="solid"/>
                      <a:round/>
                      <a:headEnd type="none" w="med" len="med"/>
                      <a:tailEnd type="none" w="med" len="med"/>
                    </a:lnB>
                    <a:solidFill>
                      <a:srgbClr val="FFFFFF"/>
                    </a:solidFill>
                  </a:tcPr>
                </a:tc>
                <a:tc>
                  <a:txBody>
                    <a:bodyPr/>
                    <a:lstStyle/>
                    <a:p>
                      <a:pPr indent="0" marL="0">
                        <a:buNone/>
                      </a:pPr>
                      <a:r>
                        <a:rPr lang="en-US" sz="1100" dirty="0">
                          <a:solidFill>
                            <a:srgbClr val="1F1E1D"/>
                          </a:solidFill>
                          <a:latin typeface="Yu Gothic" pitchFamily="34" charset="0"/>
                          <a:ea typeface="Yu Gothic" pitchFamily="34" charset="-122"/>
                          <a:cs typeface="Yu Gothic" pitchFamily="34" charset="-120"/>
                        </a:rPr>
                        <a:t>「店舗カード＋2列」に改善提案し、v278〜280で実装</a:t>
                      </a:r>
                      <a:endParaRPr lang="en-US" sz="1100" dirty="0">
                        <a:latin typeface="Yu Gothic" charset="0"/>
                        <a:ea typeface="Yu Gothic" charset="0"/>
                        <a:cs typeface="Yu Gothic" charset="0"/>
                      </a:endParaRPr>
                    </a:p>
                  </a:txBody>
                  <a:tcPr marL="91440" marR="91440" marT="45720" marB="45720" anchor="ctr">
                    <a:lnL w="9525" cap="flat" cmpd="sng" algn="ctr">
                      <a:solidFill>
                        <a:srgbClr val="EAE3D8"/>
                      </a:solidFill>
                      <a:prstDash val="solid"/>
                      <a:round/>
                      <a:headEnd type="none" w="med" len="med"/>
                      <a:tailEnd type="none" w="med" len="med"/>
                    </a:lnL>
                    <a:lnR w="9525" cap="flat" cmpd="sng" algn="ctr">
                      <a:solidFill>
                        <a:srgbClr val="EAE3D8"/>
                      </a:solidFill>
                      <a:prstDash val="solid"/>
                      <a:round/>
                      <a:headEnd type="none" w="med" len="med"/>
                      <a:tailEnd type="none" w="med" len="med"/>
                    </a:lnR>
                    <a:lnT w="9525" cap="flat" cmpd="sng" algn="ctr">
                      <a:solidFill>
                        <a:srgbClr val="EAE3D8"/>
                      </a:solidFill>
                      <a:prstDash val="solid"/>
                      <a:round/>
                      <a:headEnd type="none" w="med" len="med"/>
                      <a:tailEnd type="none" w="med" len="med"/>
                    </a:lnT>
                    <a:lnB w="9525" cap="flat" cmpd="sng" algn="ctr">
                      <a:solidFill>
                        <a:srgbClr val="EAE3D8"/>
                      </a:solidFill>
                      <a:prstDash val="solid"/>
                      <a:round/>
                      <a:headEnd type="none" w="med" len="med"/>
                      <a:tailEnd type="none" w="med" len="med"/>
                    </a:lnB>
                    <a:solidFill>
                      <a:srgbClr val="FFFFFF"/>
                    </a:solidFill>
                  </a:tcPr>
                </a:tc>
                <a:tc>
                  <a:txBody>
                    <a:bodyPr/>
                    <a:lstStyle/>
                    <a:p>
                      <a:pPr indent="0" marL="0">
                        <a:buNone/>
                      </a:pPr>
                      <a:r>
                        <a:rPr lang="en-US" sz="1100" dirty="0">
                          <a:solidFill>
                            <a:srgbClr val="B4552F"/>
                          </a:solidFill>
                          <a:latin typeface="Yu Gothic" pitchFamily="34" charset="0"/>
                          <a:ea typeface="Yu Gothic" pitchFamily="34" charset="-122"/>
                          <a:cs typeface="Yu Gothic" pitchFamily="34" charset="-120"/>
                        </a:rPr>
                        <a:t>実機で試して「一覧性が落ちた」と判断。3バージョン差し戻し、v277の状態に復元</a:t>
                      </a:r>
                      <a:endParaRPr lang="en-US" sz="1100" dirty="0">
                        <a:latin typeface="Yu Gothic" charset="0"/>
                        <a:ea typeface="Yu Gothic" charset="0"/>
                        <a:cs typeface="Yu Gothic" charset="0"/>
                      </a:endParaRPr>
                    </a:p>
                  </a:txBody>
                  <a:tcPr marL="91440" marR="91440" marT="45720" marB="45720" anchor="ctr">
                    <a:lnL w="9525" cap="flat" cmpd="sng" algn="ctr">
                      <a:solidFill>
                        <a:srgbClr val="EAE3D8"/>
                      </a:solidFill>
                      <a:prstDash val="solid"/>
                      <a:round/>
                      <a:headEnd type="none" w="med" len="med"/>
                      <a:tailEnd type="none" w="med" len="med"/>
                    </a:lnL>
                    <a:lnR w="9525" cap="flat" cmpd="sng" algn="ctr">
                      <a:solidFill>
                        <a:srgbClr val="EAE3D8"/>
                      </a:solidFill>
                      <a:prstDash val="solid"/>
                      <a:round/>
                      <a:headEnd type="none" w="med" len="med"/>
                      <a:tailEnd type="none" w="med" len="med"/>
                    </a:lnR>
                    <a:lnT w="9525" cap="flat" cmpd="sng" algn="ctr">
                      <a:solidFill>
                        <a:srgbClr val="EAE3D8"/>
                      </a:solidFill>
                      <a:prstDash val="solid"/>
                      <a:round/>
                      <a:headEnd type="none" w="med" len="med"/>
                      <a:tailEnd type="none" w="med" len="med"/>
                    </a:lnT>
                    <a:lnB w="9525" cap="flat" cmpd="sng" algn="ctr">
                      <a:solidFill>
                        <a:srgbClr val="EAE3D8"/>
                      </a:solidFill>
                      <a:prstDash val="solid"/>
                      <a:round/>
                      <a:headEnd type="none" w="med" len="med"/>
                      <a:tailEnd type="none" w="med" len="med"/>
                    </a:lnB>
                    <a:solidFill>
                      <a:srgbClr val="FBEFE9"/>
                    </a:solidFill>
                  </a:tcPr>
                </a:tc>
              </a:tr>
              <a:tr h="713232">
                <a:tc>
                  <a:txBody>
                    <a:bodyPr/>
                    <a:lstStyle/>
                    <a:p>
                      <a:pPr indent="0" marL="0">
                        <a:buNone/>
                      </a:pPr>
                      <a:r>
                        <a:rPr lang="en-US" sz="1100" b="1" dirty="0">
                          <a:solidFill>
                            <a:srgbClr val="1F1E1D"/>
                          </a:solidFill>
                          <a:latin typeface="Yu Gothic" pitchFamily="34" charset="0"/>
                          <a:ea typeface="Yu Gothic" pitchFamily="34" charset="-122"/>
                          <a:cs typeface="Yu Gothic" pitchFamily="34" charset="-120"/>
                        </a:rPr>
                        <a:t>ジャンルアイコン</a:t>
                      </a:r>
                      <a:endParaRPr lang="en-US" sz="1100" dirty="0">
                        <a:latin typeface="Yu Gothic" charset="0"/>
                        <a:ea typeface="Yu Gothic" charset="0"/>
                        <a:cs typeface="Yu Gothic" charset="0"/>
                      </a:endParaRPr>
                    </a:p>
                  </a:txBody>
                  <a:tcPr marL="91440" marR="91440" marT="45720" marB="45720" anchor="ctr">
                    <a:lnL w="9525" cap="flat" cmpd="sng" algn="ctr">
                      <a:solidFill>
                        <a:srgbClr val="EAE3D8"/>
                      </a:solidFill>
                      <a:prstDash val="solid"/>
                      <a:round/>
                      <a:headEnd type="none" w="med" len="med"/>
                      <a:tailEnd type="none" w="med" len="med"/>
                    </a:lnL>
                    <a:lnR w="9525" cap="flat" cmpd="sng" algn="ctr">
                      <a:solidFill>
                        <a:srgbClr val="EAE3D8"/>
                      </a:solidFill>
                      <a:prstDash val="solid"/>
                      <a:round/>
                      <a:headEnd type="none" w="med" len="med"/>
                      <a:tailEnd type="none" w="med" len="med"/>
                    </a:lnR>
                    <a:lnT w="9525" cap="flat" cmpd="sng" algn="ctr">
                      <a:solidFill>
                        <a:srgbClr val="EAE3D8"/>
                      </a:solidFill>
                      <a:prstDash val="solid"/>
                      <a:round/>
                      <a:headEnd type="none" w="med" len="med"/>
                      <a:tailEnd type="none" w="med" len="med"/>
                    </a:lnT>
                    <a:lnB w="9525" cap="flat" cmpd="sng" algn="ctr">
                      <a:solidFill>
                        <a:srgbClr val="EAE3D8"/>
                      </a:solidFill>
                      <a:prstDash val="solid"/>
                      <a:round/>
                      <a:headEnd type="none" w="med" len="med"/>
                      <a:tailEnd type="none" w="med" len="med"/>
                    </a:lnB>
                    <a:solidFill>
                      <a:srgbClr val="FFFFFF"/>
                    </a:solidFill>
                  </a:tcPr>
                </a:tc>
                <a:tc>
                  <a:txBody>
                    <a:bodyPr/>
                    <a:lstStyle/>
                    <a:p>
                      <a:pPr indent="0" marL="0">
                        <a:buNone/>
                      </a:pPr>
                      <a:r>
                        <a:rPr lang="en-US" sz="1100" dirty="0">
                          <a:solidFill>
                            <a:srgbClr val="1F1E1D"/>
                          </a:solidFill>
                          <a:latin typeface="Yu Gothic" pitchFamily="34" charset="0"/>
                          <a:ea typeface="Yu Gothic" pitchFamily="34" charset="-122"/>
                          <a:cs typeface="Yu Gothic" pitchFamily="34" charset="-120"/>
                        </a:rPr>
                        <a:t>AIがSVGで71種を自作</a:t>
                      </a:r>
                      <a:endParaRPr lang="en-US" sz="1100" dirty="0">
                        <a:latin typeface="Yu Gothic" charset="0"/>
                        <a:ea typeface="Yu Gothic" charset="0"/>
                        <a:cs typeface="Yu Gothic" charset="0"/>
                      </a:endParaRPr>
                    </a:p>
                  </a:txBody>
                  <a:tcPr marL="91440" marR="91440" marT="45720" marB="45720" anchor="ctr">
                    <a:lnL w="9525" cap="flat" cmpd="sng" algn="ctr">
                      <a:solidFill>
                        <a:srgbClr val="EAE3D8"/>
                      </a:solidFill>
                      <a:prstDash val="solid"/>
                      <a:round/>
                      <a:headEnd type="none" w="med" len="med"/>
                      <a:tailEnd type="none" w="med" len="med"/>
                    </a:lnL>
                    <a:lnR w="9525" cap="flat" cmpd="sng" algn="ctr">
                      <a:solidFill>
                        <a:srgbClr val="EAE3D8"/>
                      </a:solidFill>
                      <a:prstDash val="solid"/>
                      <a:round/>
                      <a:headEnd type="none" w="med" len="med"/>
                      <a:tailEnd type="none" w="med" len="med"/>
                    </a:lnR>
                    <a:lnT w="9525" cap="flat" cmpd="sng" algn="ctr">
                      <a:solidFill>
                        <a:srgbClr val="EAE3D8"/>
                      </a:solidFill>
                      <a:prstDash val="solid"/>
                      <a:round/>
                      <a:headEnd type="none" w="med" len="med"/>
                      <a:tailEnd type="none" w="med" len="med"/>
                    </a:lnT>
                    <a:lnB w="9525" cap="flat" cmpd="sng" algn="ctr">
                      <a:solidFill>
                        <a:srgbClr val="EAE3D8"/>
                      </a:solidFill>
                      <a:prstDash val="solid"/>
                      <a:round/>
                      <a:headEnd type="none" w="med" len="med"/>
                      <a:tailEnd type="none" w="med" len="med"/>
                    </a:lnB>
                    <a:solidFill>
                      <a:srgbClr val="FFFFFF"/>
                    </a:solidFill>
                  </a:tcPr>
                </a:tc>
                <a:tc>
                  <a:txBody>
                    <a:bodyPr/>
                    <a:lstStyle/>
                    <a:p>
                      <a:pPr indent="0" marL="0">
                        <a:buNone/>
                      </a:pPr>
                      <a:r>
                        <a:rPr lang="en-US" sz="1100" dirty="0">
                          <a:solidFill>
                            <a:srgbClr val="B4552F"/>
                          </a:solidFill>
                          <a:latin typeface="Yu Gothic" pitchFamily="34" charset="0"/>
                          <a:ea typeface="Yu Gothic" pitchFamily="34" charset="-122"/>
                          <a:cs typeface="Yu Gothic" pitchFamily="34" charset="-120"/>
                        </a:rPr>
                        <a:t>絵柄が不統一で不採用。手持ちイラストからの切り出しに指示し直し、71種を統一</a:t>
                      </a:r>
                      <a:endParaRPr lang="en-US" sz="1100" dirty="0">
                        <a:latin typeface="Yu Gothic" charset="0"/>
                        <a:ea typeface="Yu Gothic" charset="0"/>
                        <a:cs typeface="Yu Gothic" charset="0"/>
                      </a:endParaRPr>
                    </a:p>
                  </a:txBody>
                  <a:tcPr marL="91440" marR="91440" marT="45720" marB="45720" anchor="ctr">
                    <a:lnL w="9525" cap="flat" cmpd="sng" algn="ctr">
                      <a:solidFill>
                        <a:srgbClr val="EAE3D8"/>
                      </a:solidFill>
                      <a:prstDash val="solid"/>
                      <a:round/>
                      <a:headEnd type="none" w="med" len="med"/>
                      <a:tailEnd type="none" w="med" len="med"/>
                    </a:lnL>
                    <a:lnR w="9525" cap="flat" cmpd="sng" algn="ctr">
                      <a:solidFill>
                        <a:srgbClr val="EAE3D8"/>
                      </a:solidFill>
                      <a:prstDash val="solid"/>
                      <a:round/>
                      <a:headEnd type="none" w="med" len="med"/>
                      <a:tailEnd type="none" w="med" len="med"/>
                    </a:lnR>
                    <a:lnT w="9525" cap="flat" cmpd="sng" algn="ctr">
                      <a:solidFill>
                        <a:srgbClr val="EAE3D8"/>
                      </a:solidFill>
                      <a:prstDash val="solid"/>
                      <a:round/>
                      <a:headEnd type="none" w="med" len="med"/>
                      <a:tailEnd type="none" w="med" len="med"/>
                    </a:lnT>
                    <a:lnB w="9525" cap="flat" cmpd="sng" algn="ctr">
                      <a:solidFill>
                        <a:srgbClr val="EAE3D8"/>
                      </a:solidFill>
                      <a:prstDash val="solid"/>
                      <a:round/>
                      <a:headEnd type="none" w="med" len="med"/>
                      <a:tailEnd type="none" w="med" len="med"/>
                    </a:lnB>
                    <a:solidFill>
                      <a:srgbClr val="FBEFE9"/>
                    </a:solidFill>
                  </a:tcPr>
                </a:tc>
              </a:tr>
              <a:tr h="713232">
                <a:tc>
                  <a:txBody>
                    <a:bodyPr/>
                    <a:lstStyle/>
                    <a:p>
                      <a:pPr indent="0" marL="0">
                        <a:buNone/>
                      </a:pPr>
                      <a:r>
                        <a:rPr lang="en-US" sz="1100" b="1" dirty="0">
                          <a:solidFill>
                            <a:srgbClr val="1F1E1D"/>
                          </a:solidFill>
                          <a:latin typeface="Yu Gothic" pitchFamily="34" charset="0"/>
                          <a:ea typeface="Yu Gothic" pitchFamily="34" charset="-122"/>
                          <a:cs typeface="Yu Gothic" pitchFamily="34" charset="-120"/>
                        </a:rPr>
                        <a:t>味覚一致率</a:t>
                      </a:r>
                      <a:endParaRPr lang="en-US" sz="1100" dirty="0">
                        <a:latin typeface="Yu Gothic" charset="0"/>
                        <a:ea typeface="Yu Gothic" charset="0"/>
                        <a:cs typeface="Yu Gothic" charset="0"/>
                      </a:endParaRPr>
                    </a:p>
                  </a:txBody>
                  <a:tcPr marL="91440" marR="91440" marT="45720" marB="45720" anchor="ctr">
                    <a:lnL w="9525" cap="flat" cmpd="sng" algn="ctr">
                      <a:solidFill>
                        <a:srgbClr val="EAE3D8"/>
                      </a:solidFill>
                      <a:prstDash val="solid"/>
                      <a:round/>
                      <a:headEnd type="none" w="med" len="med"/>
                      <a:tailEnd type="none" w="med" len="med"/>
                    </a:lnL>
                    <a:lnR w="9525" cap="flat" cmpd="sng" algn="ctr">
                      <a:solidFill>
                        <a:srgbClr val="EAE3D8"/>
                      </a:solidFill>
                      <a:prstDash val="solid"/>
                      <a:round/>
                      <a:headEnd type="none" w="med" len="med"/>
                      <a:tailEnd type="none" w="med" len="med"/>
                    </a:lnR>
                    <a:lnT w="9525" cap="flat" cmpd="sng" algn="ctr">
                      <a:solidFill>
                        <a:srgbClr val="EAE3D8"/>
                      </a:solidFill>
                      <a:prstDash val="solid"/>
                      <a:round/>
                      <a:headEnd type="none" w="med" len="med"/>
                      <a:tailEnd type="none" w="med" len="med"/>
                    </a:lnT>
                    <a:lnB w="9525" cap="flat" cmpd="sng" algn="ctr">
                      <a:solidFill>
                        <a:srgbClr val="EAE3D8"/>
                      </a:solidFill>
                      <a:prstDash val="solid"/>
                      <a:round/>
                      <a:headEnd type="none" w="med" len="med"/>
                      <a:tailEnd type="none" w="med" len="med"/>
                    </a:lnB>
                    <a:solidFill>
                      <a:srgbClr val="FFFFFF"/>
                    </a:solidFill>
                  </a:tcPr>
                </a:tc>
                <a:tc>
                  <a:txBody>
                    <a:bodyPr/>
                    <a:lstStyle/>
                    <a:p>
                      <a:pPr indent="0" marL="0">
                        <a:buNone/>
                      </a:pPr>
                      <a:r>
                        <a:rPr lang="en-US" sz="1100" dirty="0">
                          <a:solidFill>
                            <a:srgbClr val="1F1E1D"/>
                          </a:solidFill>
                          <a:latin typeface="Yu Gothic" pitchFamily="34" charset="0"/>
                          <a:ea typeface="Yu Gothic" pitchFamily="34" charset="-122"/>
                          <a:cs typeface="Yu Gothic" pitchFamily="34" charset="-120"/>
                        </a:rPr>
                        <a:t>共通2〜3店でも計算して表示</a:t>
                      </a:r>
                      <a:endParaRPr lang="en-US" sz="1100" dirty="0">
                        <a:latin typeface="Yu Gothic" charset="0"/>
                        <a:ea typeface="Yu Gothic" charset="0"/>
                        <a:cs typeface="Yu Gothic" charset="0"/>
                      </a:endParaRPr>
                    </a:p>
                  </a:txBody>
                  <a:tcPr marL="91440" marR="91440" marT="45720" marB="45720" anchor="ctr">
                    <a:lnL w="9525" cap="flat" cmpd="sng" algn="ctr">
                      <a:solidFill>
                        <a:srgbClr val="EAE3D8"/>
                      </a:solidFill>
                      <a:prstDash val="solid"/>
                      <a:round/>
                      <a:headEnd type="none" w="med" len="med"/>
                      <a:tailEnd type="none" w="med" len="med"/>
                    </a:lnL>
                    <a:lnR w="9525" cap="flat" cmpd="sng" algn="ctr">
                      <a:solidFill>
                        <a:srgbClr val="EAE3D8"/>
                      </a:solidFill>
                      <a:prstDash val="solid"/>
                      <a:round/>
                      <a:headEnd type="none" w="med" len="med"/>
                      <a:tailEnd type="none" w="med" len="med"/>
                    </a:lnR>
                    <a:lnT w="9525" cap="flat" cmpd="sng" algn="ctr">
                      <a:solidFill>
                        <a:srgbClr val="EAE3D8"/>
                      </a:solidFill>
                      <a:prstDash val="solid"/>
                      <a:round/>
                      <a:headEnd type="none" w="med" len="med"/>
                      <a:tailEnd type="none" w="med" len="med"/>
                    </a:lnT>
                    <a:lnB w="9525" cap="flat" cmpd="sng" algn="ctr">
                      <a:solidFill>
                        <a:srgbClr val="EAE3D8"/>
                      </a:solidFill>
                      <a:prstDash val="solid"/>
                      <a:round/>
                      <a:headEnd type="none" w="med" len="med"/>
                      <a:tailEnd type="none" w="med" len="med"/>
                    </a:lnB>
                    <a:solidFill>
                      <a:srgbClr val="FFFFFF"/>
                    </a:solidFill>
                  </a:tcPr>
                </a:tc>
                <a:tc>
                  <a:txBody>
                    <a:bodyPr/>
                    <a:lstStyle/>
                    <a:p>
                      <a:pPr indent="0" marL="0">
                        <a:buNone/>
                      </a:pPr>
                      <a:r>
                        <a:rPr lang="en-US" sz="1100" dirty="0">
                          <a:solidFill>
                            <a:srgbClr val="B4552F"/>
                          </a:solidFill>
                          <a:latin typeface="Yu Gothic" pitchFamily="34" charset="0"/>
                          <a:ea typeface="Yu Gothic" pitchFamily="34" charset="-122"/>
                          <a:cs typeface="Yu Gothic" pitchFamily="34" charset="-120"/>
                        </a:rPr>
                        <a:t>偶然の一致を防ぐ「5件未満は非表示・20件以上で通常」の信頼度ルールを人が定義</a:t>
                      </a:r>
                      <a:endParaRPr lang="en-US" sz="1100" dirty="0">
                        <a:latin typeface="Yu Gothic" charset="0"/>
                        <a:ea typeface="Yu Gothic" charset="0"/>
                        <a:cs typeface="Yu Gothic" charset="0"/>
                      </a:endParaRPr>
                    </a:p>
                  </a:txBody>
                  <a:tcPr marL="91440" marR="91440" marT="45720" marB="45720" anchor="ctr">
                    <a:lnL w="9525" cap="flat" cmpd="sng" algn="ctr">
                      <a:solidFill>
                        <a:srgbClr val="EAE3D8"/>
                      </a:solidFill>
                      <a:prstDash val="solid"/>
                      <a:round/>
                      <a:headEnd type="none" w="med" len="med"/>
                      <a:tailEnd type="none" w="med" len="med"/>
                    </a:lnL>
                    <a:lnR w="9525" cap="flat" cmpd="sng" algn="ctr">
                      <a:solidFill>
                        <a:srgbClr val="EAE3D8"/>
                      </a:solidFill>
                      <a:prstDash val="solid"/>
                      <a:round/>
                      <a:headEnd type="none" w="med" len="med"/>
                      <a:tailEnd type="none" w="med" len="med"/>
                    </a:lnR>
                    <a:lnT w="9525" cap="flat" cmpd="sng" algn="ctr">
                      <a:solidFill>
                        <a:srgbClr val="EAE3D8"/>
                      </a:solidFill>
                      <a:prstDash val="solid"/>
                      <a:round/>
                      <a:headEnd type="none" w="med" len="med"/>
                      <a:tailEnd type="none" w="med" len="med"/>
                    </a:lnT>
                    <a:lnB w="9525" cap="flat" cmpd="sng" algn="ctr">
                      <a:solidFill>
                        <a:srgbClr val="EAE3D8"/>
                      </a:solidFill>
                      <a:prstDash val="solid"/>
                      <a:round/>
                      <a:headEnd type="none" w="med" len="med"/>
                      <a:tailEnd type="none" w="med" len="med"/>
                    </a:lnB>
                    <a:solidFill>
                      <a:srgbClr val="FBEFE9"/>
                    </a:solidFill>
                  </a:tcPr>
                </a:tc>
              </a:tr>
              <a:tr h="713232">
                <a:tc>
                  <a:txBody>
                    <a:bodyPr/>
                    <a:lstStyle/>
                    <a:p>
                      <a:pPr indent="0" marL="0">
                        <a:buNone/>
                      </a:pPr>
                      <a:r>
                        <a:rPr lang="en-US" sz="1100" b="1" dirty="0">
                          <a:solidFill>
                            <a:srgbClr val="1F1E1D"/>
                          </a:solidFill>
                          <a:latin typeface="Yu Gothic" pitchFamily="34" charset="0"/>
                          <a:ea typeface="Yu Gothic" pitchFamily="34" charset="-122"/>
                          <a:cs typeface="Yu Gothic" pitchFamily="34" charset="-120"/>
                        </a:rPr>
                        <a:t>AIのジャンル判定</a:t>
                      </a:r>
                      <a:endParaRPr lang="en-US" sz="1100" dirty="0">
                        <a:latin typeface="Yu Gothic" charset="0"/>
                        <a:ea typeface="Yu Gothic" charset="0"/>
                        <a:cs typeface="Yu Gothic" charset="0"/>
                      </a:endParaRPr>
                    </a:p>
                  </a:txBody>
                  <a:tcPr marL="91440" marR="91440" marT="45720" marB="45720" anchor="ctr">
                    <a:lnL w="9525" cap="flat" cmpd="sng" algn="ctr">
                      <a:solidFill>
                        <a:srgbClr val="EAE3D8"/>
                      </a:solidFill>
                      <a:prstDash val="solid"/>
                      <a:round/>
                      <a:headEnd type="none" w="med" len="med"/>
                      <a:tailEnd type="none" w="med" len="med"/>
                    </a:lnL>
                    <a:lnR w="9525" cap="flat" cmpd="sng" algn="ctr">
                      <a:solidFill>
                        <a:srgbClr val="EAE3D8"/>
                      </a:solidFill>
                      <a:prstDash val="solid"/>
                      <a:round/>
                      <a:headEnd type="none" w="med" len="med"/>
                      <a:tailEnd type="none" w="med" len="med"/>
                    </a:lnR>
                    <a:lnT w="9525" cap="flat" cmpd="sng" algn="ctr">
                      <a:solidFill>
                        <a:srgbClr val="EAE3D8"/>
                      </a:solidFill>
                      <a:prstDash val="solid"/>
                      <a:round/>
                      <a:headEnd type="none" w="med" len="med"/>
                      <a:tailEnd type="none" w="med" len="med"/>
                    </a:lnT>
                    <a:lnB w="9525" cap="flat" cmpd="sng" algn="ctr">
                      <a:solidFill>
                        <a:srgbClr val="EAE3D8"/>
                      </a:solidFill>
                      <a:prstDash val="solid"/>
                      <a:round/>
                      <a:headEnd type="none" w="med" len="med"/>
                      <a:tailEnd type="none" w="med" len="med"/>
                    </a:lnB>
                    <a:solidFill>
                      <a:srgbClr val="FFFFFF"/>
                    </a:solidFill>
                  </a:tcPr>
                </a:tc>
                <a:tc>
                  <a:txBody>
                    <a:bodyPr/>
                    <a:lstStyle/>
                    <a:p>
                      <a:pPr indent="0" marL="0">
                        <a:buNone/>
                      </a:pPr>
                      <a:r>
                        <a:rPr lang="en-US" sz="1100" dirty="0">
                          <a:solidFill>
                            <a:srgbClr val="1F1E1D"/>
                          </a:solidFill>
                          <a:latin typeface="Yu Gothic" pitchFamily="34" charset="0"/>
                          <a:ea typeface="Yu Gothic" pitchFamily="34" charset="-122"/>
                          <a:cs typeface="Yu Gothic" pitchFamily="34" charset="-120"/>
                        </a:rPr>
                        <a:t>まれに誤判定。再判定で手動選択を上書き</a:t>
                      </a:r>
                      <a:endParaRPr lang="en-US" sz="1100" dirty="0">
                        <a:latin typeface="Yu Gothic" charset="0"/>
                        <a:ea typeface="Yu Gothic" charset="0"/>
                        <a:cs typeface="Yu Gothic" charset="0"/>
                      </a:endParaRPr>
                    </a:p>
                  </a:txBody>
                  <a:tcPr marL="91440" marR="91440" marT="45720" marB="45720" anchor="ctr">
                    <a:lnL w="9525" cap="flat" cmpd="sng" algn="ctr">
                      <a:solidFill>
                        <a:srgbClr val="EAE3D8"/>
                      </a:solidFill>
                      <a:prstDash val="solid"/>
                      <a:round/>
                      <a:headEnd type="none" w="med" len="med"/>
                      <a:tailEnd type="none" w="med" len="med"/>
                    </a:lnL>
                    <a:lnR w="9525" cap="flat" cmpd="sng" algn="ctr">
                      <a:solidFill>
                        <a:srgbClr val="EAE3D8"/>
                      </a:solidFill>
                      <a:prstDash val="solid"/>
                      <a:round/>
                      <a:headEnd type="none" w="med" len="med"/>
                      <a:tailEnd type="none" w="med" len="med"/>
                    </a:lnR>
                    <a:lnT w="9525" cap="flat" cmpd="sng" algn="ctr">
                      <a:solidFill>
                        <a:srgbClr val="EAE3D8"/>
                      </a:solidFill>
                      <a:prstDash val="solid"/>
                      <a:round/>
                      <a:headEnd type="none" w="med" len="med"/>
                      <a:tailEnd type="none" w="med" len="med"/>
                    </a:lnT>
                    <a:lnB w="9525" cap="flat" cmpd="sng" algn="ctr">
                      <a:solidFill>
                        <a:srgbClr val="EAE3D8"/>
                      </a:solidFill>
                      <a:prstDash val="solid"/>
                      <a:round/>
                      <a:headEnd type="none" w="med" len="med"/>
                      <a:tailEnd type="none" w="med" len="med"/>
                    </a:lnB>
                    <a:solidFill>
                      <a:srgbClr val="FFFFFF"/>
                    </a:solidFill>
                  </a:tcPr>
                </a:tc>
                <a:tc>
                  <a:txBody>
                    <a:bodyPr/>
                    <a:lstStyle/>
                    <a:p>
                      <a:pPr indent="0" marL="0">
                        <a:buNone/>
                      </a:pPr>
                      <a:r>
                        <a:rPr lang="en-US" sz="1100" dirty="0">
                          <a:solidFill>
                            <a:srgbClr val="B4552F"/>
                          </a:solidFill>
                          <a:latin typeface="Yu Gothic" pitchFamily="34" charset="0"/>
                          <a:ea typeface="Yu Gothic" pitchFamily="34" charset="-122"/>
                          <a:cs typeface="Yu Gothic" pitchFamily="34" charset="-120"/>
                        </a:rPr>
                        <a:t>手動選択後はAIが上書きしない「所有権」ルール。AIは提案役、決定は人</a:t>
                      </a:r>
                      <a:endParaRPr lang="en-US" sz="1100" dirty="0">
                        <a:latin typeface="Yu Gothic" charset="0"/>
                        <a:ea typeface="Yu Gothic" charset="0"/>
                        <a:cs typeface="Yu Gothic" charset="0"/>
                      </a:endParaRPr>
                    </a:p>
                  </a:txBody>
                  <a:tcPr marL="91440" marR="91440" marT="45720" marB="45720" anchor="ctr">
                    <a:lnL w="9525" cap="flat" cmpd="sng" algn="ctr">
                      <a:solidFill>
                        <a:srgbClr val="EAE3D8"/>
                      </a:solidFill>
                      <a:prstDash val="solid"/>
                      <a:round/>
                      <a:headEnd type="none" w="med" len="med"/>
                      <a:tailEnd type="none" w="med" len="med"/>
                    </a:lnL>
                    <a:lnR w="9525" cap="flat" cmpd="sng" algn="ctr">
                      <a:solidFill>
                        <a:srgbClr val="EAE3D8"/>
                      </a:solidFill>
                      <a:prstDash val="solid"/>
                      <a:round/>
                      <a:headEnd type="none" w="med" len="med"/>
                      <a:tailEnd type="none" w="med" len="med"/>
                    </a:lnR>
                    <a:lnT w="9525" cap="flat" cmpd="sng" algn="ctr">
                      <a:solidFill>
                        <a:srgbClr val="EAE3D8"/>
                      </a:solidFill>
                      <a:prstDash val="solid"/>
                      <a:round/>
                      <a:headEnd type="none" w="med" len="med"/>
                      <a:tailEnd type="none" w="med" len="med"/>
                    </a:lnT>
                    <a:lnB w="9525" cap="flat" cmpd="sng" algn="ctr">
                      <a:solidFill>
                        <a:srgbClr val="EAE3D8"/>
                      </a:solidFill>
                      <a:prstDash val="solid"/>
                      <a:round/>
                      <a:headEnd type="none" w="med" len="med"/>
                      <a:tailEnd type="none" w="med" len="med"/>
                    </a:lnB>
                    <a:solidFill>
                      <a:srgbClr val="FBEFE9"/>
                    </a:solidFill>
                  </a:tcPr>
                </a:tc>
              </a:tr>
              <a:tr h="822960">
                <a:tc>
                  <a:txBody>
                    <a:bodyPr/>
                    <a:lstStyle/>
                    <a:p>
                      <a:pPr indent="0" marL="0">
                        <a:buNone/>
                      </a:pPr>
                      <a:r>
                        <a:rPr lang="en-US" sz="1100" b="1" dirty="0">
                          <a:solidFill>
                            <a:srgbClr val="1F1E1D"/>
                          </a:solidFill>
                          <a:latin typeface="Yu Gothic" pitchFamily="34" charset="0"/>
                          <a:ea typeface="Yu Gothic" pitchFamily="34" charset="-122"/>
                          <a:cs typeface="Yu Gothic" pitchFamily="34" charset="-120"/>
                        </a:rPr>
                        <a:t>投稿詳細のスクロール</a:t>
                      </a:r>
                      <a:endParaRPr lang="en-US" sz="1100" dirty="0">
                        <a:latin typeface="Yu Gothic" charset="0"/>
                        <a:ea typeface="Yu Gothic" charset="0"/>
                        <a:cs typeface="Yu Gothic" charset="0"/>
                      </a:endParaRPr>
                    </a:p>
                  </a:txBody>
                  <a:tcPr marL="91440" marR="91440" marT="45720" marB="45720" anchor="ctr">
                    <a:lnL w="9525" cap="flat" cmpd="sng" algn="ctr">
                      <a:solidFill>
                        <a:srgbClr val="EAE3D8"/>
                      </a:solidFill>
                      <a:prstDash val="solid"/>
                      <a:round/>
                      <a:headEnd type="none" w="med" len="med"/>
                      <a:tailEnd type="none" w="med" len="med"/>
                    </a:lnL>
                    <a:lnR w="9525" cap="flat" cmpd="sng" algn="ctr">
                      <a:solidFill>
                        <a:srgbClr val="EAE3D8"/>
                      </a:solidFill>
                      <a:prstDash val="solid"/>
                      <a:round/>
                      <a:headEnd type="none" w="med" len="med"/>
                      <a:tailEnd type="none" w="med" len="med"/>
                    </a:lnR>
                    <a:lnT w="9525" cap="flat" cmpd="sng" algn="ctr">
                      <a:solidFill>
                        <a:srgbClr val="EAE3D8"/>
                      </a:solidFill>
                      <a:prstDash val="solid"/>
                      <a:round/>
                      <a:headEnd type="none" w="med" len="med"/>
                      <a:tailEnd type="none" w="med" len="med"/>
                    </a:lnT>
                    <a:lnB w="9525" cap="flat" cmpd="sng" algn="ctr">
                      <a:solidFill>
                        <a:srgbClr val="EAE3D8"/>
                      </a:solidFill>
                      <a:prstDash val="solid"/>
                      <a:round/>
                      <a:headEnd type="none" w="med" len="med"/>
                      <a:tailEnd type="none" w="med" len="med"/>
                    </a:lnB>
                    <a:solidFill>
                      <a:srgbClr val="FFFFFF"/>
                    </a:solidFill>
                  </a:tcPr>
                </a:tc>
                <a:tc>
                  <a:txBody>
                    <a:bodyPr/>
                    <a:lstStyle/>
                    <a:p>
                      <a:pPr indent="0" marL="0">
                        <a:buNone/>
                      </a:pPr>
                      <a:r>
                        <a:rPr lang="en-US" sz="1100" dirty="0">
                          <a:solidFill>
                            <a:srgbClr val="1F1E1D"/>
                          </a:solidFill>
                          <a:latin typeface="Yu Gothic" pitchFamily="34" charset="0"/>
                          <a:ea typeface="Yu Gothic" pitchFamily="34" charset="-122"/>
                          <a:cs typeface="Yu Gothic" pitchFamily="34" charset="-120"/>
                        </a:rPr>
                        <a:t>1回目の修正（差分加算）で「直った」と報告</a:t>
                      </a:r>
                      <a:endParaRPr lang="en-US" sz="1100" dirty="0">
                        <a:latin typeface="Yu Gothic" charset="0"/>
                        <a:ea typeface="Yu Gothic" charset="0"/>
                        <a:cs typeface="Yu Gothic" charset="0"/>
                      </a:endParaRPr>
                    </a:p>
                  </a:txBody>
                  <a:tcPr marL="91440" marR="91440" marT="45720" marB="45720" anchor="ctr">
                    <a:lnL w="9525" cap="flat" cmpd="sng" algn="ctr">
                      <a:solidFill>
                        <a:srgbClr val="EAE3D8"/>
                      </a:solidFill>
                      <a:prstDash val="solid"/>
                      <a:round/>
                      <a:headEnd type="none" w="med" len="med"/>
                      <a:tailEnd type="none" w="med" len="med"/>
                    </a:lnL>
                    <a:lnR w="9525" cap="flat" cmpd="sng" algn="ctr">
                      <a:solidFill>
                        <a:srgbClr val="EAE3D8"/>
                      </a:solidFill>
                      <a:prstDash val="solid"/>
                      <a:round/>
                      <a:headEnd type="none" w="med" len="med"/>
                      <a:tailEnd type="none" w="med" len="med"/>
                    </a:lnR>
                    <a:lnT w="9525" cap="flat" cmpd="sng" algn="ctr">
                      <a:solidFill>
                        <a:srgbClr val="EAE3D8"/>
                      </a:solidFill>
                      <a:prstDash val="solid"/>
                      <a:round/>
                      <a:headEnd type="none" w="med" len="med"/>
                      <a:tailEnd type="none" w="med" len="med"/>
                    </a:lnT>
                    <a:lnB w="9525" cap="flat" cmpd="sng" algn="ctr">
                      <a:solidFill>
                        <a:srgbClr val="EAE3D8"/>
                      </a:solidFill>
                      <a:prstDash val="solid"/>
                      <a:round/>
                      <a:headEnd type="none" w="med" len="med"/>
                      <a:tailEnd type="none" w="med" len="med"/>
                    </a:lnB>
                    <a:solidFill>
                      <a:srgbClr val="FFFFFF"/>
                    </a:solidFill>
                  </a:tcPr>
                </a:tc>
                <a:tc>
                  <a:txBody>
                    <a:bodyPr/>
                    <a:lstStyle/>
                    <a:p>
                      <a:pPr indent="0" marL="0">
                        <a:buNone/>
                      </a:pPr>
                      <a:r>
                        <a:rPr lang="en-US" sz="1100" dirty="0">
                          <a:solidFill>
                            <a:srgbClr val="B4552F"/>
                          </a:solidFill>
                          <a:latin typeface="Yu Gothic" pitchFamily="34" charset="0"/>
                          <a:ea typeface="Yu Gothic" pitchFamily="34" charset="-122"/>
                          <a:cs typeface="Yu Gothic" pitchFamily="34" charset="-120"/>
                        </a:rPr>
                        <a:t>実機で「まだ滑らかでない」と差し戻し → 計測で原因（scrollTopの切り詰め）を特定させ方式変更（v290-291）</a:t>
                      </a:r>
                      <a:endParaRPr lang="en-US" sz="1100" dirty="0">
                        <a:latin typeface="Yu Gothic" charset="0"/>
                        <a:ea typeface="Yu Gothic" charset="0"/>
                        <a:cs typeface="Yu Gothic" charset="0"/>
                      </a:endParaRPr>
                    </a:p>
                  </a:txBody>
                  <a:tcPr marL="91440" marR="91440" marT="45720" marB="45720" anchor="ctr">
                    <a:lnL w="9525" cap="flat" cmpd="sng" algn="ctr">
                      <a:solidFill>
                        <a:srgbClr val="EAE3D8"/>
                      </a:solidFill>
                      <a:prstDash val="solid"/>
                      <a:round/>
                      <a:headEnd type="none" w="med" len="med"/>
                      <a:tailEnd type="none" w="med" len="med"/>
                    </a:lnL>
                    <a:lnR w="9525" cap="flat" cmpd="sng" algn="ctr">
                      <a:solidFill>
                        <a:srgbClr val="EAE3D8"/>
                      </a:solidFill>
                      <a:prstDash val="solid"/>
                      <a:round/>
                      <a:headEnd type="none" w="med" len="med"/>
                      <a:tailEnd type="none" w="med" len="med"/>
                    </a:lnR>
                    <a:lnT w="9525" cap="flat" cmpd="sng" algn="ctr">
                      <a:solidFill>
                        <a:srgbClr val="EAE3D8"/>
                      </a:solidFill>
                      <a:prstDash val="solid"/>
                      <a:round/>
                      <a:headEnd type="none" w="med" len="med"/>
                      <a:tailEnd type="none" w="med" len="med"/>
                    </a:lnT>
                    <a:lnB w="9525" cap="flat" cmpd="sng" algn="ctr">
                      <a:solidFill>
                        <a:srgbClr val="EAE3D8"/>
                      </a:solidFill>
                      <a:prstDash val="solid"/>
                      <a:round/>
                      <a:headEnd type="none" w="med" len="med"/>
                      <a:tailEnd type="none" w="med" len="med"/>
                    </a:lnB>
                    <a:solidFill>
                      <a:srgbClr val="FBEFE9"/>
                    </a:solidFill>
                  </a:tcPr>
                </a:tc>
              </a:tr>
            </a:tbl>
          </a:graphicData>
        </a:graphic>
      </p:graphicFrame>
      <p:sp>
        <p:nvSpPr>
          <p:cNvPr id="5" name="Text 2"/>
          <p:cNvSpPr txBox="1"/>
          <p:nvPr/>
        </p:nvSpPr>
        <p:spPr>
          <a:xfrm>
            <a:off x="548640" y="5852160"/>
            <a:ext cx="11064240" cy="457200"/>
          </a:xfrm>
          <a:prstGeom prst="rect">
            <a:avLst/>
          </a:prstGeom>
          <a:noFill/>
          <a:ln/>
        </p:spPr>
        <p:txBody>
          <a:bodyPr wrap="square" lIns="0" tIns="0" rIns="0" bIns="0" rtlCol="0" anchor="t"/>
          <a:lstStyle/>
          <a:p>
            <a:pPr algn="l" indent="0" marL="0">
              <a:buNone/>
            </a:pPr>
            <a:r>
              <a:rPr lang="en-US" sz="1250" b="1" dirty="0">
                <a:solidFill>
                  <a:srgbClr val="C6613F"/>
                </a:solidFill>
                <a:latin typeface="Yu Gothic" pitchFamily="34" charset="0"/>
                <a:ea typeface="Yu Gothic" pitchFamily="34" charset="-122"/>
                <a:cs typeface="Yu Gothic" pitchFamily="34" charset="-120"/>
              </a:rPr>
              <a:t>共通する原則：</a:t>
            </a:r>
            <a:pPr algn="l" indent="0" marL="0">
              <a:buNone/>
            </a:pPr>
            <a:r>
              <a:rPr lang="en-US" sz="1250" dirty="0">
                <a:solidFill>
                  <a:srgbClr val="1F1E1D"/>
                </a:solidFill>
                <a:latin typeface="Yu Gothic" pitchFamily="34" charset="0"/>
                <a:ea typeface="Yu Gothic" pitchFamily="34" charset="-122"/>
                <a:cs typeface="Yu Gothic" pitchFamily="34" charset="-120"/>
              </a:rPr>
              <a:t>AIの出力は「提案」。採否は必ず実機で触って決める。品質の基準（一覧性・絵柄の統一・信頼度）は人が言葉にして渡す。</a:t>
            </a:r>
            <a:endParaRPr lang="en-US" sz="1250" dirty="0"/>
          </a:p>
        </p:txBody>
      </p:sp>
      <p:sp>
        <p:nvSpPr>
          <p:cNvPr id="6" name="Text 3"/>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8A857D"/>
                </a:solidFill>
                <a:latin typeface="Yu Gothic" pitchFamily="34" charset="0"/>
                <a:ea typeface="Yu Gothic" pitchFamily="34" charset="-122"/>
                <a:cs typeface="Yu Gothic" pitchFamily="34" charset="-120"/>
              </a:rPr>
              <a:t>BITEMAP ｜ 2026 AI Innovators Cup @ Shibaura 決勝</a:t>
            </a:r>
            <a:endParaRPr lang="en-US" sz="900" dirty="0"/>
          </a:p>
        </p:txBody>
      </p:sp>
      <p:sp>
        <p:nvSpPr>
          <p:cNvPr id="7" name="Text 4"/>
          <p:cNvSpPr txBox="1"/>
          <p:nvPr/>
        </p:nvSpPr>
        <p:spPr>
          <a:xfrm>
            <a:off x="11155680" y="6446520"/>
            <a:ext cx="457200" cy="274320"/>
          </a:xfrm>
          <a:prstGeom prst="rect">
            <a:avLst/>
          </a:prstGeom>
          <a:noFill/>
          <a:ln/>
        </p:spPr>
        <p:txBody>
          <a:bodyPr wrap="square" lIns="0" tIns="0" rIns="0" bIns="0" rtlCol="0" anchor="ctr"/>
          <a:lstStyle/>
          <a:p>
            <a:pPr algn="r" indent="0" marL="0">
              <a:buNone/>
            </a:pPr>
            <a:r>
              <a:rPr lang="en-US" sz="900" dirty="0">
                <a:solidFill>
                  <a:srgbClr val="8A857D"/>
                </a:solidFill>
                <a:latin typeface="Yu Gothic" pitchFamily="34" charset="0"/>
                <a:ea typeface="Yu Gothic" pitchFamily="34" charset="-122"/>
                <a:cs typeface="Yu Gothic" pitchFamily="34" charset="-120"/>
              </a:rPr>
              <a:t>14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7315200" cy="320040"/>
          </a:xfrm>
          <a:prstGeom prst="rect">
            <a:avLst/>
          </a:prstGeom>
          <a:noFill/>
          <a:ln/>
        </p:spPr>
        <p:txBody>
          <a:bodyPr wrap="square" lIns="0" tIns="0" rIns="0" bIns="0" rtlCol="0" anchor="ctr"/>
          <a:lstStyle/>
          <a:p>
            <a:pPr indent="0" marL="0">
              <a:buNone/>
            </a:pPr>
            <a:r>
              <a:rPr lang="en-US" sz="1300" b="1" spc="200" kern="0" dirty="0">
                <a:solidFill>
                  <a:srgbClr val="C6613F"/>
                </a:solidFill>
                <a:latin typeface="Yu Gothic" pitchFamily="34" charset="0"/>
                <a:ea typeface="Yu Gothic" pitchFamily="34" charset="-122"/>
                <a:cs typeface="Yu Gothic" pitchFamily="34" charset="-120"/>
              </a:rPr>
              <a:t>補足</a:t>
            </a:r>
            <a:endParaRPr lang="en-US" sz="1300" dirty="0"/>
          </a:p>
        </p:txBody>
      </p:sp>
      <p:sp>
        <p:nvSpPr>
          <p:cNvPr id="3" name="Text 1"/>
          <p:cNvSpPr txBox="1"/>
          <p:nvPr/>
        </p:nvSpPr>
        <p:spPr>
          <a:xfrm>
            <a:off x="548640" y="621792"/>
            <a:ext cx="11064240" cy="685800"/>
          </a:xfrm>
          <a:prstGeom prst="rect">
            <a:avLst/>
          </a:prstGeom>
          <a:noFill/>
          <a:ln/>
        </p:spPr>
        <p:txBody>
          <a:bodyPr wrap="square" lIns="0" tIns="0" rIns="0" bIns="0" rtlCol="0" anchor="ctr"/>
          <a:lstStyle/>
          <a:p>
            <a:pPr indent="0" marL="0">
              <a:buNone/>
            </a:pPr>
            <a:r>
              <a:rPr lang="en-US" sz="3000" b="1" dirty="0">
                <a:solidFill>
                  <a:srgbClr val="1F1E1D"/>
                </a:solidFill>
                <a:latin typeface="Yu Gothic" pitchFamily="34" charset="0"/>
                <a:ea typeface="Yu Gothic" pitchFamily="34" charset="-122"/>
                <a:cs typeface="Yu Gothic" pitchFamily="34" charset="-120"/>
              </a:rPr>
              <a:t>参考：一般向け紹介動画（アニメ＋実演・約1分）</a:t>
            </a:r>
            <a:endParaRPr lang="en-US" sz="3000" dirty="0"/>
          </a:p>
        </p:txBody>
      </p:sp>
      <p:pic>
        <p:nvPicPr>
          <p:cNvPr id="3" name="Media 0">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1709928" y="1417320"/>
            <a:ext cx="8778240" cy="4937760"/>
          </a:xfrm>
          <a:prstGeom prst="rect">
            <a:avLst/>
          </a:prstGeom>
        </p:spPr>
      </p:pic>
      <p:sp>
        <p:nvSpPr>
          <p:cNvPr id="5" name="Text 2"/>
          <p:cNvSpPr txBox="1"/>
          <p:nvPr/>
        </p:nvSpPr>
        <p:spPr>
          <a:xfrm>
            <a:off x="548640" y="6446520"/>
            <a:ext cx="7315200" cy="274320"/>
          </a:xfrm>
          <a:prstGeom prst="rect">
            <a:avLst/>
          </a:prstGeom>
          <a:noFill/>
          <a:ln/>
        </p:spPr>
        <p:txBody>
          <a:bodyPr wrap="square" lIns="0" tIns="0" rIns="0" bIns="0" rtlCol="0" anchor="ctr"/>
          <a:lstStyle/>
          <a:p>
            <a:pPr indent="0" marL="0">
              <a:buNone/>
            </a:pPr>
            <a:r>
              <a:rPr lang="en-US" sz="900" dirty="0">
                <a:solidFill>
                  <a:srgbClr val="8A857D"/>
                </a:solidFill>
                <a:latin typeface="Yu Gothic" pitchFamily="34" charset="0"/>
                <a:ea typeface="Yu Gothic" pitchFamily="34" charset="-122"/>
                <a:cs typeface="Yu Gothic" pitchFamily="34" charset="-120"/>
              </a:rPr>
              <a:t>BITEMAP ｜ 2026 AI Innovators Cup @ Shibaura 決勝</a:t>
            </a:r>
            <a:endParaRPr lang="en-US" sz="900" dirty="0"/>
          </a:p>
        </p:txBody>
      </p:sp>
      <p:sp>
        <p:nvSpPr>
          <p:cNvPr id="6" name="Text 3"/>
          <p:cNvSpPr txBox="1"/>
          <p:nvPr/>
        </p:nvSpPr>
        <p:spPr>
          <a:xfrm>
            <a:off x="11155680" y="6446520"/>
            <a:ext cx="457200" cy="274320"/>
          </a:xfrm>
          <a:prstGeom prst="rect">
            <a:avLst/>
          </a:prstGeom>
          <a:noFill/>
          <a:ln/>
        </p:spPr>
        <p:txBody>
          <a:bodyPr wrap="square" lIns="0" tIns="0" rIns="0" bIns="0" rtlCol="0" anchor="ctr"/>
          <a:lstStyle/>
          <a:p>
            <a:pPr algn="r" indent="0" marL="0">
              <a:buNone/>
            </a:pPr>
            <a:r>
              <a:rPr lang="en-US" sz="900" dirty="0">
                <a:solidFill>
                  <a:srgbClr val="8A857D"/>
                </a:solidFill>
                <a:latin typeface="Yu Gothic" pitchFamily="34" charset="0"/>
                <a:ea typeface="Yu Gothic" pitchFamily="34" charset="-122"/>
                <a:cs typeface="Yu Gothic" pitchFamily="34" charset="-120"/>
              </a:rPr>
              <a:t>15</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2026-09-19T10:05:10Z</dcterms:created>
  <dcterms:modified xsi:type="dcterms:W3CDTF">2026-09-19T10:05:10Z</dcterms:modified>
</cp:coreProperties>
</file>