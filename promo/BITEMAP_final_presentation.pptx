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【1:15】実機・実データの録画（74秒・表示は★3以上の記録のみ・BGM小音量入り）。①ホーム：味覚一致83%のバッジと「あなた向け／全体」評価 ②アルバム：自分の食日記としての写真グリッド→お店の記録 ③地図：訪問順にピンが1本ずつ増えていく → 渋谷へズーム → ピンをタップして店舗シート ④検索：ジャンル別の写真一覧 ⑤ふりかえり：統計。再生できない場合は本番URLをブラウザで開いて実演。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上が開発ループ。要望を伝える→AIが実装と自動テスト→デプロイ→人が実機で検証して採否。これを295回。①目的は、実装をAIに任せて人の判断の回数を最大化すること。アプリ内でも写真のジャンル判定にAIを使い、迷ったら人が選ぶ。②プロンプトは、ルールは文書に、要望は現象で、判定は制約で。③人の判断の代表例が3つ。特に3つ目、AIが直ったと言っても人が触るまで直っていない、これを次で。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のあと1週間、毎日使って見つけた5点を、予選と同じループで直しました。いちばん覚えているのがこれ。スクロールが止まる不具合を、AIは1回目の修正で「直りました」と報告した。でも実機で触ると直っていない。差し戻して、計測させて、本当の原因を特定させ、方式を変えて採用。AIの報告を鵜呑みにせず、実機で判断する。この姿勢が決勝までに日常にな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成果。いちばん大事な数字は208店舗。デモ用のダミーではなく、私が本番アプリに毎日記録してきた実データです。記録の手間はここまで下がりました。従来は店名・住所・ジャンル・料理・日時・写真・評価の7項目。BITEMAPは写真と★と店名だけ、約1分。だから続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情報の流れです。一般のサイトは、店の評価の平均があなたに届く。BITEMAPは逆で、あなたの評価から味覚が近い人を見つけ、その人の評価で、まだ行っていない店を選ぶ。評価の主語が「みんな」から「あなた」に変わる。課題は正直に。Google Places やクラウドは使うほど課金され、一般公開にはコストの壁。初期の一致率は共通店が少ないと出せないので、5件未満は非表示、自分の評価を100%として使う設計で、1人でも食日記として成立します。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ここまでは295回のループ。これからは人のネットワークです。100人で、味覚が近い人が数人見つかる。1,000人で、フォロー外にも近い人が現れ、おすすめが機能する。10,000人で、「あなたと似た人がまだ行っていない店」を地域ごとに提案できる。人が増えるほど、一人ひとりの地図が賢くなる設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【0:20】まとめ3点。平均ではなく個人の味覚。AIは実装と判定、判断は人。毎日使えるアプリになりました。ご清聴ありがとうございました。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実際に使っている画面と実データ（74秒）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動画は本人アカウントの実データ（表示は★3以上の記録のみ）。予備: https://takusangoukaku-hash.github.io/gourmet-app/</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72768"/>
            <a:ext cx="22860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開発ループ</a:t>
            </a:r>
            <a:endParaRPr lang="en-US" sz="1100" dirty="0"/>
          </a:p>
        </p:txBody>
      </p:sp>
      <p:sp>
        <p:nvSpPr>
          <p:cNvPr id="6" name="Shape 4"/>
          <p:cNvSpPr/>
          <p:nvPr/>
        </p:nvSpPr>
        <p:spPr>
          <a:xfrm>
            <a:off x="777240" y="1920240"/>
            <a:ext cx="1828800" cy="914400"/>
          </a:xfrm>
          <a:prstGeom prst="roundRect">
            <a:avLst>
              <a:gd name="adj" fmla="val 10000"/>
            </a:avLst>
          </a:prstGeom>
          <a:solidFill>
            <a:srgbClr val="FBEFE9"/>
          </a:solidFill>
          <a:ln w="12700">
            <a:solidFill>
              <a:srgbClr val="FBEFE9"/>
            </a:solidFill>
            <a:prstDash val="solid"/>
          </a:ln>
        </p:spPr>
      </p:sp>
      <p:sp>
        <p:nvSpPr>
          <p:cNvPr id="7" name="Text 5"/>
          <p:cNvSpPr txBox="1"/>
          <p:nvPr/>
        </p:nvSpPr>
        <p:spPr>
          <a:xfrm>
            <a:off x="7772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8" name="Text 6"/>
          <p:cNvSpPr txBox="1"/>
          <p:nvPr/>
        </p:nvSpPr>
        <p:spPr>
          <a:xfrm>
            <a:off x="8503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要望を言葉・画像で伝える</a:t>
            </a:r>
            <a:endParaRPr lang="en-US" sz="1100" dirty="0"/>
          </a:p>
        </p:txBody>
      </p:sp>
      <p:sp>
        <p:nvSpPr>
          <p:cNvPr id="9" name="Shape 7"/>
          <p:cNvSpPr/>
          <p:nvPr/>
        </p:nvSpPr>
        <p:spPr>
          <a:xfrm>
            <a:off x="2624328" y="2240280"/>
            <a:ext cx="182880" cy="310896"/>
          </a:xfrm>
          <a:prstGeom prst="rightArrow">
            <a:avLst/>
          </a:prstGeom>
          <a:solidFill>
            <a:srgbClr val="D9CFC2"/>
          </a:solidFill>
          <a:ln w="12700">
            <a:solidFill>
              <a:srgbClr val="D9CFC2"/>
            </a:solidFill>
            <a:prstDash val="solid"/>
          </a:ln>
        </p:spPr>
      </p:sp>
      <p:sp>
        <p:nvSpPr>
          <p:cNvPr id="10" name="Shape 8"/>
          <p:cNvSpPr/>
          <p:nvPr/>
        </p:nvSpPr>
        <p:spPr>
          <a:xfrm>
            <a:off x="2834640" y="1920240"/>
            <a:ext cx="1828800" cy="914400"/>
          </a:xfrm>
          <a:prstGeom prst="roundRect">
            <a:avLst>
              <a:gd name="adj" fmla="val 10000"/>
            </a:avLst>
          </a:prstGeom>
          <a:solidFill>
            <a:srgbClr val="EEF3FB"/>
          </a:solidFill>
          <a:ln w="12700">
            <a:solidFill>
              <a:srgbClr val="EEF3FB"/>
            </a:solidFill>
            <a:prstDash val="solid"/>
          </a:ln>
        </p:spPr>
      </p:sp>
      <p:sp>
        <p:nvSpPr>
          <p:cNvPr id="11" name="Text 9"/>
          <p:cNvSpPr txBox="1"/>
          <p:nvPr/>
        </p:nvSpPr>
        <p:spPr>
          <a:xfrm>
            <a:off x="28346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2" name="Text 10"/>
          <p:cNvSpPr txBox="1"/>
          <p:nvPr/>
        </p:nvSpPr>
        <p:spPr>
          <a:xfrm>
            <a:off x="29077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実装＋自動テスト</a:t>
            </a:r>
            <a:endParaRPr lang="en-US" sz="1100" dirty="0"/>
          </a:p>
        </p:txBody>
      </p:sp>
      <p:sp>
        <p:nvSpPr>
          <p:cNvPr id="13" name="Shape 11"/>
          <p:cNvSpPr/>
          <p:nvPr/>
        </p:nvSpPr>
        <p:spPr>
          <a:xfrm>
            <a:off x="4681728" y="2240280"/>
            <a:ext cx="182880" cy="310896"/>
          </a:xfrm>
          <a:prstGeom prst="rightArrow">
            <a:avLst/>
          </a:prstGeom>
          <a:solidFill>
            <a:srgbClr val="D9CFC2"/>
          </a:solidFill>
          <a:ln w="12700">
            <a:solidFill>
              <a:srgbClr val="D9CFC2"/>
            </a:solidFill>
            <a:prstDash val="solid"/>
          </a:ln>
        </p:spPr>
      </p:sp>
      <p:sp>
        <p:nvSpPr>
          <p:cNvPr id="14" name="Shape 12"/>
          <p:cNvSpPr/>
          <p:nvPr/>
        </p:nvSpPr>
        <p:spPr>
          <a:xfrm>
            <a:off x="4892040" y="1920240"/>
            <a:ext cx="1828800" cy="914400"/>
          </a:xfrm>
          <a:prstGeom prst="roundRect">
            <a:avLst>
              <a:gd name="adj" fmla="val 10000"/>
            </a:avLst>
          </a:prstGeom>
          <a:solidFill>
            <a:srgbClr val="EEF3FB"/>
          </a:solidFill>
          <a:ln w="12700">
            <a:solidFill>
              <a:srgbClr val="EEF3FB"/>
            </a:solidFill>
            <a:prstDash val="solid"/>
          </a:ln>
        </p:spPr>
      </p:sp>
      <p:sp>
        <p:nvSpPr>
          <p:cNvPr id="15" name="Text 13"/>
          <p:cNvSpPr txBox="1"/>
          <p:nvPr/>
        </p:nvSpPr>
        <p:spPr>
          <a:xfrm>
            <a:off x="48920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6" name="Text 14"/>
          <p:cNvSpPr txBox="1"/>
          <p:nvPr/>
        </p:nvSpPr>
        <p:spPr>
          <a:xfrm>
            <a:off x="49651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コミット＆本番デプロイ</a:t>
            </a:r>
            <a:endParaRPr lang="en-US" sz="1100" dirty="0"/>
          </a:p>
        </p:txBody>
      </p:sp>
      <p:sp>
        <p:nvSpPr>
          <p:cNvPr id="17" name="Shape 15"/>
          <p:cNvSpPr/>
          <p:nvPr/>
        </p:nvSpPr>
        <p:spPr>
          <a:xfrm>
            <a:off x="6739128" y="2240280"/>
            <a:ext cx="182880" cy="310896"/>
          </a:xfrm>
          <a:prstGeom prst="rightArrow">
            <a:avLst/>
          </a:prstGeom>
          <a:solidFill>
            <a:srgbClr val="D9CFC2"/>
          </a:solidFill>
          <a:ln w="12700">
            <a:solidFill>
              <a:srgbClr val="D9CFC2"/>
            </a:solidFill>
            <a:prstDash val="solid"/>
          </a:ln>
        </p:spPr>
      </p:sp>
      <p:sp>
        <p:nvSpPr>
          <p:cNvPr id="18" name="Shape 16"/>
          <p:cNvSpPr/>
          <p:nvPr/>
        </p:nvSpPr>
        <p:spPr>
          <a:xfrm>
            <a:off x="6949440" y="1920240"/>
            <a:ext cx="1828800" cy="914400"/>
          </a:xfrm>
          <a:prstGeom prst="roundRect">
            <a:avLst>
              <a:gd name="adj" fmla="val 10000"/>
            </a:avLst>
          </a:prstGeom>
          <a:solidFill>
            <a:srgbClr val="FBEFE9"/>
          </a:solidFill>
          <a:ln w="12700">
            <a:solidFill>
              <a:srgbClr val="FBEFE9"/>
            </a:solidFill>
            <a:prstDash val="solid"/>
          </a:ln>
        </p:spPr>
      </p:sp>
      <p:sp>
        <p:nvSpPr>
          <p:cNvPr id="19" name="Text 17"/>
          <p:cNvSpPr txBox="1"/>
          <p:nvPr/>
        </p:nvSpPr>
        <p:spPr>
          <a:xfrm>
            <a:off x="69494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20" name="Text 18"/>
          <p:cNvSpPr txBox="1"/>
          <p:nvPr/>
        </p:nvSpPr>
        <p:spPr>
          <a:xfrm>
            <a:off x="70225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実機で検証→採否を決める</a:t>
            </a:r>
            <a:endParaRPr lang="en-US" sz="1100" dirty="0"/>
          </a:p>
        </p:txBody>
      </p:sp>
      <p:sp>
        <p:nvSpPr>
          <p:cNvPr id="21" name="Text 19"/>
          <p:cNvSpPr txBox="1"/>
          <p:nvPr/>
        </p:nvSpPr>
        <p:spPr>
          <a:xfrm>
            <a:off x="9006840" y="1554480"/>
            <a:ext cx="1600200" cy="914400"/>
          </a:xfrm>
          <a:prstGeom prst="rect">
            <a:avLst/>
          </a:prstGeom>
          <a:noFill/>
          <a:ln/>
        </p:spPr>
        <p:txBody>
          <a:bodyPr wrap="square" lIns="0" tIns="0" rIns="0" bIns="0" rtlCol="0" anchor="ctr"/>
          <a:lstStyle/>
          <a:p>
            <a:pPr algn="r" indent="0" marL="0">
              <a:buNone/>
            </a:pPr>
            <a:r>
              <a:rPr lang="en-US" sz="5400" b="1" dirty="0">
                <a:solidFill>
                  <a:srgbClr val="C6613F"/>
                </a:solidFill>
                <a:latin typeface="Yu Gothic" pitchFamily="34" charset="0"/>
                <a:ea typeface="Yu Gothic" pitchFamily="34" charset="-122"/>
                <a:cs typeface="Yu Gothic" pitchFamily="34" charset="-120"/>
              </a:rPr>
              <a:t>295</a:t>
            </a:r>
            <a:endParaRPr lang="en-US" sz="5400" dirty="0"/>
          </a:p>
        </p:txBody>
      </p:sp>
      <p:sp>
        <p:nvSpPr>
          <p:cNvPr id="22" name="Text 20"/>
          <p:cNvSpPr txBox="1"/>
          <p:nvPr/>
        </p:nvSpPr>
        <p:spPr>
          <a:xfrm>
            <a:off x="10625328" y="1783080"/>
            <a:ext cx="822960" cy="548640"/>
          </a:xfrm>
          <a:prstGeom prst="rect">
            <a:avLst/>
          </a:prstGeom>
          <a:noFill/>
          <a:ln/>
        </p:spPr>
        <p:txBody>
          <a:bodyPr wrap="square" lIns="0" tIns="0" rIns="0" bIns="0" rtlCol="0" anchor="ctr"/>
          <a:lstStyle/>
          <a:p>
            <a:pPr indent="0" marL="0">
              <a:buNone/>
            </a:pPr>
            <a:r>
              <a:rPr lang="en-US" sz="2000" b="1" dirty="0">
                <a:solidFill>
                  <a:srgbClr val="C6613F"/>
                </a:solidFill>
                <a:latin typeface="Yu Gothic" pitchFamily="34" charset="0"/>
                <a:ea typeface="Yu Gothic" pitchFamily="34" charset="-122"/>
                <a:cs typeface="Yu Gothic" pitchFamily="34" charset="-120"/>
              </a:rPr>
              <a:t>回転</a:t>
            </a:r>
            <a:endParaRPr lang="en-US" sz="2000" dirty="0"/>
          </a:p>
        </p:txBody>
      </p:sp>
      <p:sp>
        <p:nvSpPr>
          <p:cNvPr id="23" name="Text 21"/>
          <p:cNvSpPr txBox="1"/>
          <p:nvPr/>
        </p:nvSpPr>
        <p:spPr>
          <a:xfrm>
            <a:off x="9006840" y="2468880"/>
            <a:ext cx="2468880" cy="548640"/>
          </a:xfrm>
          <a:prstGeom prst="rect">
            <a:avLst/>
          </a:prstGeom>
          <a:noFill/>
          <a:ln/>
        </p:spPr>
        <p:txBody>
          <a:bodyPr wrap="square" lIns="0" tIns="0" rIns="0" bIns="0" rtlCol="0" anchor="ctr"/>
          <a:lstStyle/>
          <a:p>
            <a:pPr algn="r" indent="0" marL="0">
              <a:buNone/>
            </a:pPr>
            <a:r>
              <a:rPr lang="en-US" sz="1000" dirty="0">
                <a:solidFill>
                  <a:srgbClr val="6E6960"/>
                </a:solidFill>
                <a:latin typeface="Yu Gothic" pitchFamily="34" charset="0"/>
                <a:ea typeface="Yu Gothic" pitchFamily="34" charset="-122"/>
                <a:cs typeface="Yu Gothic" pitchFamily="34" charset="-120"/>
              </a:rPr>
              <a:t>コードは全量AI実装（Claude Code）</a:t>
            </a:r>
            <a:endParaRPr lang="en-US" sz="1000" dirty="0"/>
          </a:p>
          <a:p>
            <a:pPr algn="r" indent="0" marL="0">
              <a:buNone/>
            </a:pPr>
            <a:r>
              <a:rPr lang="en-US" sz="1000" dirty="0">
                <a:solidFill>
                  <a:srgbClr val="6E6960"/>
                </a:solidFill>
                <a:latin typeface="Yu Gothic" pitchFamily="34" charset="0"/>
                <a:ea typeface="Yu Gothic" pitchFamily="34" charset="-122"/>
                <a:cs typeface="Yu Gothic" pitchFamily="34" charset="-120"/>
              </a:rPr>
              <a:t>人は要望・検証・採否だけ</a:t>
            </a:r>
            <a:endParaRPr lang="en-US" sz="1000" dirty="0"/>
          </a:p>
        </p:txBody>
      </p:sp>
      <p:sp>
        <p:nvSpPr>
          <p:cNvPr id="24" name="Shape 22"/>
          <p:cNvSpPr/>
          <p:nvPr/>
        </p:nvSpPr>
        <p:spPr>
          <a:xfrm>
            <a:off x="548640"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749808" y="3429000"/>
            <a:ext cx="365760" cy="365760"/>
          </a:xfrm>
          <a:prstGeom prst="ellipse">
            <a:avLst/>
          </a:prstGeom>
          <a:solidFill>
            <a:srgbClr val="C6613F"/>
          </a:solidFill>
          <a:ln w="12700">
            <a:solidFill>
              <a:srgbClr val="C6613F"/>
            </a:solidFill>
            <a:prstDash val="solid"/>
          </a:ln>
        </p:spPr>
      </p:sp>
      <p:sp>
        <p:nvSpPr>
          <p:cNvPr id="26" name="Text 24"/>
          <p:cNvSpPr txBox="1"/>
          <p:nvPr/>
        </p:nvSpPr>
        <p:spPr>
          <a:xfrm>
            <a:off x="749808"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27" name="Text 25"/>
          <p:cNvSpPr txBox="1"/>
          <p:nvPr/>
        </p:nvSpPr>
        <p:spPr>
          <a:xfrm>
            <a:off x="1207008"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28" name="Text 26"/>
          <p:cNvSpPr txBox="1"/>
          <p:nvPr/>
        </p:nvSpPr>
        <p:spPr>
          <a:xfrm>
            <a:off x="749808"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実装はAIに全量任せ、人は「判断の回数」を最大化する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アプリ内：料理写真を Claude API で 70+ ジャンルに自動判定</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迷ったら空欄にして人が選ぶ。キー未設定でも地図タグ推定で動く</a:t>
            </a:r>
            <a:endParaRPr lang="en-US" sz="1200" dirty="0"/>
          </a:p>
        </p:txBody>
      </p:sp>
      <p:sp>
        <p:nvSpPr>
          <p:cNvPr id="29" name="Shape 27"/>
          <p:cNvSpPr/>
          <p:nvPr/>
        </p:nvSpPr>
        <p:spPr>
          <a:xfrm>
            <a:off x="4315968"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4517136" y="3429000"/>
            <a:ext cx="365760" cy="365760"/>
          </a:xfrm>
          <a:prstGeom prst="ellipse">
            <a:avLst/>
          </a:prstGeom>
          <a:solidFill>
            <a:srgbClr val="C6613F"/>
          </a:solidFill>
          <a:ln w="12700">
            <a:solidFill>
              <a:srgbClr val="C6613F"/>
            </a:solidFill>
            <a:prstDash val="solid"/>
          </a:ln>
        </p:spPr>
      </p:sp>
      <p:sp>
        <p:nvSpPr>
          <p:cNvPr id="31" name="Text 29"/>
          <p:cNvSpPr txBox="1"/>
          <p:nvPr/>
        </p:nvSpPr>
        <p:spPr>
          <a:xfrm>
            <a:off x="4517136"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32" name="Text 30"/>
          <p:cNvSpPr txBox="1"/>
          <p:nvPr/>
        </p:nvSpPr>
        <p:spPr>
          <a:xfrm>
            <a:off x="4974336"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33" name="Text 31"/>
          <p:cNvSpPr txBox="1"/>
          <p:nvPr/>
        </p:nvSpPr>
        <p:spPr>
          <a:xfrm>
            <a:off x="4517136"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守るルールは CLAUDE.md に明文化し、全会話で共有（版番号4箇所・共通部品・日付非表示）</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要望は「現象」で伝える：「タップすると少し前の投稿が出る」。原因特定はAIに任せる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アプリ内の分類器は enum 一覧・confident フラグ・JSON Schema で縛り、幻覚を出さない</a:t>
            </a:r>
            <a:endParaRPr lang="en-US" sz="1200" dirty="0"/>
          </a:p>
        </p:txBody>
      </p:sp>
      <p:sp>
        <p:nvSpPr>
          <p:cNvPr id="34" name="Shape 32"/>
          <p:cNvSpPr/>
          <p:nvPr/>
        </p:nvSpPr>
        <p:spPr>
          <a:xfrm>
            <a:off x="8083296"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8284464" y="3429000"/>
            <a:ext cx="365760" cy="365760"/>
          </a:xfrm>
          <a:prstGeom prst="ellipse">
            <a:avLst/>
          </a:prstGeom>
          <a:solidFill>
            <a:srgbClr val="C6613F"/>
          </a:solidFill>
          <a:ln w="12700">
            <a:solidFill>
              <a:srgbClr val="C6613F"/>
            </a:solidFill>
            <a:prstDash val="solid"/>
          </a:ln>
        </p:spPr>
      </p:sp>
      <p:sp>
        <p:nvSpPr>
          <p:cNvPr id="36" name="Text 34"/>
          <p:cNvSpPr txBox="1"/>
          <p:nvPr/>
        </p:nvSpPr>
        <p:spPr>
          <a:xfrm>
            <a:off x="828446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37" name="Text 35"/>
          <p:cNvSpPr txBox="1"/>
          <p:nvPr/>
        </p:nvSpPr>
        <p:spPr>
          <a:xfrm>
            <a:off x="8741664"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38" name="Text 36"/>
          <p:cNvSpPr txBox="1"/>
          <p:nvPr/>
        </p:nvSpPr>
        <p:spPr>
          <a:xfrm>
            <a:off x="8284464"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写真一覧の2列化：実機で「一覧性が落ちた」→ 3版分を差し戻し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味覚一致率：偶然の一致を防ぐ「共通5件未満は非表示」を人が定義</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AIの「直りました」を実機で差し戻し、計測で本当の原因を特定させた（次ページ）</a:t>
            </a:r>
            <a:endParaRPr lang="en-US" sz="1200" dirty="0"/>
          </a:p>
        </p:txBody>
      </p:sp>
      <p:sp>
        <p:nvSpPr>
          <p:cNvPr id="39" name="Text 37"/>
          <p:cNvSpPr txBox="1"/>
          <p:nvPr/>
        </p:nvSpPr>
        <p:spPr>
          <a:xfrm>
            <a:off x="548640" y="6053328"/>
            <a:ext cx="11064240" cy="292608"/>
          </a:xfrm>
          <a:prstGeom prst="rect">
            <a:avLst/>
          </a:prstGeom>
          <a:noFill/>
          <a:ln/>
        </p:spPr>
        <p:txBody>
          <a:bodyPr wrap="square" lIns="0" tIns="0" rIns="0" bIns="0" rtlCol="0" anchor="ctr"/>
          <a:lstStyle/>
          <a:p>
            <a:pPr algn="r" indent="0" marL="0">
              <a:buNone/>
            </a:pPr>
            <a:r>
              <a:rPr lang="en-US" sz="11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10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 ｜ 実利用で見つけた課題を、同じループで</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AIは「直った」と言った。人が触ると、直っていなかった。</a:t>
            </a:r>
            <a:endParaRPr lang="en-US" sz="3000" dirty="0"/>
          </a:p>
        </p:txBody>
      </p:sp>
      <p:sp>
        <p:nvSpPr>
          <p:cNvPr id="4" name="Shape 2"/>
          <p:cNvSpPr/>
          <p:nvPr/>
        </p:nvSpPr>
        <p:spPr>
          <a:xfrm>
            <a:off x="548640" y="1463040"/>
            <a:ext cx="11091672" cy="1691640"/>
          </a:xfrm>
          <a:prstGeom prst="roundRect">
            <a:avLst>
              <a:gd name="adj" fmla="val 6486"/>
            </a:avLst>
          </a:prstGeom>
          <a:solidFill>
            <a:srgbClr val="2B2825"/>
          </a:solidFill>
          <a:ln w="12700">
            <a:solidFill>
              <a:srgbClr val="2B2825"/>
            </a:solidFill>
            <a:prstDash val="solid"/>
          </a:ln>
        </p:spPr>
      </p:sp>
      <p:sp>
        <p:nvSpPr>
          <p:cNvPr id="5" name="Text 3"/>
          <p:cNvSpPr txBox="1"/>
          <p:nvPr/>
        </p:nvSpPr>
        <p:spPr>
          <a:xfrm>
            <a:off x="777240" y="1554480"/>
            <a:ext cx="5486400" cy="320040"/>
          </a:xfrm>
          <a:prstGeom prst="rect">
            <a:avLst/>
          </a:prstGeom>
          <a:noFill/>
          <a:ln/>
        </p:spPr>
        <p:txBody>
          <a:bodyPr wrap="square" lIns="0" tIns="0" rIns="0" bIns="0" rtlCol="0" anchor="ctr"/>
          <a:lstStyle/>
          <a:p>
            <a:pPr indent="0" marL="0">
              <a:buNone/>
            </a:pPr>
            <a:r>
              <a:rPr lang="en-US" sz="1200" b="1" dirty="0">
                <a:solidFill>
                  <a:srgbClr val="FFD75E"/>
                </a:solidFill>
                <a:latin typeface="Yu Gothic" pitchFamily="34" charset="0"/>
                <a:ea typeface="Yu Gothic" pitchFamily="34" charset="-122"/>
                <a:cs typeface="Yu Gothic" pitchFamily="34" charset="-120"/>
              </a:rPr>
              <a:t>投稿詳細のスクロールが、途中で止まる</a:t>
            </a:r>
            <a:endParaRPr lang="en-US" sz="1200" dirty="0"/>
          </a:p>
        </p:txBody>
      </p:sp>
      <p:sp>
        <p:nvSpPr>
          <p:cNvPr id="6" name="Shape 4"/>
          <p:cNvSpPr/>
          <p:nvPr/>
        </p:nvSpPr>
        <p:spPr>
          <a:xfrm>
            <a:off x="777240" y="1965960"/>
            <a:ext cx="2468880" cy="1051560"/>
          </a:xfrm>
          <a:prstGeom prst="roundRect">
            <a:avLst>
              <a:gd name="adj" fmla="val 8696"/>
            </a:avLst>
          </a:prstGeom>
          <a:solidFill>
            <a:srgbClr val="EEF3FB"/>
          </a:solidFill>
          <a:ln w="12700">
            <a:solidFill>
              <a:srgbClr val="EEF3FB"/>
            </a:solidFill>
            <a:prstDash val="solid"/>
          </a:ln>
        </p:spPr>
      </p:sp>
      <p:sp>
        <p:nvSpPr>
          <p:cNvPr id="7" name="Text 5"/>
          <p:cNvSpPr txBox="1"/>
          <p:nvPr/>
        </p:nvSpPr>
        <p:spPr>
          <a:xfrm>
            <a:off x="8686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8" name="Text 6"/>
          <p:cNvSpPr txBox="1"/>
          <p:nvPr/>
        </p:nvSpPr>
        <p:spPr>
          <a:xfrm>
            <a:off x="8869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「直りました」</a:t>
            </a:r>
            <a:endParaRPr lang="en-US" sz="1100" dirty="0"/>
          </a:p>
        </p:txBody>
      </p:sp>
      <p:sp>
        <p:nvSpPr>
          <p:cNvPr id="9" name="Text 7"/>
          <p:cNvSpPr txBox="1"/>
          <p:nvPr/>
        </p:nvSpPr>
        <p:spPr>
          <a:xfrm>
            <a:off x="32644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0" name="Shape 8"/>
          <p:cNvSpPr/>
          <p:nvPr/>
        </p:nvSpPr>
        <p:spPr>
          <a:xfrm>
            <a:off x="3520440" y="1965960"/>
            <a:ext cx="2468880" cy="1051560"/>
          </a:xfrm>
          <a:prstGeom prst="roundRect">
            <a:avLst>
              <a:gd name="adj" fmla="val 8696"/>
            </a:avLst>
          </a:prstGeom>
          <a:solidFill>
            <a:srgbClr val="FBEFE9"/>
          </a:solidFill>
          <a:ln w="12700">
            <a:solidFill>
              <a:srgbClr val="FBEFE9"/>
            </a:solidFill>
            <a:prstDash val="solid"/>
          </a:ln>
        </p:spPr>
      </p:sp>
      <p:sp>
        <p:nvSpPr>
          <p:cNvPr id="11" name="Text 9"/>
          <p:cNvSpPr txBox="1"/>
          <p:nvPr/>
        </p:nvSpPr>
        <p:spPr>
          <a:xfrm>
            <a:off x="36118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12" name="Text 10"/>
          <p:cNvSpPr txBox="1"/>
          <p:nvPr/>
        </p:nvSpPr>
        <p:spPr>
          <a:xfrm>
            <a:off x="36301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実機で確認</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「まだ滑らかでない」→差し戻し</a:t>
            </a:r>
            <a:endParaRPr lang="en-US" sz="1100" dirty="0"/>
          </a:p>
        </p:txBody>
      </p:sp>
      <p:sp>
        <p:nvSpPr>
          <p:cNvPr id="13" name="Text 11"/>
          <p:cNvSpPr txBox="1"/>
          <p:nvPr/>
        </p:nvSpPr>
        <p:spPr>
          <a:xfrm>
            <a:off x="60076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4" name="Shape 12"/>
          <p:cNvSpPr/>
          <p:nvPr/>
        </p:nvSpPr>
        <p:spPr>
          <a:xfrm>
            <a:off x="6263640" y="1965960"/>
            <a:ext cx="2468880" cy="1051560"/>
          </a:xfrm>
          <a:prstGeom prst="roundRect">
            <a:avLst>
              <a:gd name="adj" fmla="val 8696"/>
            </a:avLst>
          </a:prstGeom>
          <a:solidFill>
            <a:srgbClr val="EEF3FB"/>
          </a:solidFill>
          <a:ln w="12700">
            <a:solidFill>
              <a:srgbClr val="EEF3FB"/>
            </a:solidFill>
            <a:prstDash val="solid"/>
          </a:ln>
        </p:spPr>
      </p:sp>
      <p:sp>
        <p:nvSpPr>
          <p:cNvPr id="15" name="Text 13"/>
          <p:cNvSpPr txBox="1"/>
          <p:nvPr/>
        </p:nvSpPr>
        <p:spPr>
          <a:xfrm>
            <a:off x="63550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63733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計測させて原因を特定</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（位置補正の切り詰め）</a:t>
            </a:r>
            <a:endParaRPr lang="en-US" sz="1100" dirty="0"/>
          </a:p>
        </p:txBody>
      </p:sp>
      <p:sp>
        <p:nvSpPr>
          <p:cNvPr id="17" name="Text 15"/>
          <p:cNvSpPr txBox="1"/>
          <p:nvPr/>
        </p:nvSpPr>
        <p:spPr>
          <a:xfrm>
            <a:off x="87508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8" name="Shape 16"/>
          <p:cNvSpPr/>
          <p:nvPr/>
        </p:nvSpPr>
        <p:spPr>
          <a:xfrm>
            <a:off x="9006840" y="1965960"/>
            <a:ext cx="2468880" cy="1051560"/>
          </a:xfrm>
          <a:prstGeom prst="roundRect">
            <a:avLst>
              <a:gd name="adj" fmla="val 8696"/>
            </a:avLst>
          </a:prstGeom>
          <a:solidFill>
            <a:srgbClr val="FBEFE9"/>
          </a:solidFill>
          <a:ln w="12700">
            <a:solidFill>
              <a:srgbClr val="FBEFE9"/>
            </a:solidFill>
            <a:prstDash val="solid"/>
          </a:ln>
        </p:spPr>
      </p:sp>
      <p:sp>
        <p:nvSpPr>
          <p:cNvPr id="19" name="Text 17"/>
          <p:cNvSpPr txBox="1"/>
          <p:nvPr/>
        </p:nvSpPr>
        <p:spPr>
          <a:xfrm>
            <a:off x="90982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20" name="Text 18"/>
          <p:cNvSpPr txBox="1"/>
          <p:nvPr/>
        </p:nvSpPr>
        <p:spPr>
          <a:xfrm>
            <a:off x="91165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方式変更を実機で検証</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 採用</a:t>
            </a:r>
            <a:endParaRPr lang="en-US" sz="1100" dirty="0"/>
          </a:p>
        </p:txBody>
      </p:sp>
      <p:sp>
        <p:nvSpPr>
          <p:cNvPr id="21" name="Text 19"/>
          <p:cNvSpPr txBox="1"/>
          <p:nvPr/>
        </p:nvSpPr>
        <p:spPr>
          <a:xfrm>
            <a:off x="6309360" y="1554480"/>
            <a:ext cx="5120640" cy="320040"/>
          </a:xfrm>
          <a:prstGeom prst="rect">
            <a:avLst/>
          </a:prstGeom>
          <a:noFill/>
          <a:ln/>
        </p:spPr>
        <p:txBody>
          <a:bodyPr wrap="square" lIns="0" tIns="0" rIns="0" bIns="0" rtlCol="0" anchor="ctr"/>
          <a:lstStyle/>
          <a:p>
            <a:pPr algn="r" indent="0" marL="0">
              <a:buNone/>
            </a:pPr>
            <a:r>
              <a:rPr lang="en-US" sz="1050" dirty="0">
                <a:solidFill>
                  <a:srgbClr val="F4EFE8"/>
                </a:solidFill>
                <a:latin typeface="Yu Gothic" pitchFamily="34" charset="0"/>
                <a:ea typeface="Yu Gothic" pitchFamily="34" charset="-122"/>
                <a:cs typeface="Yu Gothic" pitchFamily="34" charset="-120"/>
              </a:rPr>
              <a:t>AIの報告を鵜呑みにせず、実機で触って判断する</a:t>
            </a:r>
            <a:endParaRPr lang="en-US" sz="1050" dirty="0"/>
          </a:p>
        </p:txBody>
      </p:sp>
      <p:sp>
        <p:nvSpPr>
          <p:cNvPr id="22" name="Text 20"/>
          <p:cNvSpPr txBox="1"/>
          <p:nvPr/>
        </p:nvSpPr>
        <p:spPr>
          <a:xfrm>
            <a:off x="548640" y="3310128"/>
            <a:ext cx="5120640" cy="320040"/>
          </a:xfrm>
          <a:prstGeom prst="rect">
            <a:avLst/>
          </a:prstGeom>
          <a:noFill/>
          <a:ln/>
        </p:spPr>
        <p:txBody>
          <a:bodyPr wrap="square" lIns="0" tIns="0" rIns="0" bIns="0" rtlCol="0" anchor="ctr"/>
          <a:lstStyle/>
          <a:p>
            <a:pPr indent="0" marL="0">
              <a:buNone/>
            </a:pPr>
            <a:r>
              <a:rPr lang="en-US" sz="1300" b="1" dirty="0">
                <a:solidFill>
                  <a:srgbClr val="8A857D"/>
                </a:solidFill>
                <a:latin typeface="Yu Gothic" pitchFamily="34" charset="0"/>
                <a:ea typeface="Yu Gothic" pitchFamily="34" charset="-122"/>
                <a:cs typeface="Yu Gothic" pitchFamily="34" charset="-120"/>
              </a:rPr>
              <a:t>Before ― 予選のとき</a:t>
            </a:r>
            <a:endParaRPr lang="en-US" sz="1300" dirty="0"/>
          </a:p>
        </p:txBody>
      </p:sp>
      <p:sp>
        <p:nvSpPr>
          <p:cNvPr id="23" name="Text 21"/>
          <p:cNvSpPr txBox="1"/>
          <p:nvPr/>
        </p:nvSpPr>
        <p:spPr>
          <a:xfrm>
            <a:off x="6492240" y="3310128"/>
            <a:ext cx="512064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After ― 決勝のいま</a:t>
            </a:r>
            <a:endParaRPr lang="en-US" sz="1300" dirty="0"/>
          </a:p>
        </p:txBody>
      </p:sp>
      <p:sp>
        <p:nvSpPr>
          <p:cNvPr id="24" name="Shape 22"/>
          <p:cNvSpPr/>
          <p:nvPr/>
        </p:nvSpPr>
        <p:spPr>
          <a:xfrm>
            <a:off x="548640" y="3694176"/>
            <a:ext cx="5120640" cy="438912"/>
          </a:xfrm>
          <a:prstGeom prst="roundRect">
            <a:avLst>
              <a:gd name="adj" fmla="val 16667"/>
            </a:avLst>
          </a:prstGeom>
          <a:solidFill>
            <a:srgbClr val="F3F1EC"/>
          </a:solidFill>
          <a:ln w="12700">
            <a:solidFill>
              <a:srgbClr val="F3F1EC"/>
            </a:solidFill>
            <a:prstDash val="solid"/>
          </a:ln>
        </p:spPr>
      </p:sp>
      <p:sp>
        <p:nvSpPr>
          <p:cNvPr id="25" name="Text 23"/>
          <p:cNvSpPr txBox="1"/>
          <p:nvPr/>
        </p:nvSpPr>
        <p:spPr>
          <a:xfrm>
            <a:off x="685800" y="3694176"/>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検索の写真一覧をタップすると「少し前の投稿」が開く</a:t>
            </a:r>
            <a:endParaRPr lang="en-US" sz="1100" dirty="0"/>
          </a:p>
        </p:txBody>
      </p:sp>
      <p:sp>
        <p:nvSpPr>
          <p:cNvPr id="26" name="Shape 24"/>
          <p:cNvSpPr/>
          <p:nvPr/>
        </p:nvSpPr>
        <p:spPr>
          <a:xfrm>
            <a:off x="5852160" y="3767328"/>
            <a:ext cx="457200" cy="310896"/>
          </a:xfrm>
          <a:prstGeom prst="rightArrow">
            <a:avLst/>
          </a:prstGeom>
          <a:solidFill>
            <a:srgbClr val="D9CFC2"/>
          </a:solidFill>
          <a:ln w="12700">
            <a:solidFill>
              <a:srgbClr val="D9CFC2"/>
            </a:solidFill>
            <a:prstDash val="solid"/>
          </a:ln>
        </p:spPr>
      </p:sp>
      <p:sp>
        <p:nvSpPr>
          <p:cNvPr id="27" name="Shape 25"/>
          <p:cNvSpPr/>
          <p:nvPr/>
        </p:nvSpPr>
        <p:spPr>
          <a:xfrm>
            <a:off x="6492240" y="3694176"/>
            <a:ext cx="5148072" cy="438912"/>
          </a:xfrm>
          <a:prstGeom prst="roundRect">
            <a:avLst>
              <a:gd name="adj" fmla="val 16667"/>
            </a:avLst>
          </a:prstGeom>
          <a:solidFill>
            <a:srgbClr val="FBEFE9"/>
          </a:solidFill>
          <a:ln w="9525">
            <a:solidFill>
              <a:srgbClr val="EFD3C6"/>
            </a:solidFill>
            <a:prstDash val="solid"/>
          </a:ln>
        </p:spPr>
      </p:sp>
      <p:sp>
        <p:nvSpPr>
          <p:cNvPr id="28" name="Text 26"/>
          <p:cNvSpPr txBox="1"/>
          <p:nvPr/>
        </p:nvSpPr>
        <p:spPr>
          <a:xfrm>
            <a:off x="6629400" y="3694176"/>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基準の投稿を画面上端に固定し、写真の高さが後から伸びてもズレない</a:t>
            </a:r>
            <a:endParaRPr lang="en-US" sz="1100" dirty="0"/>
          </a:p>
        </p:txBody>
      </p:sp>
      <p:sp>
        <p:nvSpPr>
          <p:cNvPr id="29" name="Shape 27"/>
          <p:cNvSpPr/>
          <p:nvPr/>
        </p:nvSpPr>
        <p:spPr>
          <a:xfrm>
            <a:off x="548640" y="4224528"/>
            <a:ext cx="5120640" cy="438912"/>
          </a:xfrm>
          <a:prstGeom prst="roundRect">
            <a:avLst>
              <a:gd name="adj" fmla="val 16667"/>
            </a:avLst>
          </a:prstGeom>
          <a:solidFill>
            <a:srgbClr val="F3F1EC"/>
          </a:solidFill>
          <a:ln w="12700">
            <a:solidFill>
              <a:srgbClr val="F3F1EC"/>
            </a:solidFill>
            <a:prstDash val="solid"/>
          </a:ln>
        </p:spPr>
      </p:sp>
      <p:sp>
        <p:nvSpPr>
          <p:cNvPr id="30" name="Text 28"/>
          <p:cNvSpPr txBox="1"/>
          <p:nvPr/>
        </p:nvSpPr>
        <p:spPr>
          <a:xfrm>
            <a:off x="685800" y="4224528"/>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投稿詳細のスクロールが途中で止まる</a:t>
            </a:r>
            <a:endParaRPr lang="en-US" sz="1100" dirty="0"/>
          </a:p>
        </p:txBody>
      </p:sp>
      <p:sp>
        <p:nvSpPr>
          <p:cNvPr id="31" name="Shape 29"/>
          <p:cNvSpPr/>
          <p:nvPr/>
        </p:nvSpPr>
        <p:spPr>
          <a:xfrm>
            <a:off x="5852160" y="4297680"/>
            <a:ext cx="457200" cy="310896"/>
          </a:xfrm>
          <a:prstGeom prst="rightArrow">
            <a:avLst/>
          </a:prstGeom>
          <a:solidFill>
            <a:srgbClr val="D9CFC2"/>
          </a:solidFill>
          <a:ln w="12700">
            <a:solidFill>
              <a:srgbClr val="D9CFC2"/>
            </a:solidFill>
            <a:prstDash val="solid"/>
          </a:ln>
        </p:spPr>
      </p:sp>
      <p:sp>
        <p:nvSpPr>
          <p:cNvPr id="32" name="Shape 30"/>
          <p:cNvSpPr/>
          <p:nvPr/>
        </p:nvSpPr>
        <p:spPr>
          <a:xfrm>
            <a:off x="6492240" y="4224528"/>
            <a:ext cx="5148072" cy="438912"/>
          </a:xfrm>
          <a:prstGeom prst="roundRect">
            <a:avLst>
              <a:gd name="adj" fmla="val 16667"/>
            </a:avLst>
          </a:prstGeom>
          <a:solidFill>
            <a:srgbClr val="FBEFE9"/>
          </a:solidFill>
          <a:ln w="9525">
            <a:solidFill>
              <a:srgbClr val="EFD3C6"/>
            </a:solidFill>
            <a:prstDash val="solid"/>
          </a:ln>
        </p:spPr>
      </p:sp>
      <p:sp>
        <p:nvSpPr>
          <p:cNvPr id="33" name="Text 31"/>
          <p:cNvSpPr txBox="1"/>
          <p:nvPr/>
        </p:nvSpPr>
        <p:spPr>
          <a:xfrm>
            <a:off x="6629400" y="4224528"/>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写真の高さが確定してから継ぎ足し、操作中は補正しない</a:t>
            </a:r>
            <a:endParaRPr lang="en-US" sz="1100" dirty="0"/>
          </a:p>
        </p:txBody>
      </p:sp>
      <p:sp>
        <p:nvSpPr>
          <p:cNvPr id="34" name="Shape 32"/>
          <p:cNvSpPr/>
          <p:nvPr/>
        </p:nvSpPr>
        <p:spPr>
          <a:xfrm>
            <a:off x="548640" y="4754880"/>
            <a:ext cx="5120640" cy="438912"/>
          </a:xfrm>
          <a:prstGeom prst="roundRect">
            <a:avLst>
              <a:gd name="adj" fmla="val 16667"/>
            </a:avLst>
          </a:prstGeom>
          <a:solidFill>
            <a:srgbClr val="F3F1EC"/>
          </a:solidFill>
          <a:ln w="12700">
            <a:solidFill>
              <a:srgbClr val="F3F1EC"/>
            </a:solidFill>
            <a:prstDash val="solid"/>
          </a:ln>
        </p:spPr>
      </p:sp>
      <p:sp>
        <p:nvSpPr>
          <p:cNvPr id="35" name="Text 33"/>
          <p:cNvSpPr txBox="1"/>
          <p:nvPr/>
        </p:nvSpPr>
        <p:spPr>
          <a:xfrm>
            <a:off x="685800" y="4754880"/>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★0.5刻みの入力が、小さな星ではスマホで狙えない</a:t>
            </a:r>
            <a:endParaRPr lang="en-US" sz="1100" dirty="0"/>
          </a:p>
        </p:txBody>
      </p:sp>
      <p:sp>
        <p:nvSpPr>
          <p:cNvPr id="36" name="Shape 34"/>
          <p:cNvSpPr/>
          <p:nvPr/>
        </p:nvSpPr>
        <p:spPr>
          <a:xfrm>
            <a:off x="5852160" y="4828032"/>
            <a:ext cx="457200" cy="310896"/>
          </a:xfrm>
          <a:prstGeom prst="rightArrow">
            <a:avLst/>
          </a:prstGeom>
          <a:solidFill>
            <a:srgbClr val="D9CFC2"/>
          </a:solidFill>
          <a:ln w="12700">
            <a:solidFill>
              <a:srgbClr val="D9CFC2"/>
            </a:solidFill>
            <a:prstDash val="solid"/>
          </a:ln>
        </p:spPr>
      </p:sp>
      <p:sp>
        <p:nvSpPr>
          <p:cNvPr id="37" name="Shape 35"/>
          <p:cNvSpPr/>
          <p:nvPr/>
        </p:nvSpPr>
        <p:spPr>
          <a:xfrm>
            <a:off x="6492240" y="4754880"/>
            <a:ext cx="5148072" cy="438912"/>
          </a:xfrm>
          <a:prstGeom prst="roundRect">
            <a:avLst>
              <a:gd name="adj" fmla="val 16667"/>
            </a:avLst>
          </a:prstGeom>
          <a:solidFill>
            <a:srgbClr val="FBEFE9"/>
          </a:solidFill>
          <a:ln w="9525">
            <a:solidFill>
              <a:srgbClr val="EFD3C6"/>
            </a:solidFill>
            <a:prstDash val="solid"/>
          </a:ln>
        </p:spPr>
      </p:sp>
      <p:sp>
        <p:nvSpPr>
          <p:cNvPr id="38" name="Text 36"/>
          <p:cNvSpPr txBox="1"/>
          <p:nvPr/>
        </p:nvSpPr>
        <p:spPr>
          <a:xfrm>
            <a:off x="6629400" y="4754880"/>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星を36pxに拡大。なぞって選択、同じ星の再タップで .5、数値表示</a:t>
            </a:r>
            <a:endParaRPr lang="en-US" sz="1100" dirty="0"/>
          </a:p>
        </p:txBody>
      </p:sp>
      <p:sp>
        <p:nvSpPr>
          <p:cNvPr id="39" name="Shape 37"/>
          <p:cNvSpPr/>
          <p:nvPr/>
        </p:nvSpPr>
        <p:spPr>
          <a:xfrm>
            <a:off x="548640" y="5285232"/>
            <a:ext cx="5120640" cy="438912"/>
          </a:xfrm>
          <a:prstGeom prst="roundRect">
            <a:avLst>
              <a:gd name="adj" fmla="val 16667"/>
            </a:avLst>
          </a:prstGeom>
          <a:solidFill>
            <a:srgbClr val="F3F1EC"/>
          </a:solidFill>
          <a:ln w="12700">
            <a:solidFill>
              <a:srgbClr val="F3F1EC"/>
            </a:solidFill>
            <a:prstDash val="solid"/>
          </a:ln>
        </p:spPr>
      </p:sp>
      <p:sp>
        <p:nvSpPr>
          <p:cNvPr id="40" name="Text 38"/>
          <p:cNvSpPr txBox="1"/>
          <p:nvPr/>
        </p:nvSpPr>
        <p:spPr>
          <a:xfrm>
            <a:off x="685800" y="5285232"/>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他人の投稿の日付が、一部の画面に残っていた</a:t>
            </a:r>
            <a:endParaRPr lang="en-US" sz="1100" dirty="0"/>
          </a:p>
        </p:txBody>
      </p:sp>
      <p:sp>
        <p:nvSpPr>
          <p:cNvPr id="41" name="Shape 39"/>
          <p:cNvSpPr/>
          <p:nvPr/>
        </p:nvSpPr>
        <p:spPr>
          <a:xfrm>
            <a:off x="5852160" y="5358384"/>
            <a:ext cx="457200" cy="310896"/>
          </a:xfrm>
          <a:prstGeom prst="rightArrow">
            <a:avLst/>
          </a:prstGeom>
          <a:solidFill>
            <a:srgbClr val="D9CFC2"/>
          </a:solidFill>
          <a:ln w="12700">
            <a:solidFill>
              <a:srgbClr val="D9CFC2"/>
            </a:solidFill>
            <a:prstDash val="solid"/>
          </a:ln>
        </p:spPr>
      </p:sp>
      <p:sp>
        <p:nvSpPr>
          <p:cNvPr id="42" name="Shape 40"/>
          <p:cNvSpPr/>
          <p:nvPr/>
        </p:nvSpPr>
        <p:spPr>
          <a:xfrm>
            <a:off x="6492240" y="5285232"/>
            <a:ext cx="5148072" cy="438912"/>
          </a:xfrm>
          <a:prstGeom prst="roundRect">
            <a:avLst>
              <a:gd name="adj" fmla="val 16667"/>
            </a:avLst>
          </a:prstGeom>
          <a:solidFill>
            <a:srgbClr val="FBEFE9"/>
          </a:solidFill>
          <a:ln w="9525">
            <a:solidFill>
              <a:srgbClr val="EFD3C6"/>
            </a:solidFill>
            <a:prstDash val="solid"/>
          </a:ln>
        </p:spPr>
      </p:sp>
      <p:sp>
        <p:nvSpPr>
          <p:cNvPr id="43" name="Text 41"/>
          <p:cNvSpPr txBox="1"/>
          <p:nvPr/>
        </p:nvSpPr>
        <p:spPr>
          <a:xfrm>
            <a:off x="6629400" y="5285232"/>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全画面で非表示に統一（プライバシー配慮）</a:t>
            </a:r>
            <a:endParaRPr lang="en-US" sz="1100" dirty="0"/>
          </a:p>
        </p:txBody>
      </p:sp>
      <p:sp>
        <p:nvSpPr>
          <p:cNvPr id="44" name="Shape 42"/>
          <p:cNvSpPr/>
          <p:nvPr/>
        </p:nvSpPr>
        <p:spPr>
          <a:xfrm>
            <a:off x="548640" y="5815584"/>
            <a:ext cx="5120640" cy="438912"/>
          </a:xfrm>
          <a:prstGeom prst="roundRect">
            <a:avLst>
              <a:gd name="adj" fmla="val 16667"/>
            </a:avLst>
          </a:prstGeom>
          <a:solidFill>
            <a:srgbClr val="F3F1EC"/>
          </a:solidFill>
          <a:ln w="12700">
            <a:solidFill>
              <a:srgbClr val="F3F1EC"/>
            </a:solidFill>
            <a:prstDash val="solid"/>
          </a:ln>
        </p:spPr>
      </p:sp>
      <p:sp>
        <p:nvSpPr>
          <p:cNvPr id="45" name="Text 43"/>
          <p:cNvSpPr txBox="1"/>
          <p:nvPr/>
        </p:nvSpPr>
        <p:spPr>
          <a:xfrm>
            <a:off x="685800" y="5815584"/>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写真はクラウドにしかなく、端末バックアップに含まれない</a:t>
            </a:r>
            <a:endParaRPr lang="en-US" sz="1100" dirty="0"/>
          </a:p>
        </p:txBody>
      </p:sp>
      <p:sp>
        <p:nvSpPr>
          <p:cNvPr id="46" name="Shape 44"/>
          <p:cNvSpPr/>
          <p:nvPr/>
        </p:nvSpPr>
        <p:spPr>
          <a:xfrm>
            <a:off x="5852160" y="5888736"/>
            <a:ext cx="457200" cy="310896"/>
          </a:xfrm>
          <a:prstGeom prst="rightArrow">
            <a:avLst/>
          </a:prstGeom>
          <a:solidFill>
            <a:srgbClr val="D9CFC2"/>
          </a:solidFill>
          <a:ln w="12700">
            <a:solidFill>
              <a:srgbClr val="D9CFC2"/>
            </a:solidFill>
            <a:prstDash val="solid"/>
          </a:ln>
        </p:spPr>
      </p:sp>
      <p:sp>
        <p:nvSpPr>
          <p:cNvPr id="47" name="Shape 45"/>
          <p:cNvSpPr/>
          <p:nvPr/>
        </p:nvSpPr>
        <p:spPr>
          <a:xfrm>
            <a:off x="6492240" y="5815584"/>
            <a:ext cx="5148072" cy="438912"/>
          </a:xfrm>
          <a:prstGeom prst="roundRect">
            <a:avLst>
              <a:gd name="adj" fmla="val 16667"/>
            </a:avLst>
          </a:prstGeom>
          <a:solidFill>
            <a:srgbClr val="FBEFE9"/>
          </a:solidFill>
          <a:ln w="9525">
            <a:solidFill>
              <a:srgbClr val="EFD3C6"/>
            </a:solidFill>
            <a:prstDash val="solid"/>
          </a:ln>
        </p:spPr>
      </p:sp>
      <p:sp>
        <p:nvSpPr>
          <p:cNvPr id="48" name="Text 46"/>
          <p:cNvSpPr txBox="1"/>
          <p:nvPr/>
        </p:nvSpPr>
        <p:spPr>
          <a:xfrm>
            <a:off x="6629400" y="5815584"/>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写真込みで書き出し・別端末で復元（本日のデモ用の実データ再現にも使用）</a:t>
            </a:r>
            <a:endParaRPr lang="en-US" sz="1100" dirty="0"/>
          </a:p>
        </p:txBody>
      </p:sp>
      <p:sp>
        <p:nvSpPr>
          <p:cNvPr id="49" name="Text 4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50" name="Text 4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毎日の食日記として、実運用中</a:t>
            </a:r>
            <a:endParaRPr lang="en-US" sz="3000" dirty="0"/>
          </a:p>
        </p:txBody>
      </p:sp>
      <p:sp>
        <p:nvSpPr>
          <p:cNvPr id="4" name="Shape 2"/>
          <p:cNvSpPr/>
          <p:nvPr/>
        </p:nvSpPr>
        <p:spPr>
          <a:xfrm>
            <a:off x="548640" y="1508760"/>
            <a:ext cx="4846320" cy="1874520"/>
          </a:xfrm>
          <a:prstGeom prst="roundRect">
            <a:avLst>
              <a:gd name="adj" fmla="val 5854"/>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554480"/>
            <a:ext cx="2377440" cy="1188720"/>
          </a:xfrm>
          <a:prstGeom prst="rect">
            <a:avLst/>
          </a:prstGeom>
          <a:noFill/>
          <a:ln/>
        </p:spPr>
        <p:txBody>
          <a:bodyPr wrap="square" lIns="0" tIns="0" rIns="0" bIns="0" rtlCol="0" anchor="ctr"/>
          <a:lstStyle/>
          <a:p>
            <a:pPr indent="0" marL="0">
              <a:buNone/>
            </a:pPr>
            <a:r>
              <a:rPr lang="en-US" sz="6600" b="1" dirty="0">
                <a:solidFill>
                  <a:srgbClr val="C6613F"/>
                </a:solidFill>
                <a:latin typeface="Yu Gothic" pitchFamily="34" charset="0"/>
                <a:ea typeface="Yu Gothic" pitchFamily="34" charset="-122"/>
                <a:cs typeface="Yu Gothic" pitchFamily="34" charset="-120"/>
              </a:rPr>
              <a:t>208</a:t>
            </a:r>
            <a:endParaRPr lang="en-US" sz="6600" dirty="0"/>
          </a:p>
        </p:txBody>
      </p:sp>
      <p:sp>
        <p:nvSpPr>
          <p:cNvPr id="6" name="Text 4"/>
          <p:cNvSpPr txBox="1"/>
          <p:nvPr/>
        </p:nvSpPr>
        <p:spPr>
          <a:xfrm>
            <a:off x="3063240" y="1965960"/>
            <a:ext cx="914400" cy="548640"/>
          </a:xfrm>
          <a:prstGeom prst="rect">
            <a:avLst/>
          </a:prstGeom>
          <a:noFill/>
          <a:ln/>
        </p:spPr>
        <p:txBody>
          <a:bodyPr wrap="square" lIns="0" tIns="0" rIns="0" bIns="0" rtlCol="0" anchor="ctr"/>
          <a:lstStyle/>
          <a:p>
            <a:pPr indent="0" marL="0">
              <a:buNone/>
            </a:pPr>
            <a:r>
              <a:rPr lang="en-US" sz="2200" b="1" dirty="0">
                <a:solidFill>
                  <a:srgbClr val="C6613F"/>
                </a:solidFill>
                <a:latin typeface="Yu Gothic" pitchFamily="34" charset="0"/>
                <a:ea typeface="Yu Gothic" pitchFamily="34" charset="-122"/>
                <a:cs typeface="Yu Gothic" pitchFamily="34" charset="-120"/>
              </a:rPr>
              <a:t>店舗</a:t>
            </a:r>
            <a:endParaRPr lang="en-US" sz="2200" dirty="0"/>
          </a:p>
        </p:txBody>
      </p:sp>
      <p:sp>
        <p:nvSpPr>
          <p:cNvPr id="7" name="Text 5"/>
          <p:cNvSpPr txBox="1"/>
          <p:nvPr/>
        </p:nvSpPr>
        <p:spPr>
          <a:xfrm>
            <a:off x="731520" y="2697480"/>
            <a:ext cx="4480560" cy="64008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制作者自身が本番アプリに登録した実データ（訪問251回・写真242枚）。</a:t>
            </a:r>
            <a:endParaRPr lang="en-US" sz="1050" dirty="0"/>
          </a:p>
          <a:p>
            <a:pPr indent="0" marL="0">
              <a:buNone/>
            </a:pPr>
            <a:r>
              <a:rPr lang="en-US" sz="1050" dirty="0">
                <a:solidFill>
                  <a:srgbClr val="1F1E1D"/>
                </a:solidFill>
                <a:latin typeface="Yu Gothic" pitchFamily="34" charset="0"/>
                <a:ea typeface="Yu Gothic" pitchFamily="34" charset="-122"/>
                <a:cs typeface="Yu Gothic" pitchFamily="34" charset="-120"/>
              </a:rPr>
              <a:t>本番公開済み（PWA・URLを開くだけ）。毎日の外食を記録する食日記として使っている</a:t>
            </a:r>
            <a:endParaRPr lang="en-US" sz="1050" dirty="0"/>
          </a:p>
        </p:txBody>
      </p:sp>
      <p:sp>
        <p:nvSpPr>
          <p:cNvPr id="8" name="Shape 6"/>
          <p:cNvSpPr/>
          <p:nvPr/>
        </p:nvSpPr>
        <p:spPr>
          <a:xfrm>
            <a:off x="5577840" y="1508760"/>
            <a:ext cx="1371600" cy="1874520"/>
          </a:xfrm>
          <a:prstGeom prst="roundRect">
            <a:avLst>
              <a:gd name="adj" fmla="val 8000"/>
            </a:avLst>
          </a:prstGeom>
          <a:solidFill>
            <a:srgbClr val="FBF8F3"/>
          </a:solidFill>
          <a:ln w="12700">
            <a:solidFill>
              <a:srgbClr val="EAE3D8"/>
            </a:solidFill>
            <a:prstDash val="solid"/>
          </a:ln>
        </p:spPr>
      </p:sp>
      <p:sp>
        <p:nvSpPr>
          <p:cNvPr id="9" name="Text 7"/>
          <p:cNvSpPr txBox="1"/>
          <p:nvPr/>
        </p:nvSpPr>
        <p:spPr>
          <a:xfrm>
            <a:off x="557784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70+</a:t>
            </a:r>
            <a:endParaRPr lang="en-US" sz="2800" dirty="0"/>
          </a:p>
        </p:txBody>
      </p:sp>
      <p:sp>
        <p:nvSpPr>
          <p:cNvPr id="10" name="Text 8"/>
          <p:cNvSpPr txBox="1"/>
          <p:nvPr/>
        </p:nvSpPr>
        <p:spPr>
          <a:xfrm>
            <a:off x="557784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AI判定に対応する</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料理ジャンル</a:t>
            </a:r>
            <a:endParaRPr lang="en-US" sz="950" dirty="0"/>
          </a:p>
        </p:txBody>
      </p:sp>
      <p:sp>
        <p:nvSpPr>
          <p:cNvPr id="11" name="Shape 9"/>
          <p:cNvSpPr/>
          <p:nvPr/>
        </p:nvSpPr>
        <p:spPr>
          <a:xfrm>
            <a:off x="7040880" y="1508760"/>
            <a:ext cx="1371600" cy="1874520"/>
          </a:xfrm>
          <a:prstGeom prst="roundRect">
            <a:avLst>
              <a:gd name="adj" fmla="val 8000"/>
            </a:avLst>
          </a:prstGeom>
          <a:solidFill>
            <a:srgbClr val="FBF8F3"/>
          </a:solidFill>
          <a:ln w="12700">
            <a:solidFill>
              <a:srgbClr val="EAE3D8"/>
            </a:solidFill>
            <a:prstDash val="solid"/>
          </a:ln>
        </p:spPr>
      </p:sp>
      <p:sp>
        <p:nvSpPr>
          <p:cNvPr id="12" name="Text 10"/>
          <p:cNvSpPr txBox="1"/>
          <p:nvPr/>
        </p:nvSpPr>
        <p:spPr>
          <a:xfrm>
            <a:off x="704088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約1分</a:t>
            </a:r>
            <a:endParaRPr lang="en-US" sz="2800" dirty="0"/>
          </a:p>
        </p:txBody>
      </p:sp>
      <p:sp>
        <p:nvSpPr>
          <p:cNvPr id="13" name="Text 11"/>
          <p:cNvSpPr txBox="1"/>
          <p:nvPr/>
        </p:nvSpPr>
        <p:spPr>
          <a:xfrm>
            <a:off x="704088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1回の記録に</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かかる時間</a:t>
            </a:r>
            <a:endParaRPr lang="en-US" sz="950" dirty="0"/>
          </a:p>
        </p:txBody>
      </p:sp>
      <p:sp>
        <p:nvSpPr>
          <p:cNvPr id="14" name="Shape 12"/>
          <p:cNvSpPr/>
          <p:nvPr/>
        </p:nvSpPr>
        <p:spPr>
          <a:xfrm>
            <a:off x="548640" y="3611880"/>
            <a:ext cx="786384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777240" y="3721608"/>
            <a:ext cx="548640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記録の手間 ― Before / After</a:t>
            </a:r>
            <a:endParaRPr lang="en-US" sz="1300" dirty="0"/>
          </a:p>
        </p:txBody>
      </p:sp>
      <p:sp>
        <p:nvSpPr>
          <p:cNvPr id="16" name="Text 14"/>
          <p:cNvSpPr txBox="1"/>
          <p:nvPr/>
        </p:nvSpPr>
        <p:spPr>
          <a:xfrm>
            <a:off x="777240" y="4114800"/>
            <a:ext cx="347472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従来の記録アプリ</a:t>
            </a:r>
            <a:endParaRPr lang="en-US" sz="1100" dirty="0"/>
          </a:p>
        </p:txBody>
      </p:sp>
      <p:sp>
        <p:nvSpPr>
          <p:cNvPr id="17" name="Shape 15"/>
          <p:cNvSpPr/>
          <p:nvPr/>
        </p:nvSpPr>
        <p:spPr>
          <a:xfrm>
            <a:off x="777240" y="4434840"/>
            <a:ext cx="777240" cy="347472"/>
          </a:xfrm>
          <a:prstGeom prst="roundRect">
            <a:avLst>
              <a:gd name="adj" fmla="val 50000"/>
            </a:avLst>
          </a:prstGeom>
          <a:solidFill>
            <a:srgbClr val="F3F1EC"/>
          </a:solidFill>
          <a:ln w="9525">
            <a:solidFill>
              <a:srgbClr val="DDD6CB"/>
            </a:solidFill>
            <a:prstDash val="solid"/>
          </a:ln>
        </p:spPr>
      </p:sp>
      <p:sp>
        <p:nvSpPr>
          <p:cNvPr id="18" name="Text 16"/>
          <p:cNvSpPr txBox="1"/>
          <p:nvPr/>
        </p:nvSpPr>
        <p:spPr>
          <a:xfrm>
            <a:off x="77724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店名</a:t>
            </a:r>
            <a:endParaRPr lang="en-US" sz="1050" dirty="0"/>
          </a:p>
        </p:txBody>
      </p:sp>
      <p:sp>
        <p:nvSpPr>
          <p:cNvPr id="19" name="Shape 17"/>
          <p:cNvSpPr/>
          <p:nvPr/>
        </p:nvSpPr>
        <p:spPr>
          <a:xfrm>
            <a:off x="1645920" y="4434840"/>
            <a:ext cx="777240" cy="347472"/>
          </a:xfrm>
          <a:prstGeom prst="roundRect">
            <a:avLst>
              <a:gd name="adj" fmla="val 50000"/>
            </a:avLst>
          </a:prstGeom>
          <a:solidFill>
            <a:srgbClr val="F3F1EC"/>
          </a:solidFill>
          <a:ln w="9525">
            <a:solidFill>
              <a:srgbClr val="DDD6CB"/>
            </a:solidFill>
            <a:prstDash val="solid"/>
          </a:ln>
        </p:spPr>
      </p:sp>
      <p:sp>
        <p:nvSpPr>
          <p:cNvPr id="20" name="Text 18"/>
          <p:cNvSpPr txBox="1"/>
          <p:nvPr/>
        </p:nvSpPr>
        <p:spPr>
          <a:xfrm>
            <a:off x="164592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住所</a:t>
            </a:r>
            <a:endParaRPr lang="en-US" sz="1050" dirty="0"/>
          </a:p>
        </p:txBody>
      </p:sp>
      <p:sp>
        <p:nvSpPr>
          <p:cNvPr id="21" name="Shape 19"/>
          <p:cNvSpPr/>
          <p:nvPr/>
        </p:nvSpPr>
        <p:spPr>
          <a:xfrm>
            <a:off x="2514600" y="4434840"/>
            <a:ext cx="777240" cy="347472"/>
          </a:xfrm>
          <a:prstGeom prst="roundRect">
            <a:avLst>
              <a:gd name="adj" fmla="val 50000"/>
            </a:avLst>
          </a:prstGeom>
          <a:solidFill>
            <a:srgbClr val="F3F1EC"/>
          </a:solidFill>
          <a:ln w="9525">
            <a:solidFill>
              <a:srgbClr val="DDD6CB"/>
            </a:solidFill>
            <a:prstDash val="solid"/>
          </a:ln>
        </p:spPr>
      </p:sp>
      <p:sp>
        <p:nvSpPr>
          <p:cNvPr id="22" name="Text 20"/>
          <p:cNvSpPr txBox="1"/>
          <p:nvPr/>
        </p:nvSpPr>
        <p:spPr>
          <a:xfrm>
            <a:off x="251460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ジャンル</a:t>
            </a:r>
            <a:endParaRPr lang="en-US" sz="1050" dirty="0"/>
          </a:p>
        </p:txBody>
      </p:sp>
      <p:sp>
        <p:nvSpPr>
          <p:cNvPr id="23" name="Shape 21"/>
          <p:cNvSpPr/>
          <p:nvPr/>
        </p:nvSpPr>
        <p:spPr>
          <a:xfrm>
            <a:off x="3383280" y="4434840"/>
            <a:ext cx="777240" cy="347472"/>
          </a:xfrm>
          <a:prstGeom prst="roundRect">
            <a:avLst>
              <a:gd name="adj" fmla="val 50000"/>
            </a:avLst>
          </a:prstGeom>
          <a:solidFill>
            <a:srgbClr val="F3F1EC"/>
          </a:solidFill>
          <a:ln w="9525">
            <a:solidFill>
              <a:srgbClr val="DDD6CB"/>
            </a:solidFill>
            <a:prstDash val="solid"/>
          </a:ln>
        </p:spPr>
      </p:sp>
      <p:sp>
        <p:nvSpPr>
          <p:cNvPr id="24" name="Text 22"/>
          <p:cNvSpPr txBox="1"/>
          <p:nvPr/>
        </p:nvSpPr>
        <p:spPr>
          <a:xfrm>
            <a:off x="338328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料理</a:t>
            </a:r>
            <a:endParaRPr lang="en-US" sz="1050" dirty="0"/>
          </a:p>
        </p:txBody>
      </p:sp>
      <p:sp>
        <p:nvSpPr>
          <p:cNvPr id="25" name="Shape 23"/>
          <p:cNvSpPr/>
          <p:nvPr/>
        </p:nvSpPr>
        <p:spPr>
          <a:xfrm>
            <a:off x="777240" y="4892040"/>
            <a:ext cx="777240" cy="347472"/>
          </a:xfrm>
          <a:prstGeom prst="roundRect">
            <a:avLst>
              <a:gd name="adj" fmla="val 50000"/>
            </a:avLst>
          </a:prstGeom>
          <a:solidFill>
            <a:srgbClr val="F3F1EC"/>
          </a:solidFill>
          <a:ln w="9525">
            <a:solidFill>
              <a:srgbClr val="DDD6CB"/>
            </a:solidFill>
            <a:prstDash val="solid"/>
          </a:ln>
        </p:spPr>
      </p:sp>
      <p:sp>
        <p:nvSpPr>
          <p:cNvPr id="26" name="Text 24"/>
          <p:cNvSpPr txBox="1"/>
          <p:nvPr/>
        </p:nvSpPr>
        <p:spPr>
          <a:xfrm>
            <a:off x="77724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日時</a:t>
            </a:r>
            <a:endParaRPr lang="en-US" sz="1050" dirty="0"/>
          </a:p>
        </p:txBody>
      </p:sp>
      <p:sp>
        <p:nvSpPr>
          <p:cNvPr id="27" name="Shape 25"/>
          <p:cNvSpPr/>
          <p:nvPr/>
        </p:nvSpPr>
        <p:spPr>
          <a:xfrm>
            <a:off x="1645920" y="4892040"/>
            <a:ext cx="777240" cy="347472"/>
          </a:xfrm>
          <a:prstGeom prst="roundRect">
            <a:avLst>
              <a:gd name="adj" fmla="val 50000"/>
            </a:avLst>
          </a:prstGeom>
          <a:solidFill>
            <a:srgbClr val="F3F1EC"/>
          </a:solidFill>
          <a:ln w="9525">
            <a:solidFill>
              <a:srgbClr val="DDD6CB"/>
            </a:solidFill>
            <a:prstDash val="solid"/>
          </a:ln>
        </p:spPr>
      </p:sp>
      <p:sp>
        <p:nvSpPr>
          <p:cNvPr id="28" name="Text 26"/>
          <p:cNvSpPr txBox="1"/>
          <p:nvPr/>
        </p:nvSpPr>
        <p:spPr>
          <a:xfrm>
            <a:off x="164592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写真</a:t>
            </a:r>
            <a:endParaRPr lang="en-US" sz="1050" dirty="0"/>
          </a:p>
        </p:txBody>
      </p:sp>
      <p:sp>
        <p:nvSpPr>
          <p:cNvPr id="29" name="Shape 27"/>
          <p:cNvSpPr/>
          <p:nvPr/>
        </p:nvSpPr>
        <p:spPr>
          <a:xfrm>
            <a:off x="2514600" y="4892040"/>
            <a:ext cx="777240" cy="347472"/>
          </a:xfrm>
          <a:prstGeom prst="roundRect">
            <a:avLst>
              <a:gd name="adj" fmla="val 50000"/>
            </a:avLst>
          </a:prstGeom>
          <a:solidFill>
            <a:srgbClr val="F3F1EC"/>
          </a:solidFill>
          <a:ln w="9525">
            <a:solidFill>
              <a:srgbClr val="DDD6CB"/>
            </a:solidFill>
            <a:prstDash val="solid"/>
          </a:ln>
        </p:spPr>
      </p:sp>
      <p:sp>
        <p:nvSpPr>
          <p:cNvPr id="30" name="Text 28"/>
          <p:cNvSpPr txBox="1"/>
          <p:nvPr/>
        </p:nvSpPr>
        <p:spPr>
          <a:xfrm>
            <a:off x="251460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評価</a:t>
            </a:r>
            <a:endParaRPr lang="en-US" sz="1050" dirty="0"/>
          </a:p>
        </p:txBody>
      </p:sp>
      <p:sp>
        <p:nvSpPr>
          <p:cNvPr id="31" name="Text 29"/>
          <p:cNvSpPr txBox="1"/>
          <p:nvPr/>
        </p:nvSpPr>
        <p:spPr>
          <a:xfrm>
            <a:off x="777240" y="5440680"/>
            <a:ext cx="3474720" cy="320040"/>
          </a:xfrm>
          <a:prstGeom prst="rect">
            <a:avLst/>
          </a:prstGeom>
          <a:noFill/>
          <a:ln/>
        </p:spPr>
        <p:txBody>
          <a:bodyPr wrap="square" lIns="0" tIns="0" rIns="0" bIns="0" rtlCol="0" anchor="ctr"/>
          <a:lstStyle/>
          <a:p>
            <a:pPr indent="0" marL="0">
              <a:buNone/>
            </a:pPr>
            <a:r>
              <a:rPr lang="en-US" sz="1150" b="1" dirty="0">
                <a:solidFill>
                  <a:srgbClr val="8A857D"/>
                </a:solidFill>
                <a:latin typeface="Yu Gothic" pitchFamily="34" charset="0"/>
                <a:ea typeface="Yu Gothic" pitchFamily="34" charset="-122"/>
                <a:cs typeface="Yu Gothic" pitchFamily="34" charset="-120"/>
              </a:rPr>
              <a:t>7項目を手入力 → 続かない</a:t>
            </a:r>
            <a:endParaRPr lang="en-US" sz="1150" dirty="0"/>
          </a:p>
        </p:txBody>
      </p:sp>
      <p:sp>
        <p:nvSpPr>
          <p:cNvPr id="32" name="Shape 30"/>
          <p:cNvSpPr/>
          <p:nvPr/>
        </p:nvSpPr>
        <p:spPr>
          <a:xfrm>
            <a:off x="4343400" y="4617720"/>
            <a:ext cx="502920" cy="310896"/>
          </a:xfrm>
          <a:prstGeom prst="rightArrow">
            <a:avLst/>
          </a:prstGeom>
          <a:solidFill>
            <a:srgbClr val="D9CFC2"/>
          </a:solidFill>
          <a:ln w="12700">
            <a:solidFill>
              <a:srgbClr val="D9CFC2"/>
            </a:solidFill>
            <a:prstDash val="solid"/>
          </a:ln>
        </p:spPr>
      </p:sp>
      <p:sp>
        <p:nvSpPr>
          <p:cNvPr id="33" name="Text 31"/>
          <p:cNvSpPr txBox="1"/>
          <p:nvPr/>
        </p:nvSpPr>
        <p:spPr>
          <a:xfrm>
            <a:off x="5029200" y="4114800"/>
            <a:ext cx="32004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BITEMAP</a:t>
            </a:r>
            <a:endParaRPr lang="en-US" sz="1100" dirty="0"/>
          </a:p>
        </p:txBody>
      </p:sp>
      <p:sp>
        <p:nvSpPr>
          <p:cNvPr id="34" name="Shape 32"/>
          <p:cNvSpPr/>
          <p:nvPr/>
        </p:nvSpPr>
        <p:spPr>
          <a:xfrm>
            <a:off x="5029200" y="4434840"/>
            <a:ext cx="1234440" cy="804672"/>
          </a:xfrm>
          <a:prstGeom prst="roundRect">
            <a:avLst>
              <a:gd name="adj" fmla="val 13636"/>
            </a:avLst>
          </a:prstGeom>
          <a:solidFill>
            <a:srgbClr val="FBEFE9"/>
          </a:solidFill>
          <a:ln w="9525">
            <a:solidFill>
              <a:srgbClr val="EFD3C6"/>
            </a:solidFill>
            <a:prstDash val="solid"/>
          </a:ln>
        </p:spPr>
      </p:sp>
      <p:sp>
        <p:nvSpPr>
          <p:cNvPr id="35" name="Text 33"/>
          <p:cNvSpPr txBox="1"/>
          <p:nvPr/>
        </p:nvSpPr>
        <p:spPr>
          <a:xfrm>
            <a:off x="5029200" y="4434840"/>
            <a:ext cx="123444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写真</a:t>
            </a:r>
            <a:endParaRPr lang="en-US" sz="1400" dirty="0"/>
          </a:p>
        </p:txBody>
      </p:sp>
      <p:sp>
        <p:nvSpPr>
          <p:cNvPr id="36" name="Text 34"/>
          <p:cNvSpPr txBox="1"/>
          <p:nvPr/>
        </p:nvSpPr>
        <p:spPr>
          <a:xfrm>
            <a:off x="6263640" y="4434840"/>
            <a:ext cx="365760" cy="804672"/>
          </a:xfrm>
          <a:prstGeom prst="rect">
            <a:avLst/>
          </a:prstGeom>
          <a:noFill/>
          <a:ln/>
        </p:spPr>
        <p:txBody>
          <a:bodyPr wrap="square" lIns="0" tIns="0" rIns="0" bIns="0" rtlCol="0" anchor="ctr"/>
          <a:lstStyle/>
          <a:p>
            <a:pPr algn="ctr" indent="0" marL="0">
              <a:buNone/>
            </a:pPr>
            <a:r>
              <a:rPr lang="en-US" sz="1800" b="1" dirty="0">
                <a:solidFill>
                  <a:srgbClr val="C6613F"/>
                </a:solidFill>
                <a:latin typeface="Yu Gothic" pitchFamily="34" charset="0"/>
                <a:ea typeface="Yu Gothic" pitchFamily="34" charset="-122"/>
                <a:cs typeface="Yu Gothic" pitchFamily="34" charset="-120"/>
              </a:rPr>
              <a:t>＋</a:t>
            </a:r>
            <a:endParaRPr lang="en-US" sz="1800" dirty="0"/>
          </a:p>
        </p:txBody>
      </p:sp>
      <p:sp>
        <p:nvSpPr>
          <p:cNvPr id="37" name="Shape 35"/>
          <p:cNvSpPr/>
          <p:nvPr/>
        </p:nvSpPr>
        <p:spPr>
          <a:xfrm>
            <a:off x="6629400" y="4434840"/>
            <a:ext cx="1554480" cy="804672"/>
          </a:xfrm>
          <a:prstGeom prst="roundRect">
            <a:avLst>
              <a:gd name="adj" fmla="val 13636"/>
            </a:avLst>
          </a:prstGeom>
          <a:solidFill>
            <a:srgbClr val="FBEFE9"/>
          </a:solidFill>
          <a:ln w="9525">
            <a:solidFill>
              <a:srgbClr val="EFD3C6"/>
            </a:solidFill>
            <a:prstDash val="solid"/>
          </a:ln>
        </p:spPr>
      </p:sp>
      <p:sp>
        <p:nvSpPr>
          <p:cNvPr id="38" name="Text 36"/>
          <p:cNvSpPr txBox="1"/>
          <p:nvPr/>
        </p:nvSpPr>
        <p:spPr>
          <a:xfrm>
            <a:off x="6629400" y="4434840"/>
            <a:ext cx="155448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評価 ＋ 店名</a:t>
            </a:r>
            <a:endParaRPr lang="en-US" sz="1400" dirty="0"/>
          </a:p>
        </p:txBody>
      </p:sp>
      <p:sp>
        <p:nvSpPr>
          <p:cNvPr id="39" name="Text 37"/>
          <p:cNvSpPr txBox="1"/>
          <p:nvPr/>
        </p:nvSpPr>
        <p:spPr>
          <a:xfrm>
            <a:off x="5029200" y="5349240"/>
            <a:ext cx="3246120" cy="54864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約1分。場所は写真の位置情報から、ジャンルはAIが判定、日時は写真から</a:t>
            </a:r>
            <a:endParaRPr lang="en-US" sz="1050" dirty="0"/>
          </a:p>
        </p:txBody>
      </p:sp>
      <p:sp>
        <p:nvSpPr>
          <p:cNvPr id="40" name="Text 38"/>
          <p:cNvSpPr txBox="1"/>
          <p:nvPr/>
        </p:nvSpPr>
        <p:spPr>
          <a:xfrm>
            <a:off x="777240" y="5897880"/>
            <a:ext cx="7406640" cy="365760"/>
          </a:xfrm>
          <a:prstGeom prst="rect">
            <a:avLst/>
          </a:prstGeom>
          <a:noFill/>
          <a:ln/>
        </p:spPr>
        <p:txBody>
          <a:bodyPr wrap="square" lIns="0" tIns="0" rIns="0" bIns="0" rtlCol="0" anchor="ctr"/>
          <a:lstStyle/>
          <a:p>
            <a:pPr indent="0" marL="0">
              <a:buNone/>
            </a:pPr>
            <a:r>
              <a:rPr lang="en-US" sz="950" dirty="0">
                <a:solidFill>
                  <a:srgbClr val="8A857D"/>
                </a:solidFill>
                <a:latin typeface="Yu Gothic" pitchFamily="34" charset="0"/>
                <a:ea typeface="Yu Gothic" pitchFamily="34" charset="-122"/>
                <a:cs typeface="Yu Gothic" pitchFamily="34" charset="-120"/>
              </a:rPr>
              <a:t>データは本人のアカウント領域のみに保存（Firebaseルール）／AI判定は利用者自身のキーで実行／オフライン起動・ダークモード・地図クラスタ</a:t>
            </a:r>
            <a:endParaRPr lang="en-US" sz="950" dirty="0"/>
          </a:p>
        </p:txBody>
      </p:sp>
      <p:sp>
        <p:nvSpPr>
          <p:cNvPr id="41" name="Shape 39"/>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42"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43" name="Text 40"/>
          <p:cNvSpPr txBox="1"/>
          <p:nvPr/>
        </p:nvSpPr>
        <p:spPr>
          <a:xfrm>
            <a:off x="8138160" y="6309360"/>
            <a:ext cx="301752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ふりかえり画面（画面・動画は★3以上のみ：190店舗）</a:t>
            </a:r>
            <a:endParaRPr lang="en-US" sz="850" dirty="0"/>
          </a:p>
        </p:txBody>
      </p:sp>
      <p:sp>
        <p:nvSpPr>
          <p:cNvPr id="44" name="Text 4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5" name="Text 4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 ― 情報の流れを、逆にする</a:t>
            </a:r>
            <a:endParaRPr lang="en-US" sz="3000" dirty="0"/>
          </a:p>
        </p:txBody>
      </p:sp>
      <p:sp>
        <p:nvSpPr>
          <p:cNvPr id="4" name="Shape 2"/>
          <p:cNvSpPr/>
          <p:nvPr/>
        </p:nvSpPr>
        <p:spPr>
          <a:xfrm>
            <a:off x="548640" y="1508760"/>
            <a:ext cx="7680960" cy="2926080"/>
          </a:xfrm>
          <a:prstGeom prst="roundRect">
            <a:avLst>
              <a:gd name="adj" fmla="val 375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65760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一般的なグルメサイト</a:t>
            </a:r>
            <a:endParaRPr lang="en-US" sz="1100" dirty="0"/>
          </a:p>
        </p:txBody>
      </p:sp>
      <p:sp>
        <p:nvSpPr>
          <p:cNvPr id="6" name="Shape 4"/>
          <p:cNvSpPr/>
          <p:nvPr/>
        </p:nvSpPr>
        <p:spPr>
          <a:xfrm>
            <a:off x="777240" y="1993392"/>
            <a:ext cx="1981200" cy="777240"/>
          </a:xfrm>
          <a:prstGeom prst="roundRect">
            <a:avLst>
              <a:gd name="adj" fmla="val 11765"/>
            </a:avLst>
          </a:prstGeom>
          <a:solidFill>
            <a:srgbClr val="F3F1EC"/>
          </a:solidFill>
          <a:ln w="12700">
            <a:solidFill>
              <a:srgbClr val="DDD6CB"/>
            </a:solidFill>
            <a:prstDash val="solid"/>
          </a:ln>
        </p:spPr>
      </p:sp>
      <p:sp>
        <p:nvSpPr>
          <p:cNvPr id="7" name="Text 5"/>
          <p:cNvSpPr txBox="1"/>
          <p:nvPr/>
        </p:nvSpPr>
        <p:spPr>
          <a:xfrm>
            <a:off x="82296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店</a:t>
            </a:r>
            <a:endParaRPr lang="en-US" sz="1200" dirty="0"/>
          </a:p>
        </p:txBody>
      </p:sp>
      <p:sp>
        <p:nvSpPr>
          <p:cNvPr id="8" name="Shape 6"/>
          <p:cNvSpPr/>
          <p:nvPr/>
        </p:nvSpPr>
        <p:spPr>
          <a:xfrm>
            <a:off x="2813304" y="2231136"/>
            <a:ext cx="301752" cy="292608"/>
          </a:xfrm>
          <a:prstGeom prst="rightArrow">
            <a:avLst/>
          </a:prstGeom>
          <a:solidFill>
            <a:srgbClr val="DDD6CB"/>
          </a:solidFill>
          <a:ln w="12700">
            <a:solidFill>
              <a:srgbClr val="DDD6CB"/>
            </a:solidFill>
            <a:prstDash val="solid"/>
          </a:ln>
        </p:spPr>
      </p:sp>
      <p:sp>
        <p:nvSpPr>
          <p:cNvPr id="9" name="Shape 7"/>
          <p:cNvSpPr/>
          <p:nvPr/>
        </p:nvSpPr>
        <p:spPr>
          <a:xfrm>
            <a:off x="3169920" y="1993392"/>
            <a:ext cx="1981200" cy="777240"/>
          </a:xfrm>
          <a:prstGeom prst="roundRect">
            <a:avLst>
              <a:gd name="adj" fmla="val 11765"/>
            </a:avLst>
          </a:prstGeom>
          <a:solidFill>
            <a:srgbClr val="F3F1EC"/>
          </a:solidFill>
          <a:ln w="12700">
            <a:solidFill>
              <a:srgbClr val="DDD6CB"/>
            </a:solidFill>
            <a:prstDash val="solid"/>
          </a:ln>
        </p:spPr>
      </p:sp>
      <p:sp>
        <p:nvSpPr>
          <p:cNvPr id="10" name="Text 8"/>
          <p:cNvSpPr txBox="1"/>
          <p:nvPr/>
        </p:nvSpPr>
        <p:spPr>
          <a:xfrm>
            <a:off x="321564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評価（みんなの平均）</a:t>
            </a:r>
            <a:endParaRPr lang="en-US" sz="1200" dirty="0"/>
          </a:p>
        </p:txBody>
      </p:sp>
      <p:sp>
        <p:nvSpPr>
          <p:cNvPr id="11" name="Shape 9"/>
          <p:cNvSpPr/>
          <p:nvPr/>
        </p:nvSpPr>
        <p:spPr>
          <a:xfrm>
            <a:off x="5205984" y="2231136"/>
            <a:ext cx="301752" cy="292608"/>
          </a:xfrm>
          <a:prstGeom prst="rightArrow">
            <a:avLst/>
          </a:prstGeom>
          <a:solidFill>
            <a:srgbClr val="DDD6CB"/>
          </a:solidFill>
          <a:ln w="12700">
            <a:solidFill>
              <a:srgbClr val="DDD6CB"/>
            </a:solidFill>
            <a:prstDash val="solid"/>
          </a:ln>
        </p:spPr>
      </p:sp>
      <p:sp>
        <p:nvSpPr>
          <p:cNvPr id="12" name="Shape 10"/>
          <p:cNvSpPr/>
          <p:nvPr/>
        </p:nvSpPr>
        <p:spPr>
          <a:xfrm>
            <a:off x="5562600" y="1993392"/>
            <a:ext cx="1981200" cy="777240"/>
          </a:xfrm>
          <a:prstGeom prst="roundRect">
            <a:avLst>
              <a:gd name="adj" fmla="val 11765"/>
            </a:avLst>
          </a:prstGeom>
          <a:solidFill>
            <a:srgbClr val="F3F1EC"/>
          </a:solidFill>
          <a:ln w="12700">
            <a:solidFill>
              <a:srgbClr val="DDD6CB"/>
            </a:solidFill>
            <a:prstDash val="solid"/>
          </a:ln>
        </p:spPr>
      </p:sp>
      <p:sp>
        <p:nvSpPr>
          <p:cNvPr id="13" name="Text 11"/>
          <p:cNvSpPr txBox="1"/>
          <p:nvPr/>
        </p:nvSpPr>
        <p:spPr>
          <a:xfrm>
            <a:off x="560832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あなた</a:t>
            </a:r>
            <a:endParaRPr lang="en-US" sz="1200" dirty="0"/>
          </a:p>
        </p:txBody>
      </p:sp>
      <p:sp>
        <p:nvSpPr>
          <p:cNvPr id="14" name="Text 12"/>
          <p:cNvSpPr txBox="1"/>
          <p:nvPr/>
        </p:nvSpPr>
        <p:spPr>
          <a:xfrm>
            <a:off x="777240" y="2926080"/>
            <a:ext cx="3657600" cy="274320"/>
          </a:xfrm>
          <a:prstGeom prst="rect">
            <a:avLst/>
          </a:prstGeom>
          <a:noFill/>
          <a:ln/>
        </p:spPr>
        <p:txBody>
          <a:bodyPr wrap="square" lIns="0" tIns="0" rIns="0" bIns="0" rtlCol="0" anchor="ctr"/>
          <a:lstStyle/>
          <a:p>
            <a:pPr indent="0" marL="0">
              <a:buNone/>
            </a:pPr>
            <a:r>
              <a:rPr lang="en-US" sz="1100" b="1" dirty="0">
                <a:solidFill>
                  <a:srgbClr val="B4552F"/>
                </a:solidFill>
                <a:latin typeface="Yu Gothic" pitchFamily="34" charset="0"/>
                <a:ea typeface="Yu Gothic" pitchFamily="34" charset="-122"/>
                <a:cs typeface="Yu Gothic" pitchFamily="34" charset="-120"/>
              </a:rPr>
              <a:t>BITEMAP</a:t>
            </a:r>
            <a:endParaRPr lang="en-US" sz="1100" dirty="0"/>
          </a:p>
        </p:txBody>
      </p:sp>
      <p:sp>
        <p:nvSpPr>
          <p:cNvPr id="15" name="Shape 13"/>
          <p:cNvSpPr/>
          <p:nvPr/>
        </p:nvSpPr>
        <p:spPr>
          <a:xfrm>
            <a:off x="777240" y="3273552"/>
            <a:ext cx="1383030" cy="777240"/>
          </a:xfrm>
          <a:prstGeom prst="roundRect">
            <a:avLst>
              <a:gd name="adj" fmla="val 11765"/>
            </a:avLst>
          </a:prstGeom>
          <a:solidFill>
            <a:srgbClr val="FBEFE9"/>
          </a:solidFill>
          <a:ln w="12700">
            <a:solidFill>
              <a:srgbClr val="C6613F"/>
            </a:solidFill>
            <a:prstDash val="solid"/>
          </a:ln>
        </p:spPr>
      </p:sp>
      <p:sp>
        <p:nvSpPr>
          <p:cNvPr id="16" name="Text 14"/>
          <p:cNvSpPr txBox="1"/>
          <p:nvPr/>
        </p:nvSpPr>
        <p:spPr>
          <a:xfrm>
            <a:off x="82296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あなたの評価</a:t>
            </a:r>
            <a:endParaRPr lang="en-US" sz="1200" dirty="0"/>
          </a:p>
        </p:txBody>
      </p:sp>
      <p:sp>
        <p:nvSpPr>
          <p:cNvPr id="17" name="Shape 15"/>
          <p:cNvSpPr/>
          <p:nvPr/>
        </p:nvSpPr>
        <p:spPr>
          <a:xfrm>
            <a:off x="2215134" y="3511296"/>
            <a:ext cx="301752" cy="292608"/>
          </a:xfrm>
          <a:prstGeom prst="rightArrow">
            <a:avLst/>
          </a:prstGeom>
          <a:solidFill>
            <a:srgbClr val="C6613F"/>
          </a:solidFill>
          <a:ln w="12700">
            <a:solidFill>
              <a:srgbClr val="C6613F"/>
            </a:solidFill>
            <a:prstDash val="solid"/>
          </a:ln>
        </p:spPr>
      </p:sp>
      <p:sp>
        <p:nvSpPr>
          <p:cNvPr id="18" name="Shape 16"/>
          <p:cNvSpPr/>
          <p:nvPr/>
        </p:nvSpPr>
        <p:spPr>
          <a:xfrm>
            <a:off x="2571750" y="3273552"/>
            <a:ext cx="1383030" cy="777240"/>
          </a:xfrm>
          <a:prstGeom prst="roundRect">
            <a:avLst>
              <a:gd name="adj" fmla="val 11765"/>
            </a:avLst>
          </a:prstGeom>
          <a:solidFill>
            <a:srgbClr val="FBEFE9"/>
          </a:solidFill>
          <a:ln w="12700">
            <a:solidFill>
              <a:srgbClr val="C6613F"/>
            </a:solidFill>
            <a:prstDash val="solid"/>
          </a:ln>
        </p:spPr>
      </p:sp>
      <p:sp>
        <p:nvSpPr>
          <p:cNvPr id="19" name="Text 17"/>
          <p:cNvSpPr txBox="1"/>
          <p:nvPr/>
        </p:nvSpPr>
        <p:spPr>
          <a:xfrm>
            <a:off x="261747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味覚が近い人</a:t>
            </a:r>
            <a:endParaRPr lang="en-US" sz="1200" dirty="0"/>
          </a:p>
        </p:txBody>
      </p:sp>
      <p:sp>
        <p:nvSpPr>
          <p:cNvPr id="20" name="Shape 18"/>
          <p:cNvSpPr/>
          <p:nvPr/>
        </p:nvSpPr>
        <p:spPr>
          <a:xfrm>
            <a:off x="4009644" y="3511296"/>
            <a:ext cx="301752" cy="292608"/>
          </a:xfrm>
          <a:prstGeom prst="rightArrow">
            <a:avLst/>
          </a:prstGeom>
          <a:solidFill>
            <a:srgbClr val="C6613F"/>
          </a:solidFill>
          <a:ln w="12700">
            <a:solidFill>
              <a:srgbClr val="C6613F"/>
            </a:solidFill>
            <a:prstDash val="solid"/>
          </a:ln>
        </p:spPr>
      </p:sp>
      <p:sp>
        <p:nvSpPr>
          <p:cNvPr id="21" name="Shape 19"/>
          <p:cNvSpPr/>
          <p:nvPr/>
        </p:nvSpPr>
        <p:spPr>
          <a:xfrm>
            <a:off x="4366260" y="3273552"/>
            <a:ext cx="1383030" cy="777240"/>
          </a:xfrm>
          <a:prstGeom prst="roundRect">
            <a:avLst>
              <a:gd name="adj" fmla="val 11765"/>
            </a:avLst>
          </a:prstGeom>
          <a:solidFill>
            <a:srgbClr val="FBEFE9"/>
          </a:solidFill>
          <a:ln w="12700">
            <a:solidFill>
              <a:srgbClr val="C6613F"/>
            </a:solidFill>
            <a:prstDash val="solid"/>
          </a:ln>
        </p:spPr>
      </p:sp>
      <p:sp>
        <p:nvSpPr>
          <p:cNvPr id="22" name="Text 20"/>
          <p:cNvSpPr txBox="1"/>
          <p:nvPr/>
        </p:nvSpPr>
        <p:spPr>
          <a:xfrm>
            <a:off x="441198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その人の評価</a:t>
            </a:r>
            <a:endParaRPr lang="en-US" sz="1200" dirty="0"/>
          </a:p>
        </p:txBody>
      </p:sp>
      <p:sp>
        <p:nvSpPr>
          <p:cNvPr id="23" name="Shape 21"/>
          <p:cNvSpPr/>
          <p:nvPr/>
        </p:nvSpPr>
        <p:spPr>
          <a:xfrm>
            <a:off x="5804154" y="3511296"/>
            <a:ext cx="301752" cy="292608"/>
          </a:xfrm>
          <a:prstGeom prst="rightArrow">
            <a:avLst/>
          </a:prstGeom>
          <a:solidFill>
            <a:srgbClr val="C6613F"/>
          </a:solidFill>
          <a:ln w="12700">
            <a:solidFill>
              <a:srgbClr val="C6613F"/>
            </a:solidFill>
            <a:prstDash val="solid"/>
          </a:ln>
        </p:spPr>
      </p:sp>
      <p:sp>
        <p:nvSpPr>
          <p:cNvPr id="24" name="Shape 22"/>
          <p:cNvSpPr/>
          <p:nvPr/>
        </p:nvSpPr>
        <p:spPr>
          <a:xfrm>
            <a:off x="6160770" y="3273552"/>
            <a:ext cx="1383030" cy="777240"/>
          </a:xfrm>
          <a:prstGeom prst="roundRect">
            <a:avLst>
              <a:gd name="adj" fmla="val 11765"/>
            </a:avLst>
          </a:prstGeom>
          <a:solidFill>
            <a:srgbClr val="FBEFE9"/>
          </a:solidFill>
          <a:ln w="12700">
            <a:solidFill>
              <a:srgbClr val="C6613F"/>
            </a:solidFill>
            <a:prstDash val="solid"/>
          </a:ln>
        </p:spPr>
      </p:sp>
      <p:sp>
        <p:nvSpPr>
          <p:cNvPr id="25" name="Text 23"/>
          <p:cNvSpPr txBox="1"/>
          <p:nvPr/>
        </p:nvSpPr>
        <p:spPr>
          <a:xfrm>
            <a:off x="620649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まだ行っていない店</a:t>
            </a:r>
            <a:endParaRPr lang="en-US" sz="1200" dirty="0"/>
          </a:p>
        </p:txBody>
      </p:sp>
      <p:sp>
        <p:nvSpPr>
          <p:cNvPr id="26" name="Text 24"/>
          <p:cNvSpPr txBox="1"/>
          <p:nvPr/>
        </p:nvSpPr>
        <p:spPr>
          <a:xfrm>
            <a:off x="777240" y="4069080"/>
            <a:ext cx="7223760" cy="32004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評価の主語が「みんな」から「あなた」に変わる。記録するほど、自分の地図が賢くなる</a:t>
            </a:r>
            <a:endParaRPr lang="en-US" sz="1150" dirty="0"/>
          </a:p>
        </p:txBody>
      </p:sp>
      <p:sp>
        <p:nvSpPr>
          <p:cNvPr id="27" name="Shape 25"/>
          <p:cNvSpPr/>
          <p:nvPr/>
        </p:nvSpPr>
        <p:spPr>
          <a:xfrm>
            <a:off x="548640" y="4617720"/>
            <a:ext cx="3749040" cy="1691640"/>
          </a:xfrm>
          <a:prstGeom prst="roundRect">
            <a:avLst>
              <a:gd name="adj" fmla="val 6486"/>
            </a:avLst>
          </a:prstGeom>
          <a:solidFill>
            <a:srgbClr val="FBF8F3"/>
          </a:solidFill>
          <a:ln w="12700">
            <a:solidFill>
              <a:srgbClr val="EAE3D8"/>
            </a:solidFill>
            <a:prstDash val="solid"/>
          </a:ln>
        </p:spPr>
      </p:sp>
      <p:sp>
        <p:nvSpPr>
          <p:cNvPr id="28" name="Text 26"/>
          <p:cNvSpPr txBox="1"/>
          <p:nvPr/>
        </p:nvSpPr>
        <p:spPr>
          <a:xfrm>
            <a:off x="74980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評価の重み付けを個人化</a:t>
            </a:r>
            <a:endParaRPr lang="en-US" sz="1300" dirty="0"/>
          </a:p>
        </p:txBody>
      </p:sp>
      <p:sp>
        <p:nvSpPr>
          <p:cNvPr id="29" name="Text 27"/>
          <p:cNvSpPr txBox="1"/>
          <p:nvPr/>
        </p:nvSpPr>
        <p:spPr>
          <a:xfrm>
            <a:off x="74980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「平均点」ではなく、共通店の★の突き合わせから味覚一致率を出し、その値で評価を並び替える</a:t>
            </a:r>
            <a:endParaRPr lang="en-US" sz="1200" dirty="0"/>
          </a:p>
        </p:txBody>
      </p:sp>
      <p:sp>
        <p:nvSpPr>
          <p:cNvPr id="30" name="Shape 28"/>
          <p:cNvSpPr/>
          <p:nvPr/>
        </p:nvSpPr>
        <p:spPr>
          <a:xfrm>
            <a:off x="4480560" y="4617720"/>
            <a:ext cx="3749040" cy="1691640"/>
          </a:xfrm>
          <a:prstGeom prst="roundRect">
            <a:avLst>
              <a:gd name="adj" fmla="val 6486"/>
            </a:avLst>
          </a:prstGeom>
          <a:solidFill>
            <a:srgbClr val="FBF8F3"/>
          </a:solidFill>
          <a:ln w="12700">
            <a:solidFill>
              <a:srgbClr val="EAE3D8"/>
            </a:solidFill>
            <a:prstDash val="solid"/>
          </a:ln>
        </p:spPr>
      </p:sp>
      <p:sp>
        <p:nvSpPr>
          <p:cNvPr id="31" name="Text 29"/>
          <p:cNvSpPr txBox="1"/>
          <p:nvPr/>
        </p:nvSpPr>
        <p:spPr>
          <a:xfrm>
            <a:off x="468172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記録が自然にたまる設計</a:t>
            </a:r>
            <a:endParaRPr lang="en-US" sz="1300" dirty="0"/>
          </a:p>
        </p:txBody>
      </p:sp>
      <p:sp>
        <p:nvSpPr>
          <p:cNvPr id="32" name="Text 30"/>
          <p:cNvSpPr txBox="1"/>
          <p:nvPr/>
        </p:nvSpPr>
        <p:spPr>
          <a:xfrm>
            <a:off x="468172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入力は写真と★だけ。場所・ジャンル・日時はAIと位置情報が埋める。食日記として毎日使うから、比較のためのデータが自然にたまる</a:t>
            </a:r>
            <a:endParaRPr lang="en-US" sz="1200" dirty="0"/>
          </a:p>
        </p:txBody>
      </p:sp>
      <p:sp>
        <p:nvSpPr>
          <p:cNvPr id="33" name="Shape 31"/>
          <p:cNvSpPr/>
          <p:nvPr/>
        </p:nvSpPr>
        <p:spPr>
          <a:xfrm>
            <a:off x="8458200" y="1508760"/>
            <a:ext cx="3182112" cy="4800600"/>
          </a:xfrm>
          <a:prstGeom prst="roundRect">
            <a:avLst>
              <a:gd name="adj" fmla="val 344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8686800" y="1737360"/>
            <a:ext cx="1828800" cy="384048"/>
          </a:xfrm>
          <a:prstGeom prst="roundRect">
            <a:avLst>
              <a:gd name="adj" fmla="val 50000"/>
            </a:avLst>
          </a:prstGeom>
          <a:solidFill>
            <a:srgbClr val="8A857D"/>
          </a:solidFill>
          <a:ln w="12700">
            <a:solidFill>
              <a:srgbClr val="8A857D"/>
            </a:solidFill>
            <a:prstDash val="solid"/>
          </a:ln>
        </p:spPr>
      </p:sp>
      <p:sp>
        <p:nvSpPr>
          <p:cNvPr id="35" name="Text 33"/>
          <p:cNvSpPr txBox="1"/>
          <p:nvPr/>
        </p:nvSpPr>
        <p:spPr>
          <a:xfrm>
            <a:off x="8686800" y="173736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36" name="Text 34"/>
          <p:cNvSpPr txBox="1"/>
          <p:nvPr/>
        </p:nvSpPr>
        <p:spPr>
          <a:xfrm>
            <a:off x="8686800" y="2286000"/>
            <a:ext cx="2743200" cy="39319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費用：店舗検索の Google Places API とクラウドは利用量課金。多人数への一般公開はコストの壁があり、当面は利用者自身のキー＋無料の OpenStreetMap 検索で運用</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初期の一致率：共通店が少ないうちは出せない。共通5件未満は非表示、自分の評価は一致率100%、一致率が出せない人の評価は弱く（0.15）反映し、1人でも食日記として成立する設計</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100" dirty="0"/>
          </a:p>
        </p:txBody>
      </p:sp>
      <p:sp>
        <p:nvSpPr>
          <p:cNvPr id="37" name="Text 3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8" name="Text 36"/>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今後の展開</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これから ― 人が増えるほど、あなたの地図は賢くなる</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54480"/>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ここまで ― 295回のループの記録</a:t>
            </a:r>
            <a:endParaRPr lang="en-US" sz="1300" dirty="0"/>
          </a:p>
        </p:txBody>
      </p:sp>
      <p:sp>
        <p:nvSpPr>
          <p:cNvPr id="6" name="Shape 4"/>
          <p:cNvSpPr/>
          <p:nvPr/>
        </p:nvSpPr>
        <p:spPr>
          <a:xfrm>
            <a:off x="1188720" y="2331720"/>
            <a:ext cx="9784080" cy="0"/>
          </a:xfrm>
          <a:prstGeom prst="line">
            <a:avLst/>
          </a:prstGeom>
          <a:noFill/>
          <a:ln w="38100">
            <a:solidFill>
              <a:srgbClr val="D9CFC2"/>
            </a:solidFill>
            <a:prstDash val="solid"/>
          </a:ln>
        </p:spPr>
      </p:sp>
      <p:sp>
        <p:nvSpPr>
          <p:cNvPr id="7" name="Shape 5"/>
          <p:cNvSpPr/>
          <p:nvPr/>
        </p:nvSpPr>
        <p:spPr>
          <a:xfrm>
            <a:off x="1033272" y="2176272"/>
            <a:ext cx="310896" cy="310896"/>
          </a:xfrm>
          <a:prstGeom prst="ellipse">
            <a:avLst/>
          </a:prstGeom>
          <a:solidFill>
            <a:srgbClr val="FFFFFF"/>
          </a:solidFill>
          <a:ln w="25400">
            <a:solidFill>
              <a:srgbClr val="C6613F"/>
            </a:solidFill>
            <a:prstDash val="solid"/>
          </a:ln>
        </p:spPr>
      </p:sp>
      <p:sp>
        <p:nvSpPr>
          <p:cNvPr id="8" name="Text 6"/>
          <p:cNvSpPr txBox="1"/>
          <p:nvPr/>
        </p:nvSpPr>
        <p:spPr>
          <a:xfrm>
            <a:off x="45720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9" name="Text 7"/>
          <p:cNvSpPr txBox="1"/>
          <p:nvPr/>
        </p:nvSpPr>
        <p:spPr>
          <a:xfrm>
            <a:off x="18288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10" name="Shape 8"/>
          <p:cNvSpPr/>
          <p:nvPr/>
        </p:nvSpPr>
        <p:spPr>
          <a:xfrm>
            <a:off x="3479292" y="2176272"/>
            <a:ext cx="310896" cy="310896"/>
          </a:xfrm>
          <a:prstGeom prst="ellipse">
            <a:avLst/>
          </a:prstGeom>
          <a:solidFill>
            <a:srgbClr val="FFFFFF"/>
          </a:solidFill>
          <a:ln w="25400">
            <a:solidFill>
              <a:srgbClr val="C6613F"/>
            </a:solidFill>
            <a:prstDash val="solid"/>
          </a:ln>
        </p:spPr>
      </p:sp>
      <p:sp>
        <p:nvSpPr>
          <p:cNvPr id="11" name="Text 9"/>
          <p:cNvSpPr txBox="1"/>
          <p:nvPr/>
        </p:nvSpPr>
        <p:spPr>
          <a:xfrm>
            <a:off x="290322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12" name="Text 10"/>
          <p:cNvSpPr txBox="1"/>
          <p:nvPr/>
        </p:nvSpPr>
        <p:spPr>
          <a:xfrm>
            <a:off x="262890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13" name="Shape 11"/>
          <p:cNvSpPr/>
          <p:nvPr/>
        </p:nvSpPr>
        <p:spPr>
          <a:xfrm>
            <a:off x="5925312" y="2176272"/>
            <a:ext cx="310896" cy="310896"/>
          </a:xfrm>
          <a:prstGeom prst="ellipse">
            <a:avLst/>
          </a:prstGeom>
          <a:solidFill>
            <a:srgbClr val="FFFFFF"/>
          </a:solidFill>
          <a:ln w="25400">
            <a:solidFill>
              <a:srgbClr val="C6613F"/>
            </a:solidFill>
            <a:prstDash val="solid"/>
          </a:ln>
        </p:spPr>
      </p:sp>
      <p:sp>
        <p:nvSpPr>
          <p:cNvPr id="14" name="Text 12"/>
          <p:cNvSpPr txBox="1"/>
          <p:nvPr/>
        </p:nvSpPr>
        <p:spPr>
          <a:xfrm>
            <a:off x="534924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15" name="Text 13"/>
          <p:cNvSpPr txBox="1"/>
          <p:nvPr/>
        </p:nvSpPr>
        <p:spPr>
          <a:xfrm>
            <a:off x="507492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16" name="Shape 14"/>
          <p:cNvSpPr/>
          <p:nvPr/>
        </p:nvSpPr>
        <p:spPr>
          <a:xfrm>
            <a:off x="8371332" y="2176272"/>
            <a:ext cx="310896" cy="310896"/>
          </a:xfrm>
          <a:prstGeom prst="ellipse">
            <a:avLst/>
          </a:prstGeom>
          <a:solidFill>
            <a:srgbClr val="FFFFFF"/>
          </a:solidFill>
          <a:ln w="25400">
            <a:solidFill>
              <a:srgbClr val="C6613F"/>
            </a:solidFill>
            <a:prstDash val="solid"/>
          </a:ln>
        </p:spPr>
      </p:sp>
      <p:sp>
        <p:nvSpPr>
          <p:cNvPr id="17" name="Text 15"/>
          <p:cNvSpPr txBox="1"/>
          <p:nvPr/>
        </p:nvSpPr>
        <p:spPr>
          <a:xfrm>
            <a:off x="779526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18" name="Text 16"/>
          <p:cNvSpPr txBox="1"/>
          <p:nvPr/>
        </p:nvSpPr>
        <p:spPr>
          <a:xfrm>
            <a:off x="752094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19" name="Shape 17"/>
          <p:cNvSpPr/>
          <p:nvPr/>
        </p:nvSpPr>
        <p:spPr>
          <a:xfrm>
            <a:off x="10817352" y="2176272"/>
            <a:ext cx="310896" cy="310896"/>
          </a:xfrm>
          <a:prstGeom prst="ellipse">
            <a:avLst/>
          </a:prstGeom>
          <a:solidFill>
            <a:srgbClr val="C6613F"/>
          </a:solidFill>
          <a:ln w="25400">
            <a:solidFill>
              <a:srgbClr val="C6613F"/>
            </a:solidFill>
            <a:prstDash val="solid"/>
          </a:ln>
        </p:spPr>
      </p:sp>
      <p:sp>
        <p:nvSpPr>
          <p:cNvPr id="20" name="Text 18"/>
          <p:cNvSpPr txBox="1"/>
          <p:nvPr/>
        </p:nvSpPr>
        <p:spPr>
          <a:xfrm>
            <a:off x="1024128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21" name="Text 19"/>
          <p:cNvSpPr txBox="1"/>
          <p:nvPr/>
        </p:nvSpPr>
        <p:spPr>
          <a:xfrm>
            <a:off x="996696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実利用での改良5点</a:t>
            </a:r>
            <a:endParaRPr lang="en-US" sz="950" dirty="0"/>
          </a:p>
        </p:txBody>
      </p:sp>
      <p:sp>
        <p:nvSpPr>
          <p:cNvPr id="22" name="Text 20"/>
          <p:cNvSpPr txBox="1"/>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2F5D8A"/>
                </a:solidFill>
                <a:latin typeface="Yu Gothic" pitchFamily="34" charset="0"/>
                <a:ea typeface="Yu Gothic" pitchFamily="34" charset="-122"/>
                <a:cs typeface="Yu Gothic" pitchFamily="34" charset="-120"/>
              </a:rPr>
              <a:t>これから ― 「味覚が近い人」のネットワークを育てる</a:t>
            </a:r>
            <a:endParaRPr lang="en-US" sz="1300" dirty="0"/>
          </a:p>
        </p:txBody>
      </p:sp>
      <p:sp>
        <p:nvSpPr>
          <p:cNvPr id="23" name="Shape 21"/>
          <p:cNvSpPr/>
          <p:nvPr/>
        </p:nvSpPr>
        <p:spPr>
          <a:xfrm>
            <a:off x="548640"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1943100" y="4206240"/>
            <a:ext cx="777240" cy="777240"/>
          </a:xfrm>
          <a:prstGeom prst="ellipse">
            <a:avLst/>
          </a:prstGeom>
          <a:solidFill>
            <a:srgbClr val="F3D3C6"/>
          </a:solidFill>
          <a:ln w="12700">
            <a:solidFill>
              <a:srgbClr val="C6613F"/>
            </a:solidFill>
            <a:prstDash val="solid"/>
          </a:ln>
        </p:spPr>
      </p:sp>
      <p:sp>
        <p:nvSpPr>
          <p:cNvPr id="25" name="Text 23"/>
          <p:cNvSpPr txBox="1"/>
          <p:nvPr/>
        </p:nvSpPr>
        <p:spPr>
          <a:xfrm>
            <a:off x="1943100" y="4206240"/>
            <a:ext cx="777240" cy="777240"/>
          </a:xfrm>
          <a:prstGeom prst="rect">
            <a:avLst/>
          </a:prstGeom>
          <a:noFill/>
          <a:ln/>
        </p:spPr>
        <p:txBody>
          <a:bodyPr wrap="square" lIns="0" tIns="0" rIns="0" bIns="0" rtlCol="0" anchor="ctr"/>
          <a:lstStyle/>
          <a:p>
            <a:pPr algn="ctr" indent="0" marL="0">
              <a:buNone/>
            </a:pPr>
            <a:r>
              <a:rPr lang="en-US" sz="1300" b="1" dirty="0">
                <a:solidFill>
                  <a:srgbClr val="B4552F"/>
                </a:solidFill>
                <a:latin typeface="Yu Gothic" pitchFamily="34" charset="0"/>
                <a:ea typeface="Yu Gothic" pitchFamily="34" charset="-122"/>
                <a:cs typeface="Yu Gothic" pitchFamily="34" charset="-120"/>
              </a:rPr>
              <a:t>100人</a:t>
            </a:r>
            <a:endParaRPr lang="en-US" sz="1300" dirty="0"/>
          </a:p>
        </p:txBody>
      </p:sp>
      <p:sp>
        <p:nvSpPr>
          <p:cNvPr id="26" name="Text 24"/>
          <p:cNvSpPr txBox="1"/>
          <p:nvPr/>
        </p:nvSpPr>
        <p:spPr>
          <a:xfrm>
            <a:off x="731520"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味覚が近い人が数人見つかる</a:t>
            </a:r>
            <a:endParaRPr lang="en-US" sz="1250" dirty="0"/>
          </a:p>
        </p:txBody>
      </p:sp>
      <p:sp>
        <p:nvSpPr>
          <p:cNvPr id="27" name="Text 25"/>
          <p:cNvSpPr txBox="1"/>
          <p:nvPr/>
        </p:nvSpPr>
        <p:spPr>
          <a:xfrm>
            <a:off x="777240"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共通店5件以上のペアが生まれ、一致率が表示され始める</a:t>
            </a:r>
            <a:endParaRPr lang="en-US" sz="1050" dirty="0"/>
          </a:p>
        </p:txBody>
      </p:sp>
      <p:sp>
        <p:nvSpPr>
          <p:cNvPr id="28" name="Shape 26"/>
          <p:cNvSpPr/>
          <p:nvPr/>
        </p:nvSpPr>
        <p:spPr>
          <a:xfrm>
            <a:off x="4160520" y="4663440"/>
            <a:ext cx="128016" cy="310896"/>
          </a:xfrm>
          <a:prstGeom prst="rightArrow">
            <a:avLst/>
          </a:prstGeom>
          <a:solidFill>
            <a:srgbClr val="D9CFC2"/>
          </a:solidFill>
          <a:ln w="12700">
            <a:solidFill>
              <a:srgbClr val="D9CFC2"/>
            </a:solidFill>
            <a:prstDash val="solid"/>
          </a:ln>
        </p:spPr>
      </p:sp>
      <p:sp>
        <p:nvSpPr>
          <p:cNvPr id="29" name="Shape 27"/>
          <p:cNvSpPr/>
          <p:nvPr/>
        </p:nvSpPr>
        <p:spPr>
          <a:xfrm>
            <a:off x="4315968"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5596128" y="3977640"/>
            <a:ext cx="1005840" cy="1005840"/>
          </a:xfrm>
          <a:prstGeom prst="ellipse">
            <a:avLst/>
          </a:prstGeom>
          <a:solidFill>
            <a:srgbClr val="E9A98F"/>
          </a:solidFill>
          <a:ln w="12700">
            <a:solidFill>
              <a:srgbClr val="C6613F"/>
            </a:solidFill>
            <a:prstDash val="solid"/>
          </a:ln>
        </p:spPr>
      </p:sp>
      <p:sp>
        <p:nvSpPr>
          <p:cNvPr id="31" name="Text 29"/>
          <p:cNvSpPr txBox="1"/>
          <p:nvPr/>
        </p:nvSpPr>
        <p:spPr>
          <a:xfrm>
            <a:off x="5596128" y="3977640"/>
            <a:ext cx="1005840" cy="100584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1,000人</a:t>
            </a:r>
            <a:endParaRPr lang="en-US" sz="1600" dirty="0"/>
          </a:p>
        </p:txBody>
      </p:sp>
      <p:sp>
        <p:nvSpPr>
          <p:cNvPr id="32" name="Text 30"/>
          <p:cNvSpPr txBox="1"/>
          <p:nvPr/>
        </p:nvSpPr>
        <p:spPr>
          <a:xfrm>
            <a:off x="4498848"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フォロー外にも「近い人」が現れる</a:t>
            </a:r>
            <a:endParaRPr lang="en-US" sz="1250" dirty="0"/>
          </a:p>
        </p:txBody>
      </p:sp>
      <p:sp>
        <p:nvSpPr>
          <p:cNvPr id="33" name="Text 31"/>
          <p:cNvSpPr txBox="1"/>
          <p:nvPr/>
        </p:nvSpPr>
        <p:spPr>
          <a:xfrm>
            <a:off x="4544568"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おすすめをフォロー外へ拡大。ジャンルごとに近い人が違うことも見えてくる</a:t>
            </a:r>
            <a:endParaRPr lang="en-US" sz="1050" dirty="0"/>
          </a:p>
        </p:txBody>
      </p:sp>
      <p:sp>
        <p:nvSpPr>
          <p:cNvPr id="34" name="Shape 32"/>
          <p:cNvSpPr/>
          <p:nvPr/>
        </p:nvSpPr>
        <p:spPr>
          <a:xfrm>
            <a:off x="7927848" y="4663440"/>
            <a:ext cx="128016" cy="310896"/>
          </a:xfrm>
          <a:prstGeom prst="rightArrow">
            <a:avLst/>
          </a:prstGeom>
          <a:solidFill>
            <a:srgbClr val="D9CFC2"/>
          </a:solidFill>
          <a:ln w="12700">
            <a:solidFill>
              <a:srgbClr val="D9CFC2"/>
            </a:solidFill>
            <a:prstDash val="solid"/>
          </a:ln>
        </p:spPr>
      </p:sp>
      <p:sp>
        <p:nvSpPr>
          <p:cNvPr id="35" name="Shape 33"/>
          <p:cNvSpPr/>
          <p:nvPr/>
        </p:nvSpPr>
        <p:spPr>
          <a:xfrm>
            <a:off x="8083296"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6" name="Shape 34"/>
          <p:cNvSpPr/>
          <p:nvPr/>
        </p:nvSpPr>
        <p:spPr>
          <a:xfrm>
            <a:off x="9249156" y="3749040"/>
            <a:ext cx="1234440" cy="1234440"/>
          </a:xfrm>
          <a:prstGeom prst="ellipse">
            <a:avLst/>
          </a:prstGeom>
          <a:solidFill>
            <a:srgbClr val="C6613F"/>
          </a:solidFill>
          <a:ln w="12700">
            <a:solidFill>
              <a:srgbClr val="C6613F"/>
            </a:solidFill>
            <a:prstDash val="solid"/>
          </a:ln>
        </p:spPr>
      </p:sp>
      <p:sp>
        <p:nvSpPr>
          <p:cNvPr id="37" name="Text 35"/>
          <p:cNvSpPr txBox="1"/>
          <p:nvPr/>
        </p:nvSpPr>
        <p:spPr>
          <a:xfrm>
            <a:off x="9249156" y="3749040"/>
            <a:ext cx="1234440" cy="12344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10,000人</a:t>
            </a:r>
            <a:endParaRPr lang="en-US" sz="1600" dirty="0"/>
          </a:p>
        </p:txBody>
      </p:sp>
      <p:sp>
        <p:nvSpPr>
          <p:cNvPr id="38" name="Text 36"/>
          <p:cNvSpPr txBox="1"/>
          <p:nvPr/>
        </p:nvSpPr>
        <p:spPr>
          <a:xfrm>
            <a:off x="8266176"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「あなたと似た人が、まだ行っていない店」</a:t>
            </a:r>
            <a:endParaRPr lang="en-US" sz="1250" dirty="0"/>
          </a:p>
        </p:txBody>
      </p:sp>
      <p:sp>
        <p:nvSpPr>
          <p:cNvPr id="39" name="Text 37"/>
          <p:cNvSpPr txBox="1"/>
          <p:nvPr/>
        </p:nvSpPr>
        <p:spPr>
          <a:xfrm>
            <a:off x="8311896"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地域ごとに次に行く店をAIが提案（一致率 × 未訪問 × 現在地）</a:t>
            </a:r>
            <a:endParaRPr lang="en-US" sz="105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AIは実装と判定、判断は人。毎日使えるアプリになった</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371600"/>
            <a:ext cx="5468112" cy="1170432"/>
          </a:xfrm>
          <a:prstGeom prst="roundRect">
            <a:avLst>
              <a:gd name="adj" fmla="val 9375"/>
            </a:avLst>
          </a:prstGeom>
          <a:solidFill>
            <a:srgbClr val="FBF8F3"/>
          </a:solidFill>
          <a:ln w="12700">
            <a:solidFill>
              <a:srgbClr val="EAE3D8"/>
            </a:solidFill>
            <a:prstDash val="solid"/>
          </a:ln>
        </p:spPr>
      </p:sp>
      <p:sp>
        <p:nvSpPr>
          <p:cNvPr id="5" name="Text 3"/>
          <p:cNvSpPr txBox="1"/>
          <p:nvPr/>
        </p:nvSpPr>
        <p:spPr>
          <a:xfrm>
            <a:off x="73152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ユーザーが少ないと一致率は機能しないのでは？（コールドスタート）</a:t>
            </a:r>
            <a:endParaRPr lang="en-US" sz="1150" dirty="0"/>
          </a:p>
        </p:txBody>
      </p:sp>
      <p:sp>
        <p:nvSpPr>
          <p:cNvPr id="6" name="Text 4"/>
          <p:cNvSpPr txBox="1"/>
          <p:nvPr/>
        </p:nvSpPr>
        <p:spPr>
          <a:xfrm>
            <a:off x="73152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共通店5件未満では一致率を表示しない。初期は自分の評価を一致率100%として使い、一致率が出せない人の評価は弱く（重み0.15）反映する。だから1人でも「自分の食日記」として成立し、人が増えるほど精度が上がる。</a:t>
            </a:r>
            <a:endParaRPr lang="en-US" sz="950" dirty="0"/>
          </a:p>
        </p:txBody>
      </p:sp>
      <p:sp>
        <p:nvSpPr>
          <p:cNvPr id="7" name="Shape 5"/>
          <p:cNvSpPr/>
          <p:nvPr/>
        </p:nvSpPr>
        <p:spPr>
          <a:xfrm>
            <a:off x="6172200" y="1371600"/>
            <a:ext cx="5468112" cy="1170432"/>
          </a:xfrm>
          <a:prstGeom prst="roundRect">
            <a:avLst>
              <a:gd name="adj" fmla="val 9375"/>
            </a:avLst>
          </a:prstGeom>
          <a:solidFill>
            <a:srgbClr val="FBF8F3"/>
          </a:solidFill>
          <a:ln w="12700">
            <a:solidFill>
              <a:srgbClr val="EAE3D8"/>
            </a:solidFill>
            <a:prstDash val="solid"/>
          </a:ln>
        </p:spPr>
      </p:sp>
      <p:sp>
        <p:nvSpPr>
          <p:cNvPr id="8" name="Text 6"/>
          <p:cNvSpPr txBox="1"/>
          <p:nvPr/>
        </p:nvSpPr>
        <p:spPr>
          <a:xfrm>
            <a:off x="635508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150" dirty="0"/>
          </a:p>
        </p:txBody>
      </p:sp>
      <p:sp>
        <p:nvSpPr>
          <p:cNvPr id="9" name="Text 7"/>
          <p:cNvSpPr txBox="1"/>
          <p:nvPr/>
        </p:nvSpPr>
        <p:spPr>
          <a:xfrm>
            <a:off x="635508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を確認。本人の実データでは一致率83%のフォロー相手が1人。実ユーザー間の検証は共通店5件以上が集まった段階で行う。</a:t>
            </a:r>
            <a:endParaRPr lang="en-US" sz="950" dirty="0"/>
          </a:p>
        </p:txBody>
      </p:sp>
      <p:sp>
        <p:nvSpPr>
          <p:cNvPr id="10" name="Shape 8"/>
          <p:cNvSpPr/>
          <p:nvPr/>
        </p:nvSpPr>
        <p:spPr>
          <a:xfrm>
            <a:off x="548640" y="2633472"/>
            <a:ext cx="5468112" cy="1170432"/>
          </a:xfrm>
          <a:prstGeom prst="roundRect">
            <a:avLst>
              <a:gd name="adj" fmla="val 9375"/>
            </a:avLst>
          </a:prstGeom>
          <a:solidFill>
            <a:srgbClr val="FBF8F3"/>
          </a:solidFill>
          <a:ln w="12700">
            <a:solidFill>
              <a:srgbClr val="EAE3D8"/>
            </a:solidFill>
            <a:prstDash val="solid"/>
          </a:ln>
        </p:spPr>
      </p:sp>
      <p:sp>
        <p:nvSpPr>
          <p:cNvPr id="11" name="Text 9"/>
          <p:cNvSpPr txBox="1"/>
          <p:nvPr/>
        </p:nvSpPr>
        <p:spPr>
          <a:xfrm>
            <a:off x="73152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AIの判定が間違ったらどうなる？</a:t>
            </a:r>
            <a:endParaRPr lang="en-US" sz="1150" dirty="0"/>
          </a:p>
        </p:txBody>
      </p:sp>
      <p:sp>
        <p:nvSpPr>
          <p:cNvPr id="12" name="Text 10"/>
          <p:cNvSpPr txBox="1"/>
          <p:nvPr/>
        </p:nvSpPr>
        <p:spPr>
          <a:xfrm>
            <a:off x="73152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950" dirty="0"/>
          </a:p>
        </p:txBody>
      </p:sp>
      <p:sp>
        <p:nvSpPr>
          <p:cNvPr id="13" name="Shape 11"/>
          <p:cNvSpPr/>
          <p:nvPr/>
        </p:nvSpPr>
        <p:spPr>
          <a:xfrm>
            <a:off x="6172200" y="2633472"/>
            <a:ext cx="5468112" cy="1170432"/>
          </a:xfrm>
          <a:prstGeom prst="roundRect">
            <a:avLst>
              <a:gd name="adj" fmla="val 9375"/>
            </a:avLst>
          </a:prstGeom>
          <a:solidFill>
            <a:srgbClr val="FBF8F3"/>
          </a:solidFill>
          <a:ln w="12700">
            <a:solidFill>
              <a:srgbClr val="EAE3D8"/>
            </a:solidFill>
            <a:prstDash val="solid"/>
          </a:ln>
        </p:spPr>
      </p:sp>
      <p:sp>
        <p:nvSpPr>
          <p:cNvPr id="14" name="Text 12"/>
          <p:cNvSpPr txBox="1"/>
          <p:nvPr/>
        </p:nvSpPr>
        <p:spPr>
          <a:xfrm>
            <a:off x="635508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一般公開の予定は？費用は？</a:t>
            </a:r>
            <a:endParaRPr lang="en-US" sz="1150" dirty="0"/>
          </a:p>
        </p:txBody>
      </p:sp>
      <p:sp>
        <p:nvSpPr>
          <p:cNvPr id="15" name="Text 13"/>
          <p:cNvSpPr txBox="1"/>
          <p:nvPr/>
        </p:nvSpPr>
        <p:spPr>
          <a:xfrm>
            <a:off x="635508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950" dirty="0"/>
          </a:p>
        </p:txBody>
      </p:sp>
      <p:sp>
        <p:nvSpPr>
          <p:cNvPr id="16" name="Shape 14"/>
          <p:cNvSpPr/>
          <p:nvPr/>
        </p:nvSpPr>
        <p:spPr>
          <a:xfrm>
            <a:off x="548640" y="3895344"/>
            <a:ext cx="5468112" cy="1170432"/>
          </a:xfrm>
          <a:prstGeom prst="roundRect">
            <a:avLst>
              <a:gd name="adj" fmla="val 9375"/>
            </a:avLst>
          </a:prstGeom>
          <a:solidFill>
            <a:srgbClr val="FBF8F3"/>
          </a:solidFill>
          <a:ln w="12700">
            <a:solidFill>
              <a:srgbClr val="EAE3D8"/>
            </a:solidFill>
            <a:prstDash val="solid"/>
          </a:ln>
        </p:spPr>
      </p:sp>
      <p:sp>
        <p:nvSpPr>
          <p:cNvPr id="17" name="Text 15"/>
          <p:cNvSpPr txBox="1"/>
          <p:nvPr/>
        </p:nvSpPr>
        <p:spPr>
          <a:xfrm>
            <a:off x="73152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なぜ全量AI実装？品質は？</a:t>
            </a:r>
            <a:endParaRPr lang="en-US" sz="1150" dirty="0"/>
          </a:p>
        </p:txBody>
      </p:sp>
      <p:sp>
        <p:nvSpPr>
          <p:cNvPr id="18" name="Text 16"/>
          <p:cNvSpPr txBox="1"/>
          <p:nvPr/>
        </p:nvSpPr>
        <p:spPr>
          <a:xfrm>
            <a:off x="73152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人は判断に専念し、判断の回数を最大化するため。品質は自動テスト（Playwright）＋毎回の実機検証＋差し戻しで担保。AIの「直りました」も実機で確認してから採用。CLAUDE.mdで規約を固定。</a:t>
            </a:r>
            <a:endParaRPr lang="en-US" sz="950" dirty="0"/>
          </a:p>
        </p:txBody>
      </p:sp>
      <p:sp>
        <p:nvSpPr>
          <p:cNvPr id="19" name="Shape 17"/>
          <p:cNvSpPr/>
          <p:nvPr/>
        </p:nvSpPr>
        <p:spPr>
          <a:xfrm>
            <a:off x="6172200" y="3895344"/>
            <a:ext cx="5468112" cy="1170432"/>
          </a:xfrm>
          <a:prstGeom prst="roundRect">
            <a:avLst>
              <a:gd name="adj" fmla="val 9375"/>
            </a:avLst>
          </a:prstGeom>
          <a:solidFill>
            <a:srgbClr val="FBF8F3"/>
          </a:solidFill>
          <a:ln w="12700">
            <a:solidFill>
              <a:srgbClr val="EAE3D8"/>
            </a:solidFill>
            <a:prstDash val="solid"/>
          </a:ln>
        </p:spPr>
      </p:sp>
      <p:sp>
        <p:nvSpPr>
          <p:cNvPr id="20" name="Text 18"/>
          <p:cNvSpPr txBox="1"/>
          <p:nvPr/>
        </p:nvSpPr>
        <p:spPr>
          <a:xfrm>
            <a:off x="635508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150" dirty="0"/>
          </a:p>
        </p:txBody>
      </p:sp>
      <p:sp>
        <p:nvSpPr>
          <p:cNvPr id="21" name="Text 19"/>
          <p:cNvSpPr txBox="1"/>
          <p:nvPr/>
        </p:nvSpPr>
        <p:spPr>
          <a:xfrm>
            <a:off x="635508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950" dirty="0"/>
          </a:p>
        </p:txBody>
      </p:sp>
      <p:sp>
        <p:nvSpPr>
          <p:cNvPr id="22" name="Shape 20"/>
          <p:cNvSpPr/>
          <p:nvPr/>
        </p:nvSpPr>
        <p:spPr>
          <a:xfrm>
            <a:off x="548640" y="5157216"/>
            <a:ext cx="5468112" cy="1170432"/>
          </a:xfrm>
          <a:prstGeom prst="roundRect">
            <a:avLst>
              <a:gd name="adj" fmla="val 9375"/>
            </a:avLst>
          </a:prstGeom>
          <a:solidFill>
            <a:srgbClr val="FBF8F3"/>
          </a:solidFill>
          <a:ln w="12700">
            <a:solidFill>
              <a:srgbClr val="EAE3D8"/>
            </a:solidFill>
            <a:prstDash val="solid"/>
          </a:ln>
        </p:spPr>
      </p:sp>
      <p:sp>
        <p:nvSpPr>
          <p:cNvPr id="23" name="Text 21"/>
          <p:cNvSpPr txBox="1"/>
          <p:nvPr/>
        </p:nvSpPr>
        <p:spPr>
          <a:xfrm>
            <a:off x="73152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プライバシーは？</a:t>
            </a:r>
            <a:endParaRPr lang="en-US" sz="1150" dirty="0"/>
          </a:p>
        </p:txBody>
      </p:sp>
      <p:sp>
        <p:nvSpPr>
          <p:cNvPr id="24" name="Text 22"/>
          <p:cNvSpPr txBox="1"/>
          <p:nvPr/>
        </p:nvSpPr>
        <p:spPr>
          <a:xfrm>
            <a:off x="73152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記録・写真は本人のアカウント領域のみ（Firebaseルール）。公開は本人が公開した投稿のみ。他人の投稿には日付を出さない（全画面で統一）。</a:t>
            </a:r>
            <a:endParaRPr lang="en-US" sz="950" dirty="0"/>
          </a:p>
        </p:txBody>
      </p:sp>
      <p:sp>
        <p:nvSpPr>
          <p:cNvPr id="25" name="Shape 23"/>
          <p:cNvSpPr/>
          <p:nvPr/>
        </p:nvSpPr>
        <p:spPr>
          <a:xfrm>
            <a:off x="6172200" y="5157216"/>
            <a:ext cx="5468112" cy="1170432"/>
          </a:xfrm>
          <a:prstGeom prst="roundRect">
            <a:avLst>
              <a:gd name="adj" fmla="val 9375"/>
            </a:avLst>
          </a:prstGeom>
          <a:solidFill>
            <a:srgbClr val="FBF8F3"/>
          </a:solidFill>
          <a:ln w="12700">
            <a:solidFill>
              <a:srgbClr val="EAE3D8"/>
            </a:solidFill>
            <a:prstDash val="solid"/>
          </a:ln>
        </p:spPr>
      </p:sp>
      <p:sp>
        <p:nvSpPr>
          <p:cNvPr id="26" name="Text 24"/>
          <p:cNvSpPr txBox="1"/>
          <p:nvPr/>
        </p:nvSpPr>
        <p:spPr>
          <a:xfrm>
            <a:off x="635508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一致率の計算はどこで？重くない？</a:t>
            </a:r>
            <a:endParaRPr lang="en-US" sz="1150" dirty="0"/>
          </a:p>
        </p:txBody>
      </p:sp>
      <p:sp>
        <p:nvSpPr>
          <p:cNvPr id="27" name="Text 25"/>
          <p:cNvSpPr txBox="1"/>
          <p:nvPr/>
        </p:nvSpPr>
        <p:spPr>
          <a:xfrm>
            <a:off x="635508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端末側で計算。共通店の★を突き合わせるだけ（相関0.7＋評価差0.3）なので追加のサーバー費用はなく、フォロー相手が増えても軽い。</a:t>
            </a:r>
            <a:endParaRPr lang="en-US" sz="9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b="1" dirty="0">
                <a:solidFill>
                  <a:srgbClr val="C6613F"/>
                </a:solidFill>
                <a:latin typeface="Yu Gothic" pitchFamily="34" charset="0"/>
                <a:ea typeface="Yu Gothic" pitchFamily="34" charset="-122"/>
                <a:cs typeface="Yu Gothic" pitchFamily="34" charset="-120"/>
              </a:rPr>
              <a:t>このループを毎日回した</a:t>
            </a:r>
            <a:pPr algn="l" indent="0" marL="0">
              <a:buNone/>
            </a:pPr>
            <a:r>
              <a:rPr lang="en-US" sz="1200" dirty="0">
                <a:solidFill>
                  <a:srgbClr val="1F1E1D"/>
                </a:solidFill>
                <a:latin typeface="Yu Gothic" pitchFamily="34" charset="0"/>
                <a:ea typeface="Yu Gothic" pitchFamily="34" charset="-122"/>
                <a:cs typeface="Yu Gothic" pitchFamily="34" charset="-120"/>
              </a:rPr>
              <a:t>。仕様書・デザイン案は画像のまま渡し、守るべき決め事は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参考：一般向け紹介動画（アニメ＋実演・約70秒）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2026-09-19T11:42:24Z</dcterms:created>
  <dcterms:modified xsi:type="dcterms:W3CDTF">2026-09-19T11:42:24Z</dcterms:modified>
</cp:coreProperties>
</file>