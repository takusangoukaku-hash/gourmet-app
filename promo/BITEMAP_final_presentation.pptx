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【1:10】動画を再生（1分08秒）。再生できない場合の予備: https://takusangoukaku-hash.github.io/gourmet-app/promo/bitemap_intro.mp4 をブラウザで開く。動画中は無言でよいが、地図のシーンで「実データでは201店舗」と一言添える。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【0:45】AIは2か所。開発ではClaude Codeにコードを全量書かせ、人は要望・検証・採否に専念。このループを293回。アプリ内では写真のジャンル判定にClaude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【0:40】予選後の改善は4点、いずれも実利用で見つけたもの。特にv290→291は、1回目の修正で直ったと報告されたものを実機で差し戻し、計測で本当の原因を特定させた例。進め方は予選と同じループです。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【0:25】数字で。293バージョン、実運用で201店舗、70以上のジャンル、1回の記録は1分。本番公開済みで、制作者が毎日使っています。個人情報は本人の領域にのみ保存。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オリジナリティは、平均ではなく個人の味覚をデータ化する切り口と、記録のハードルをAIで極限まで下げた設計。今後はフォロー外へのおすすめ拡大と、次に行く店のAI提案。課題は共通店数の確保とAI判定の根拠可視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【0:20】まとめ3点。平均ではなく個人の味覚。AIは実装と判定、判断は人。293回のループで毎日使えるアプリに。ご清聴ありがとうございました。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写真を撮るだけで育つグルメ地図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8" name="Shape 6"/>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9" name="Image 0" descr="/tmp/claude-0/-home-user-gourmet-app/8edbdaa3-b81a-5c49-b452-bda755b7f07f/scratchpad/fin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地図とアルバムに</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訪問店は評価色のピンに。写真は店ごとに自動整理され、「いつ・何を・何点」がすぐ見返せる。クラウドに自動バックアップ。</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final/shots/profile.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fin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DEMO</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デモ（1分）― 撮る → 育つ → 味覚でつながる</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1709928" y="5989320"/>
            <a:ext cx="877824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再生できない場合: https://takusangoukaku-hash.github.io/gourmet-app/promo/bitemap_intro.mp4</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① AI活用の目的と方法</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dirty="0">
                <a:solidFill>
                  <a:srgbClr val="1F1E1D"/>
                </a:solidFill>
                <a:latin typeface="Yu Gothic" pitchFamily="34" charset="0"/>
                <a:ea typeface="Yu Gothic" pitchFamily="34" charset="-122"/>
                <a:cs typeface="Yu Gothic" pitchFamily="34" charset="-120"/>
              </a:rPr>
              <a:t>このループを </a:t>
            </a:r>
            <a:pPr algn="l" indent="0" marL="0">
              <a:buNone/>
            </a:pPr>
            <a:r>
              <a:rPr lang="en-US" sz="1200" b="1" dirty="0">
                <a:solidFill>
                  <a:srgbClr val="C6613F"/>
                </a:solidFill>
                <a:latin typeface="Yu Gothic" pitchFamily="34" charset="0"/>
                <a:ea typeface="Yu Gothic" pitchFamily="34" charset="-122"/>
                <a:cs typeface="Yu Gothic" pitchFamily="34" charset="-120"/>
              </a:rPr>
              <a:t>293回転</a:t>
            </a:r>
            <a:pPr algn="l" indent="0" marL="0">
              <a:buNone/>
            </a:pPr>
            <a:r>
              <a:rPr lang="en-US" sz="1200" dirty="0">
                <a:solidFill>
                  <a:srgbClr val="1F1E1D"/>
                </a:solidFill>
                <a:latin typeface="Yu Gothic" pitchFamily="34" charset="0"/>
                <a:ea typeface="Yu Gothic" pitchFamily="34" charset="-122"/>
                <a:cs typeface="Yu Gothic" pitchFamily="34" charset="-120"/>
              </a:rPr>
              <a:t>（v1〜v293）。仕様書・デザイン案は画像のまま渡し、守るべき決め事は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② プロンプト設計の工夫と具体性</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③ 最終的に人が判断・修正した点</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予選からの改善（v289 → v293）― 実利用で見つけた4点</a:t>
            </a:r>
            <a:endParaRPr lang="en-US" sz="3000" dirty="0"/>
          </a:p>
        </p:txBody>
      </p:sp>
      <p:sp>
        <p:nvSpPr>
          <p:cNvPr id="4" name="Shape 2"/>
          <p:cNvSpPr/>
          <p:nvPr/>
        </p:nvSpPr>
        <p:spPr>
          <a:xfrm>
            <a:off x="54864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777240" cy="329184"/>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4980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v290</a:t>
            </a:r>
            <a:endParaRPr lang="en-US" sz="1100" dirty="0"/>
          </a:p>
        </p:txBody>
      </p:sp>
      <p:sp>
        <p:nvSpPr>
          <p:cNvPr id="7" name="Text 5"/>
          <p:cNvSpPr txBox="1"/>
          <p:nvPr/>
        </p:nvSpPr>
        <p:spPr>
          <a:xfrm>
            <a:off x="164592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写真一覧から開いた投稿がズレる不具合を修正</a:t>
            </a:r>
            <a:endParaRPr lang="en-US" sz="1350" dirty="0"/>
          </a:p>
        </p:txBody>
      </p:sp>
      <p:sp>
        <p:nvSpPr>
          <p:cNvPr id="8" name="Text 6"/>
          <p:cNvSpPr txBox="1"/>
          <p:nvPr/>
        </p:nvSpPr>
        <p:spPr>
          <a:xfrm>
            <a:off x="74980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検索の写真一覧をタップすると「少し前の投稿」が表示された。写真の非同期読み込みで高さが後から伸び、位置補正が切り詰められていたのが原因。「基準の投稿を画面上端に固定する」方式に変更</a:t>
            </a:r>
            <a:endParaRPr lang="en-US" sz="1100" dirty="0"/>
          </a:p>
        </p:txBody>
      </p:sp>
      <p:sp>
        <p:nvSpPr>
          <p:cNvPr id="9" name="Shape 7"/>
          <p:cNvSpPr/>
          <p:nvPr/>
        </p:nvSpPr>
        <p:spPr>
          <a:xfrm>
            <a:off x="617220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6373368" y="1691640"/>
            <a:ext cx="777240" cy="329184"/>
          </a:xfrm>
          <a:prstGeom prst="roundRect">
            <a:avLst>
              <a:gd name="adj" fmla="val 50000"/>
            </a:avLst>
          </a:prstGeom>
          <a:solidFill>
            <a:srgbClr val="C6613F"/>
          </a:solidFill>
          <a:ln w="12700">
            <a:solidFill>
              <a:srgbClr val="C6613F"/>
            </a:solidFill>
            <a:prstDash val="solid"/>
          </a:ln>
        </p:spPr>
      </p:sp>
      <p:sp>
        <p:nvSpPr>
          <p:cNvPr id="11" name="Text 9"/>
          <p:cNvSpPr txBox="1"/>
          <p:nvPr/>
        </p:nvSpPr>
        <p:spPr>
          <a:xfrm>
            <a:off x="637336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v291</a:t>
            </a:r>
            <a:endParaRPr lang="en-US" sz="1100" dirty="0"/>
          </a:p>
        </p:txBody>
      </p:sp>
      <p:sp>
        <p:nvSpPr>
          <p:cNvPr id="12" name="Text 10"/>
          <p:cNvSpPr txBox="1"/>
          <p:nvPr/>
        </p:nvSpPr>
        <p:spPr>
          <a:xfrm>
            <a:off x="726948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投稿詳細のスクロールを滑らかに</a:t>
            </a:r>
            <a:endParaRPr lang="en-US" sz="1350" dirty="0"/>
          </a:p>
        </p:txBody>
      </p:sp>
      <p:sp>
        <p:nvSpPr>
          <p:cNvPr id="13" name="Text 11"/>
          <p:cNvSpPr txBox="1"/>
          <p:nvPr/>
        </p:nvSpPr>
        <p:spPr>
          <a:xfrm>
            <a:off x="637336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v290の方式だと慣性スクロール中に補正が割り込んで止まる。写真の高さが確定してから継ぎ足し、操作中は補正しない設計に</a:t>
            </a:r>
            <a:endParaRPr lang="en-US" sz="1100" dirty="0"/>
          </a:p>
        </p:txBody>
      </p:sp>
      <p:sp>
        <p:nvSpPr>
          <p:cNvPr id="14" name="Shape 12"/>
          <p:cNvSpPr/>
          <p:nvPr/>
        </p:nvSpPr>
        <p:spPr>
          <a:xfrm>
            <a:off x="54864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749808" y="3703320"/>
            <a:ext cx="777240" cy="329184"/>
          </a:xfrm>
          <a:prstGeom prst="roundRect">
            <a:avLst>
              <a:gd name="adj" fmla="val 50000"/>
            </a:avLst>
          </a:prstGeom>
          <a:solidFill>
            <a:srgbClr val="C6613F"/>
          </a:solidFill>
          <a:ln w="12700">
            <a:solidFill>
              <a:srgbClr val="C6613F"/>
            </a:solidFill>
            <a:prstDash val="solid"/>
          </a:ln>
        </p:spPr>
      </p:sp>
      <p:sp>
        <p:nvSpPr>
          <p:cNvPr id="16" name="Text 14"/>
          <p:cNvSpPr txBox="1"/>
          <p:nvPr/>
        </p:nvSpPr>
        <p:spPr>
          <a:xfrm>
            <a:off x="74980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v292</a:t>
            </a:r>
            <a:endParaRPr lang="en-US" sz="1100" dirty="0"/>
          </a:p>
        </p:txBody>
      </p:sp>
      <p:sp>
        <p:nvSpPr>
          <p:cNvPr id="17" name="Text 15"/>
          <p:cNvSpPr txBox="1"/>
          <p:nvPr/>
        </p:nvSpPr>
        <p:spPr>
          <a:xfrm>
            <a:off x="164592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味の評価を0.5刻みでスマホでも確実に</a:t>
            </a:r>
            <a:endParaRPr lang="en-US" sz="1350" dirty="0"/>
          </a:p>
        </p:txBody>
      </p:sp>
      <p:sp>
        <p:nvSpPr>
          <p:cNvPr id="18" name="Text 16"/>
          <p:cNvSpPr txBox="1"/>
          <p:nvPr/>
        </p:nvSpPr>
        <p:spPr>
          <a:xfrm>
            <a:off x="74980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「左半分タップで.5」は26pxの星では狙えなかった。星を36pxに拡大、なぞって選択、同じ星の再タップで .5 切替、数値表示を追加</a:t>
            </a:r>
            <a:endParaRPr lang="en-US" sz="1100" dirty="0"/>
          </a:p>
        </p:txBody>
      </p:sp>
      <p:sp>
        <p:nvSpPr>
          <p:cNvPr id="19" name="Shape 17"/>
          <p:cNvSpPr/>
          <p:nvPr/>
        </p:nvSpPr>
        <p:spPr>
          <a:xfrm>
            <a:off x="617220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6373368" y="3703320"/>
            <a:ext cx="777240" cy="329184"/>
          </a:xfrm>
          <a:prstGeom prst="roundRect">
            <a:avLst>
              <a:gd name="adj" fmla="val 50000"/>
            </a:avLst>
          </a:prstGeom>
          <a:solidFill>
            <a:srgbClr val="C6613F"/>
          </a:solidFill>
          <a:ln w="12700">
            <a:solidFill>
              <a:srgbClr val="C6613F"/>
            </a:solidFill>
            <a:prstDash val="solid"/>
          </a:ln>
        </p:spPr>
      </p:sp>
      <p:sp>
        <p:nvSpPr>
          <p:cNvPr id="21" name="Text 19"/>
          <p:cNvSpPr txBox="1"/>
          <p:nvPr/>
        </p:nvSpPr>
        <p:spPr>
          <a:xfrm>
            <a:off x="637336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v293</a:t>
            </a:r>
            <a:endParaRPr lang="en-US" sz="1100" dirty="0"/>
          </a:p>
        </p:txBody>
      </p:sp>
      <p:sp>
        <p:nvSpPr>
          <p:cNvPr id="22" name="Text 20"/>
          <p:cNvSpPr txBox="1"/>
          <p:nvPr/>
        </p:nvSpPr>
        <p:spPr>
          <a:xfrm>
            <a:off x="726948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他人の投稿の日付を全画面で非表示</a:t>
            </a:r>
            <a:endParaRPr lang="en-US" sz="1350" dirty="0"/>
          </a:p>
        </p:txBody>
      </p:sp>
      <p:sp>
        <p:nvSpPr>
          <p:cNvPr id="23" name="Text 21"/>
          <p:cNvSpPr txBox="1"/>
          <p:nvPr/>
        </p:nvSpPr>
        <p:spPr>
          <a:xfrm>
            <a:off x="637336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ホームのカードと店舗シートに残っていた相対時刻を廃止。プライバシー配慮を全画面で統一</a:t>
            </a:r>
            <a:endParaRPr lang="en-US" sz="1100" dirty="0"/>
          </a:p>
        </p:txBody>
      </p:sp>
      <p:sp>
        <p:nvSpPr>
          <p:cNvPr id="24" name="Shape 22"/>
          <p:cNvSpPr/>
          <p:nvPr/>
        </p:nvSpPr>
        <p:spPr>
          <a:xfrm>
            <a:off x="548640" y="5532120"/>
            <a:ext cx="11091672" cy="777240"/>
          </a:xfrm>
          <a:prstGeom prst="roundRect">
            <a:avLst>
              <a:gd name="adj" fmla="val 14118"/>
            </a:avLst>
          </a:prstGeom>
          <a:solidFill>
            <a:srgbClr val="FBEFE9"/>
          </a:solidFill>
          <a:ln w="12700">
            <a:solidFill>
              <a:srgbClr val="EFD3C6"/>
            </a:solidFill>
            <a:prstDash val="solid"/>
          </a:ln>
        </p:spPr>
      </p:sp>
      <p:sp>
        <p:nvSpPr>
          <p:cNvPr id="25" name="Text 23"/>
          <p:cNvSpPr txBox="1"/>
          <p:nvPr/>
        </p:nvSpPr>
        <p:spPr>
          <a:xfrm>
            <a:off x="777240" y="5623560"/>
            <a:ext cx="10698480" cy="640080"/>
          </a:xfrm>
          <a:prstGeom prst="rect">
            <a:avLst/>
          </a:prstGeom>
          <a:noFill/>
          <a:ln/>
        </p:spPr>
        <p:txBody>
          <a:bodyPr wrap="square" lIns="0" tIns="0" rIns="0" bIns="0" rtlCol="0" anchor="ctr"/>
          <a:lstStyle/>
          <a:p>
            <a:pPr algn="l" indent="0" marL="0">
              <a:buNone/>
            </a:pPr>
            <a:r>
              <a:rPr lang="en-US" sz="1200" b="1" dirty="0">
                <a:solidFill>
                  <a:srgbClr val="C6613F"/>
                </a:solidFill>
                <a:latin typeface="Yu Gothic" pitchFamily="34" charset="0"/>
                <a:ea typeface="Yu Gothic" pitchFamily="34" charset="-122"/>
                <a:cs typeface="Yu Gothic" pitchFamily="34" charset="-120"/>
              </a:rPr>
              <a:t>進め方は予選と同じループ：</a:t>
            </a:r>
            <a:pPr algn="l" indent="0" marL="0">
              <a:buNone/>
            </a:pPr>
            <a:r>
              <a:rPr lang="en-US" sz="1200" dirty="0">
                <a:solidFill>
                  <a:srgbClr val="1F1E1D"/>
                </a:solidFill>
                <a:latin typeface="Yu Gothic" pitchFamily="34" charset="0"/>
                <a:ea typeface="Yu Gothic" pitchFamily="34" charset="-122"/>
                <a:cs typeface="Yu Gothic" pitchFamily="34" charset="-120"/>
              </a:rPr>
              <a:t>制作者が日常利用で気づく → 現象を一言で伝える → AIが計測・修正・自動テスト → 実機で検証。加えて一般向け紹介動画（アニメ＋実演）を制作し、再生成キットをリポジトリに同梱。</a:t>
            </a:r>
            <a:endParaRPr lang="en-US" sz="120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7" name="Text 2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⑤ 成果物の完成度</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「動くもの」を実生活で運用中</a:t>
            </a:r>
            <a:endParaRPr lang="en-US" sz="3000" dirty="0"/>
          </a:p>
        </p:txBody>
      </p:sp>
      <p:sp>
        <p:nvSpPr>
          <p:cNvPr id="4" name="Shape 2"/>
          <p:cNvSpPr/>
          <p:nvPr/>
        </p:nvSpPr>
        <p:spPr>
          <a:xfrm>
            <a:off x="548640" y="1508760"/>
            <a:ext cx="1783080" cy="1737360"/>
          </a:xfrm>
          <a:prstGeom prst="roundRect">
            <a:avLst>
              <a:gd name="adj" fmla="val 6316"/>
            </a:avLst>
          </a:prstGeom>
          <a:solidFill>
            <a:srgbClr val="FBF8F3"/>
          </a:solidFill>
          <a:ln w="12700">
            <a:solidFill>
              <a:srgbClr val="EAE3D8"/>
            </a:solidFill>
            <a:prstDash val="solid"/>
          </a:ln>
        </p:spPr>
      </p:sp>
      <p:sp>
        <p:nvSpPr>
          <p:cNvPr id="5" name="Text 3"/>
          <p:cNvSpPr txBox="1"/>
          <p:nvPr/>
        </p:nvSpPr>
        <p:spPr>
          <a:xfrm>
            <a:off x="54864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293</a:t>
            </a:r>
            <a:endParaRPr lang="en-US" sz="4000" dirty="0"/>
          </a:p>
        </p:txBody>
      </p:sp>
      <p:sp>
        <p:nvSpPr>
          <p:cNvPr id="6" name="Text 4"/>
          <p:cNvSpPr txBox="1"/>
          <p:nvPr/>
        </p:nvSpPr>
        <p:spPr>
          <a:xfrm>
            <a:off x="54864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リリースした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バージョン数</a:t>
            </a:r>
            <a:endParaRPr lang="en-US" sz="1050" dirty="0"/>
          </a:p>
        </p:txBody>
      </p:sp>
      <p:sp>
        <p:nvSpPr>
          <p:cNvPr id="7" name="Shape 5"/>
          <p:cNvSpPr/>
          <p:nvPr/>
        </p:nvSpPr>
        <p:spPr>
          <a:xfrm>
            <a:off x="2468880" y="1508760"/>
            <a:ext cx="1783080" cy="1737360"/>
          </a:xfrm>
          <a:prstGeom prst="roundRect">
            <a:avLst>
              <a:gd name="adj" fmla="val 6316"/>
            </a:avLst>
          </a:prstGeom>
          <a:solidFill>
            <a:srgbClr val="FBF8F3"/>
          </a:solidFill>
          <a:ln w="12700">
            <a:solidFill>
              <a:srgbClr val="EAE3D8"/>
            </a:solidFill>
            <a:prstDash val="solid"/>
          </a:ln>
        </p:spPr>
      </p:sp>
      <p:sp>
        <p:nvSpPr>
          <p:cNvPr id="8" name="Text 6"/>
          <p:cNvSpPr txBox="1"/>
          <p:nvPr/>
        </p:nvSpPr>
        <p:spPr>
          <a:xfrm>
            <a:off x="246888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201</a:t>
            </a:r>
            <a:endParaRPr lang="en-US" sz="4000" dirty="0"/>
          </a:p>
        </p:txBody>
      </p:sp>
      <p:sp>
        <p:nvSpPr>
          <p:cNvPr id="9" name="Text 7"/>
          <p:cNvSpPr txBox="1"/>
          <p:nvPr/>
        </p:nvSpPr>
        <p:spPr>
          <a:xfrm>
            <a:off x="246888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実運用で登録した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店舗数</a:t>
            </a:r>
            <a:endParaRPr lang="en-US" sz="1050" dirty="0"/>
          </a:p>
        </p:txBody>
      </p:sp>
      <p:sp>
        <p:nvSpPr>
          <p:cNvPr id="10" name="Shape 8"/>
          <p:cNvSpPr/>
          <p:nvPr/>
        </p:nvSpPr>
        <p:spPr>
          <a:xfrm>
            <a:off x="4389120" y="1508760"/>
            <a:ext cx="1783080" cy="1737360"/>
          </a:xfrm>
          <a:prstGeom prst="roundRect">
            <a:avLst>
              <a:gd name="adj" fmla="val 6316"/>
            </a:avLst>
          </a:prstGeom>
          <a:solidFill>
            <a:srgbClr val="FBF8F3"/>
          </a:solidFill>
          <a:ln w="12700">
            <a:solidFill>
              <a:srgbClr val="EAE3D8"/>
            </a:solidFill>
            <a:prstDash val="solid"/>
          </a:ln>
        </p:spPr>
      </p:sp>
      <p:sp>
        <p:nvSpPr>
          <p:cNvPr id="11" name="Text 9"/>
          <p:cNvSpPr txBox="1"/>
          <p:nvPr/>
        </p:nvSpPr>
        <p:spPr>
          <a:xfrm>
            <a:off x="438912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70+</a:t>
            </a:r>
            <a:endParaRPr lang="en-US" sz="4000" dirty="0"/>
          </a:p>
        </p:txBody>
      </p:sp>
      <p:sp>
        <p:nvSpPr>
          <p:cNvPr id="12" name="Text 10"/>
          <p:cNvSpPr txBox="1"/>
          <p:nvPr/>
        </p:nvSpPr>
        <p:spPr>
          <a:xfrm>
            <a:off x="438912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AI判定に対応する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料理ジャンル</a:t>
            </a:r>
            <a:endParaRPr lang="en-US" sz="1050" dirty="0"/>
          </a:p>
        </p:txBody>
      </p:sp>
      <p:sp>
        <p:nvSpPr>
          <p:cNvPr id="13" name="Shape 11"/>
          <p:cNvSpPr/>
          <p:nvPr/>
        </p:nvSpPr>
        <p:spPr>
          <a:xfrm>
            <a:off x="6309360" y="1508760"/>
            <a:ext cx="1783080" cy="1737360"/>
          </a:xfrm>
          <a:prstGeom prst="roundRect">
            <a:avLst>
              <a:gd name="adj" fmla="val 6316"/>
            </a:avLst>
          </a:prstGeom>
          <a:solidFill>
            <a:srgbClr val="FBF8F3"/>
          </a:solidFill>
          <a:ln w="12700">
            <a:solidFill>
              <a:srgbClr val="EAE3D8"/>
            </a:solidFill>
            <a:prstDash val="solid"/>
          </a:ln>
        </p:spPr>
      </p:sp>
      <p:sp>
        <p:nvSpPr>
          <p:cNvPr id="14" name="Text 12"/>
          <p:cNvSpPr txBox="1"/>
          <p:nvPr/>
        </p:nvSpPr>
        <p:spPr>
          <a:xfrm>
            <a:off x="630936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1分</a:t>
            </a:r>
            <a:endParaRPr lang="en-US" sz="4000" dirty="0"/>
          </a:p>
        </p:txBody>
      </p:sp>
      <p:sp>
        <p:nvSpPr>
          <p:cNvPr id="15" name="Text 13"/>
          <p:cNvSpPr txBox="1"/>
          <p:nvPr/>
        </p:nvSpPr>
        <p:spPr>
          <a:xfrm>
            <a:off x="630936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1回の記録にかかる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時間（目安）</a:t>
            </a:r>
            <a:endParaRPr lang="en-US" sz="1050" dirty="0"/>
          </a:p>
        </p:txBody>
      </p:sp>
      <p:sp>
        <p:nvSpPr>
          <p:cNvPr id="16" name="Text 14"/>
          <p:cNvSpPr txBox="1"/>
          <p:nvPr/>
        </p:nvSpPr>
        <p:spPr>
          <a:xfrm>
            <a:off x="548640" y="3520440"/>
            <a:ext cx="7498080" cy="274320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本番公開済み（PWA・URLを開くだけ・インストール不要）。制作者自身が毎日の外食で利用</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記録の手間：AIジャンル判定＋位置の自動補完で、手入力は店名と★だけ</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データは本人のアカウント領域にのみ保存（Firebaseセキュリティルール）。公開は本人が公開した投稿のみ</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AI判定は利用者自身のAPIキーで実行。最終確認・修正は利用者が行う</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オフライン起動（Service Worker）・ダークモード・地図クラスタ表示・行きたい店ピン</a:t>
            </a:r>
            <a:endParaRPr lang="en-US" sz="1250" dirty="0"/>
          </a:p>
        </p:txBody>
      </p:sp>
      <p:sp>
        <p:nvSpPr>
          <p:cNvPr id="17" name="Shape 15"/>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8" name="Image 0" descr="/tmp/claude-0/-home-user-gourmet-app/8edbdaa3-b81a-5c49-b452-bda755b7f07f/scratchpad/fin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19" name="Text 16"/>
          <p:cNvSpPr txBox="1"/>
          <p:nvPr/>
        </p:nvSpPr>
        <p:spPr>
          <a:xfrm>
            <a:off x="8412480" y="6309360"/>
            <a:ext cx="292608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統計画面：訪問・評価のふりかえり</a:t>
            </a:r>
            <a:endParaRPr lang="en-US" sz="950" dirty="0"/>
          </a:p>
        </p:txBody>
      </p:sp>
      <p:sp>
        <p:nvSpPr>
          <p:cNvPr id="20" name="Text 1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1" name="Text 1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④ テーマのオリジナリティ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オリジナリティと、これから</a:t>
            </a:r>
            <a:endParaRPr lang="en-US" sz="3000" dirty="0"/>
          </a:p>
        </p:txBody>
      </p:sp>
      <p:sp>
        <p:nvSpPr>
          <p:cNvPr id="4" name="Shape 2"/>
          <p:cNvSpPr/>
          <p:nvPr/>
        </p:nvSpPr>
        <p:spPr>
          <a:xfrm>
            <a:off x="548640"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2011680" cy="384048"/>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77240"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オリジナリティ</a:t>
            </a:r>
            <a:endParaRPr lang="en-US" sz="1300" dirty="0"/>
          </a:p>
        </p:txBody>
      </p:sp>
      <p:sp>
        <p:nvSpPr>
          <p:cNvPr id="7" name="Text 5"/>
          <p:cNvSpPr txBox="1"/>
          <p:nvPr/>
        </p:nvSpPr>
        <p:spPr>
          <a:xfrm>
            <a:off x="777240"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「平均点」ではなく、個人の味覚をデータ化して評価を並び替える切り口</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記録のハードルをAIで「店名と★だけ」まで下げ、データが自然にたまる設計</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293バージョンのAI協働開発プロセスの記録そのものも成果物</a:t>
            </a:r>
            <a:endParaRPr lang="en-US" sz="1200" dirty="0"/>
          </a:p>
        </p:txBody>
      </p:sp>
      <p:sp>
        <p:nvSpPr>
          <p:cNvPr id="8" name="Shape 6"/>
          <p:cNvSpPr/>
          <p:nvPr/>
        </p:nvSpPr>
        <p:spPr>
          <a:xfrm>
            <a:off x="4315968"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44568" y="1737360"/>
            <a:ext cx="2011680" cy="384048"/>
          </a:xfrm>
          <a:prstGeom prst="roundRect">
            <a:avLst>
              <a:gd name="adj" fmla="val 50000"/>
            </a:avLst>
          </a:prstGeom>
          <a:solidFill>
            <a:srgbClr val="2F5D8A"/>
          </a:solidFill>
          <a:ln w="12700">
            <a:solidFill>
              <a:srgbClr val="2F5D8A"/>
            </a:solidFill>
            <a:prstDash val="solid"/>
          </a:ln>
        </p:spPr>
      </p:sp>
      <p:sp>
        <p:nvSpPr>
          <p:cNvPr id="10" name="Text 8"/>
          <p:cNvSpPr txBox="1"/>
          <p:nvPr/>
        </p:nvSpPr>
        <p:spPr>
          <a:xfrm>
            <a:off x="4544568"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今後の展開</a:t>
            </a:r>
            <a:endParaRPr lang="en-US" sz="1300" dirty="0"/>
          </a:p>
        </p:txBody>
      </p:sp>
      <p:sp>
        <p:nvSpPr>
          <p:cNvPr id="11" name="Text 9"/>
          <p:cNvSpPr txBox="1"/>
          <p:nvPr/>
        </p:nvSpPr>
        <p:spPr>
          <a:xfrm>
            <a:off x="4544568"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おすすめをフォロー外へ拡大し、「味覚の近い人」を発見できる場に</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記録に応じたバッジ・コレクションで継続を後押し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「次に行くべき店」をAIが提案（味覚一致率×未訪問店×現在地）</a:t>
            </a:r>
            <a:endParaRPr lang="en-US" sz="1200" dirty="0"/>
          </a:p>
        </p:txBody>
      </p:sp>
      <p:sp>
        <p:nvSpPr>
          <p:cNvPr id="12" name="Shape 10"/>
          <p:cNvSpPr/>
          <p:nvPr/>
        </p:nvSpPr>
        <p:spPr>
          <a:xfrm>
            <a:off x="8083296"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311896" y="1737360"/>
            <a:ext cx="2011680" cy="384048"/>
          </a:xfrm>
          <a:prstGeom prst="roundRect">
            <a:avLst>
              <a:gd name="adj" fmla="val 50000"/>
            </a:avLst>
          </a:prstGeom>
          <a:solidFill>
            <a:srgbClr val="8A857D"/>
          </a:solidFill>
          <a:ln w="12700">
            <a:solidFill>
              <a:srgbClr val="8A857D"/>
            </a:solidFill>
            <a:prstDash val="solid"/>
          </a:ln>
        </p:spPr>
      </p:sp>
      <p:sp>
        <p:nvSpPr>
          <p:cNvPr id="14" name="Text 12"/>
          <p:cNvSpPr txBox="1"/>
          <p:nvPr/>
        </p:nvSpPr>
        <p:spPr>
          <a:xfrm>
            <a:off x="8311896"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15" name="Text 13"/>
          <p:cNvSpPr txBox="1"/>
          <p:nvPr/>
        </p:nvSpPr>
        <p:spPr>
          <a:xfrm>
            <a:off x="8311896"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一致率の精度向上には共通店数が必要。初期ユーザー同士をつなぐ仕組みづくり</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実機でしか分からない不具合が残る。検証のループを回し続ける</a:t>
            </a:r>
            <a:endParaRPr lang="en-US" sz="1200" dirty="0"/>
          </a:p>
        </p:txBody>
      </p:sp>
      <p:sp>
        <p:nvSpPr>
          <p:cNvPr id="16" name="Shape 14"/>
          <p:cNvSpPr/>
          <p:nvPr/>
        </p:nvSpPr>
        <p:spPr>
          <a:xfrm>
            <a:off x="548640" y="4617720"/>
            <a:ext cx="11091672" cy="1691640"/>
          </a:xfrm>
          <a:prstGeom prst="roundRect">
            <a:avLst>
              <a:gd name="adj" fmla="val 6486"/>
            </a:avLst>
          </a:prstGeom>
          <a:solidFill>
            <a:srgbClr val="FBF8F3"/>
          </a:solidFill>
          <a:ln w="12700">
            <a:solidFill>
              <a:srgbClr val="EAE3D8"/>
            </a:solidFill>
            <a:prstDash val="solid"/>
          </a:ln>
        </p:spPr>
      </p:sp>
      <p:sp>
        <p:nvSpPr>
          <p:cNvPr id="17" name="Text 15"/>
          <p:cNvSpPr txBox="1"/>
          <p:nvPr/>
        </p:nvSpPr>
        <p:spPr>
          <a:xfrm>
            <a:off x="777240" y="4727448"/>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293回のループの記録 ― プロセスそのものが成果物</a:t>
            </a:r>
            <a:endParaRPr lang="en-US" sz="1300" dirty="0"/>
          </a:p>
        </p:txBody>
      </p:sp>
      <p:sp>
        <p:nvSpPr>
          <p:cNvPr id="18" name="Shape 16"/>
          <p:cNvSpPr/>
          <p:nvPr/>
        </p:nvSpPr>
        <p:spPr>
          <a:xfrm>
            <a:off x="1188720" y="5532120"/>
            <a:ext cx="9784080" cy="0"/>
          </a:xfrm>
          <a:prstGeom prst="line">
            <a:avLst/>
          </a:prstGeom>
          <a:noFill/>
          <a:ln w="38100">
            <a:solidFill>
              <a:srgbClr val="D9CFC2"/>
            </a:solidFill>
            <a:prstDash val="solid"/>
          </a:ln>
        </p:spPr>
      </p:sp>
      <p:sp>
        <p:nvSpPr>
          <p:cNvPr id="19" name="Shape 17"/>
          <p:cNvSpPr/>
          <p:nvPr/>
        </p:nvSpPr>
        <p:spPr>
          <a:xfrm>
            <a:off x="1033272" y="5376672"/>
            <a:ext cx="310896" cy="310896"/>
          </a:xfrm>
          <a:prstGeom prst="ellipse">
            <a:avLst/>
          </a:prstGeom>
          <a:solidFill>
            <a:srgbClr val="FFFFFF"/>
          </a:solidFill>
          <a:ln w="25400">
            <a:solidFill>
              <a:srgbClr val="C6613F"/>
            </a:solidFill>
            <a:prstDash val="solid"/>
          </a:ln>
        </p:spPr>
      </p:sp>
      <p:sp>
        <p:nvSpPr>
          <p:cNvPr id="20" name="Text 18"/>
          <p:cNvSpPr txBox="1"/>
          <p:nvPr/>
        </p:nvSpPr>
        <p:spPr>
          <a:xfrm>
            <a:off x="45720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21" name="Text 19"/>
          <p:cNvSpPr txBox="1"/>
          <p:nvPr/>
        </p:nvSpPr>
        <p:spPr>
          <a:xfrm>
            <a:off x="18288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22" name="Shape 20"/>
          <p:cNvSpPr/>
          <p:nvPr/>
        </p:nvSpPr>
        <p:spPr>
          <a:xfrm>
            <a:off x="3479292" y="5376672"/>
            <a:ext cx="310896" cy="310896"/>
          </a:xfrm>
          <a:prstGeom prst="ellipse">
            <a:avLst/>
          </a:prstGeom>
          <a:solidFill>
            <a:srgbClr val="FFFFFF"/>
          </a:solidFill>
          <a:ln w="25400">
            <a:solidFill>
              <a:srgbClr val="C6613F"/>
            </a:solidFill>
            <a:prstDash val="solid"/>
          </a:ln>
        </p:spPr>
      </p:sp>
      <p:sp>
        <p:nvSpPr>
          <p:cNvPr id="23" name="Text 21"/>
          <p:cNvSpPr txBox="1"/>
          <p:nvPr/>
        </p:nvSpPr>
        <p:spPr>
          <a:xfrm>
            <a:off x="290322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24" name="Text 22"/>
          <p:cNvSpPr txBox="1"/>
          <p:nvPr/>
        </p:nvSpPr>
        <p:spPr>
          <a:xfrm>
            <a:off x="262890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25" name="Shape 23"/>
          <p:cNvSpPr/>
          <p:nvPr/>
        </p:nvSpPr>
        <p:spPr>
          <a:xfrm>
            <a:off x="5925312" y="5376672"/>
            <a:ext cx="310896" cy="310896"/>
          </a:xfrm>
          <a:prstGeom prst="ellipse">
            <a:avLst/>
          </a:prstGeom>
          <a:solidFill>
            <a:srgbClr val="FFFFFF"/>
          </a:solidFill>
          <a:ln w="25400">
            <a:solidFill>
              <a:srgbClr val="C6613F"/>
            </a:solidFill>
            <a:prstDash val="solid"/>
          </a:ln>
        </p:spPr>
      </p:sp>
      <p:sp>
        <p:nvSpPr>
          <p:cNvPr id="26" name="Text 24"/>
          <p:cNvSpPr txBox="1"/>
          <p:nvPr/>
        </p:nvSpPr>
        <p:spPr>
          <a:xfrm>
            <a:off x="534924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27" name="Text 25"/>
          <p:cNvSpPr txBox="1"/>
          <p:nvPr/>
        </p:nvSpPr>
        <p:spPr>
          <a:xfrm>
            <a:off x="507492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28" name="Shape 26"/>
          <p:cNvSpPr/>
          <p:nvPr/>
        </p:nvSpPr>
        <p:spPr>
          <a:xfrm>
            <a:off x="8371332" y="5376672"/>
            <a:ext cx="310896" cy="310896"/>
          </a:xfrm>
          <a:prstGeom prst="ellipse">
            <a:avLst/>
          </a:prstGeom>
          <a:solidFill>
            <a:srgbClr val="FFFFFF"/>
          </a:solidFill>
          <a:ln w="25400">
            <a:solidFill>
              <a:srgbClr val="C6613F"/>
            </a:solidFill>
            <a:prstDash val="solid"/>
          </a:ln>
        </p:spPr>
      </p:sp>
      <p:sp>
        <p:nvSpPr>
          <p:cNvPr id="29" name="Text 27"/>
          <p:cNvSpPr txBox="1"/>
          <p:nvPr/>
        </p:nvSpPr>
        <p:spPr>
          <a:xfrm>
            <a:off x="779526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30" name="Text 28"/>
          <p:cNvSpPr txBox="1"/>
          <p:nvPr/>
        </p:nvSpPr>
        <p:spPr>
          <a:xfrm>
            <a:off x="752094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31" name="Shape 29"/>
          <p:cNvSpPr/>
          <p:nvPr/>
        </p:nvSpPr>
        <p:spPr>
          <a:xfrm>
            <a:off x="10817352" y="5376672"/>
            <a:ext cx="310896" cy="310896"/>
          </a:xfrm>
          <a:prstGeom prst="ellipse">
            <a:avLst/>
          </a:prstGeom>
          <a:solidFill>
            <a:srgbClr val="C6613F"/>
          </a:solidFill>
          <a:ln w="25400">
            <a:solidFill>
              <a:srgbClr val="C6613F"/>
            </a:solidFill>
            <a:prstDash val="solid"/>
          </a:ln>
        </p:spPr>
      </p:sp>
      <p:sp>
        <p:nvSpPr>
          <p:cNvPr id="32" name="Text 30"/>
          <p:cNvSpPr txBox="1"/>
          <p:nvPr/>
        </p:nvSpPr>
        <p:spPr>
          <a:xfrm>
            <a:off x="1024128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v293</a:t>
            </a:r>
            <a:endParaRPr lang="en-US" sz="1150" dirty="0"/>
          </a:p>
        </p:txBody>
      </p:sp>
      <p:sp>
        <p:nvSpPr>
          <p:cNvPr id="33" name="Text 31"/>
          <p:cNvSpPr txBox="1"/>
          <p:nvPr/>
        </p:nvSpPr>
        <p:spPr>
          <a:xfrm>
            <a:off x="996696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実利用での改善4件</a:t>
            </a:r>
            <a:endParaRPr lang="en-US" sz="950" dirty="0"/>
          </a:p>
        </p:txBody>
      </p:sp>
      <p:sp>
        <p:nvSpPr>
          <p:cNvPr id="34" name="Text 3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5" name="Text 3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AIは実装と判定を担い、判断と採否は人が実機で決める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293回のループで、実生活で毎日使えるアプリに</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final/shots/shopfeed.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463040"/>
            <a:ext cx="5468112" cy="1481328"/>
          </a:xfrm>
          <a:prstGeom prst="roundRect">
            <a:avLst>
              <a:gd name="adj" fmla="val 7407"/>
            </a:avLst>
          </a:prstGeom>
          <a:solidFill>
            <a:srgbClr val="FBF8F3"/>
          </a:solidFill>
          <a:ln w="12700">
            <a:solidFill>
              <a:srgbClr val="EAE3D8"/>
            </a:solidFill>
            <a:prstDash val="solid"/>
          </a:ln>
        </p:spPr>
      </p:sp>
      <p:sp>
        <p:nvSpPr>
          <p:cNvPr id="5" name="Text 3"/>
          <p:cNvSpPr txBox="1"/>
          <p:nvPr/>
        </p:nvSpPr>
        <p:spPr>
          <a:xfrm>
            <a:off x="74980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250" dirty="0"/>
          </a:p>
        </p:txBody>
      </p:sp>
      <p:sp>
        <p:nvSpPr>
          <p:cNvPr id="6" name="Text 4"/>
          <p:cNvSpPr txBox="1"/>
          <p:nvPr/>
        </p:nvSpPr>
        <p:spPr>
          <a:xfrm>
            <a:off x="74980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を確認。実ユーザー間の検証は共通店5件以上が集まった段階で行う予定。</a:t>
            </a:r>
            <a:endParaRPr lang="en-US" sz="1050" dirty="0"/>
          </a:p>
        </p:txBody>
      </p:sp>
      <p:sp>
        <p:nvSpPr>
          <p:cNvPr id="7" name="Shape 5"/>
          <p:cNvSpPr/>
          <p:nvPr/>
        </p:nvSpPr>
        <p:spPr>
          <a:xfrm>
            <a:off x="6172200" y="1463040"/>
            <a:ext cx="5468112" cy="1481328"/>
          </a:xfrm>
          <a:prstGeom prst="roundRect">
            <a:avLst>
              <a:gd name="adj" fmla="val 7407"/>
            </a:avLst>
          </a:prstGeom>
          <a:solidFill>
            <a:srgbClr val="FBF8F3"/>
          </a:solidFill>
          <a:ln w="12700">
            <a:solidFill>
              <a:srgbClr val="EAE3D8"/>
            </a:solidFill>
            <a:prstDash val="solid"/>
          </a:ln>
        </p:spPr>
      </p:sp>
      <p:sp>
        <p:nvSpPr>
          <p:cNvPr id="8" name="Text 6"/>
          <p:cNvSpPr txBox="1"/>
          <p:nvPr/>
        </p:nvSpPr>
        <p:spPr>
          <a:xfrm>
            <a:off x="637336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AIの判定が間違ったらどうなる？</a:t>
            </a:r>
            <a:endParaRPr lang="en-US" sz="1250" dirty="0"/>
          </a:p>
        </p:txBody>
      </p:sp>
      <p:sp>
        <p:nvSpPr>
          <p:cNvPr id="9" name="Text 7"/>
          <p:cNvSpPr txBox="1"/>
          <p:nvPr/>
        </p:nvSpPr>
        <p:spPr>
          <a:xfrm>
            <a:off x="637336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1050" dirty="0"/>
          </a:p>
        </p:txBody>
      </p:sp>
      <p:sp>
        <p:nvSpPr>
          <p:cNvPr id="10" name="Shape 8"/>
          <p:cNvSpPr/>
          <p:nvPr/>
        </p:nvSpPr>
        <p:spPr>
          <a:xfrm>
            <a:off x="548640" y="3090672"/>
            <a:ext cx="5468112" cy="1481328"/>
          </a:xfrm>
          <a:prstGeom prst="roundRect">
            <a:avLst>
              <a:gd name="adj" fmla="val 7407"/>
            </a:avLst>
          </a:prstGeom>
          <a:solidFill>
            <a:srgbClr val="FBF8F3"/>
          </a:solidFill>
          <a:ln w="12700">
            <a:solidFill>
              <a:srgbClr val="EAE3D8"/>
            </a:solidFill>
            <a:prstDash val="solid"/>
          </a:ln>
        </p:spPr>
      </p:sp>
      <p:sp>
        <p:nvSpPr>
          <p:cNvPr id="11" name="Text 9"/>
          <p:cNvSpPr txBox="1"/>
          <p:nvPr/>
        </p:nvSpPr>
        <p:spPr>
          <a:xfrm>
            <a:off x="74980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APIキーを利用者に持たせる理由は？</a:t>
            </a:r>
            <a:endParaRPr lang="en-US" sz="1250" dirty="0"/>
          </a:p>
        </p:txBody>
      </p:sp>
      <p:sp>
        <p:nvSpPr>
          <p:cNvPr id="12" name="Text 10"/>
          <p:cNvSpPr txBox="1"/>
          <p:nvPr/>
        </p:nvSpPr>
        <p:spPr>
          <a:xfrm>
            <a:off x="74980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コストと画像データの取り扱いを利用者の管理下に置くため。キー未設定でもOSMタグ推定で動く（AIなしでも使える）。</a:t>
            </a:r>
            <a:endParaRPr lang="en-US" sz="1050" dirty="0"/>
          </a:p>
        </p:txBody>
      </p:sp>
      <p:sp>
        <p:nvSpPr>
          <p:cNvPr id="13" name="Shape 11"/>
          <p:cNvSpPr/>
          <p:nvPr/>
        </p:nvSpPr>
        <p:spPr>
          <a:xfrm>
            <a:off x="6172200" y="3090672"/>
            <a:ext cx="5468112" cy="1481328"/>
          </a:xfrm>
          <a:prstGeom prst="roundRect">
            <a:avLst>
              <a:gd name="adj" fmla="val 7407"/>
            </a:avLst>
          </a:prstGeom>
          <a:solidFill>
            <a:srgbClr val="FBF8F3"/>
          </a:solidFill>
          <a:ln w="12700">
            <a:solidFill>
              <a:srgbClr val="EAE3D8"/>
            </a:solidFill>
            <a:prstDash val="solid"/>
          </a:ln>
        </p:spPr>
      </p:sp>
      <p:sp>
        <p:nvSpPr>
          <p:cNvPr id="14" name="Text 12"/>
          <p:cNvSpPr txBox="1"/>
          <p:nvPr/>
        </p:nvSpPr>
        <p:spPr>
          <a:xfrm>
            <a:off x="637336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なぜ全量AI実装？品質は？</a:t>
            </a:r>
            <a:endParaRPr lang="en-US" sz="1250" dirty="0"/>
          </a:p>
        </p:txBody>
      </p:sp>
      <p:sp>
        <p:nvSpPr>
          <p:cNvPr id="15" name="Text 13"/>
          <p:cNvSpPr txBox="1"/>
          <p:nvPr/>
        </p:nvSpPr>
        <p:spPr>
          <a:xfrm>
            <a:off x="637336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人は判断に専念し、判断の回数を最大化するため。品質は自動テスト（Playwright）＋毎回の実機検証＋差し戻しで担保。CLAUDE.mdで規約を固定。</a:t>
            </a:r>
            <a:endParaRPr lang="en-US" sz="1050" dirty="0"/>
          </a:p>
        </p:txBody>
      </p:sp>
      <p:sp>
        <p:nvSpPr>
          <p:cNvPr id="16" name="Shape 14"/>
          <p:cNvSpPr/>
          <p:nvPr/>
        </p:nvSpPr>
        <p:spPr>
          <a:xfrm>
            <a:off x="548640" y="4718304"/>
            <a:ext cx="5468112" cy="1481328"/>
          </a:xfrm>
          <a:prstGeom prst="roundRect">
            <a:avLst>
              <a:gd name="adj" fmla="val 7407"/>
            </a:avLst>
          </a:prstGeom>
          <a:solidFill>
            <a:srgbClr val="FBF8F3"/>
          </a:solidFill>
          <a:ln w="12700">
            <a:solidFill>
              <a:srgbClr val="EAE3D8"/>
            </a:solidFill>
            <a:prstDash val="solid"/>
          </a:ln>
        </p:spPr>
      </p:sp>
      <p:sp>
        <p:nvSpPr>
          <p:cNvPr id="17" name="Text 15"/>
          <p:cNvSpPr txBox="1"/>
          <p:nvPr/>
        </p:nvSpPr>
        <p:spPr>
          <a:xfrm>
            <a:off x="74980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250" dirty="0"/>
          </a:p>
        </p:txBody>
      </p:sp>
      <p:sp>
        <p:nvSpPr>
          <p:cNvPr id="18" name="Text 16"/>
          <p:cNvSpPr txBox="1"/>
          <p:nvPr/>
        </p:nvSpPr>
        <p:spPr>
          <a:xfrm>
            <a:off x="74980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1050" dirty="0"/>
          </a:p>
        </p:txBody>
      </p:sp>
      <p:sp>
        <p:nvSpPr>
          <p:cNvPr id="19" name="Shape 17"/>
          <p:cNvSpPr/>
          <p:nvPr/>
        </p:nvSpPr>
        <p:spPr>
          <a:xfrm>
            <a:off x="6172200" y="4718304"/>
            <a:ext cx="5468112" cy="1481328"/>
          </a:xfrm>
          <a:prstGeom prst="roundRect">
            <a:avLst>
              <a:gd name="adj" fmla="val 7407"/>
            </a:avLst>
          </a:prstGeom>
          <a:solidFill>
            <a:srgbClr val="FBF8F3"/>
          </a:solidFill>
          <a:ln w="12700">
            <a:solidFill>
              <a:srgbClr val="EAE3D8"/>
            </a:solidFill>
            <a:prstDash val="solid"/>
          </a:ln>
        </p:spPr>
      </p:sp>
      <p:sp>
        <p:nvSpPr>
          <p:cNvPr id="20" name="Text 18"/>
          <p:cNvSpPr txBox="1"/>
          <p:nvPr/>
        </p:nvSpPr>
        <p:spPr>
          <a:xfrm>
            <a:off x="637336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プライバシーは？</a:t>
            </a:r>
            <a:endParaRPr lang="en-US" sz="1250" dirty="0"/>
          </a:p>
        </p:txBody>
      </p:sp>
      <p:sp>
        <p:nvSpPr>
          <p:cNvPr id="21" name="Text 19"/>
          <p:cNvSpPr txBox="1"/>
          <p:nvPr/>
        </p:nvSpPr>
        <p:spPr>
          <a:xfrm>
            <a:off x="637336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記録・写真は本人のアカウント領域のみ（Firebaseルール）。公開は本人が公開した投稿のみ。他人の投稿には日付を出さない（v293で全画面統一）。</a:t>
            </a:r>
            <a:endParaRPr lang="en-US" sz="105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3"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2026-09-14T07:34:14Z</dcterms:created>
  <dcterms:modified xsi:type="dcterms:W3CDTF">2026-09-14T07:34:14Z</dcterms:modified>
</cp:coreProperties>
</file>