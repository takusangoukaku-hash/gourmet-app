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【1:15】実機・実データの録画（74秒・表示は★3以上の記録のみ・BGM小音量入り）。①ホーム：味覚一致83%のバッジと「あなた向け／全体」評価 ②アルバム：自分の食日記としての写真グリッド→お店の記録 ③地図：訪問順にピンが1本ずつ増えていく → 渋谷へズーム → ピンをタップして店舗シート ④検索：ジャンル別の写真一覧 ⑤ふりかえり：統計。再生できない場合は本番URLをブラウザで開いて実演。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【0:50】AIの使い方を1枚で。①開発はClaude Codeにコードを全量書かせ、人は要望・検証・採否に専念。このループを295回。アプリ内では写真のジャンル判定にClaude APIを使い、迷ったら人が選ぶ。②プロンプトは3層：ルールはCLAUDE.mdに、要望は現象で、判定は制約で。③人の判断の代表例：2列UIの差し戻し、SVGアイコン不採用、信頼度ルール、スクロール修正の差し戻し。原則は、AIの出力は提案、採否は実機で決める。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【0:25】数字で。295バージョン、実運用で208店舗、70以上のジャンル、1回の記録は1分。本番公開済みで、制作者が毎日使っています。個人情報は本人の領域にのみ保存。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【0:30】オリジナリティは、平均ではなく個人の味覚をデータ化する切り口と、記録のハードルをAIで極限まで下げた設計。今後はフォロー外へのおすすめ拡大と、次に行く店のAI提案。課題は正直に：Google Places API やクラウドは使うほど課金されるため、多人数への一般公開はコストの壁がある。今は利用者自身のキーと無料のOpenStreetMap検索で運用。加えて共通店数の確保とAI判定の根拠可視化。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【0:20】まとめ3点。平均ではなく個人の味覚。AIは実装と判定、判断は人。295回のループで毎日使えるアプリに。ご清聴ありがとうございました。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Codeにコードを全量書かせ、人は要望・検証・採否に専念。このループを295回。アプリ内では写真のジャンル判定にClaude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実際に使っている画面と実データ（74秒）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動画は本人アカウントの実データ（表示は★3以上の記録のみ）。予備: https://takusangoukaku-hash.github.io/gourmet-app/</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365760" cy="365760"/>
          </a:xfrm>
          <a:prstGeom prst="ellipse">
            <a:avLst/>
          </a:prstGeom>
          <a:solidFill>
            <a:srgbClr val="C6613F"/>
          </a:solidFill>
          <a:ln w="12700">
            <a:solidFill>
              <a:srgbClr val="C6613F"/>
            </a:solidFill>
            <a:prstDash val="solid"/>
          </a:ln>
        </p:spPr>
      </p:sp>
      <p:sp>
        <p:nvSpPr>
          <p:cNvPr id="6" name="Text 4"/>
          <p:cNvSpPr txBox="1"/>
          <p:nvPr/>
        </p:nvSpPr>
        <p:spPr>
          <a:xfrm>
            <a:off x="749808"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7" name="Text 5"/>
          <p:cNvSpPr txBox="1"/>
          <p:nvPr/>
        </p:nvSpPr>
        <p:spPr>
          <a:xfrm>
            <a:off x="1207008"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8" name="Shape 6"/>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17136" y="1691640"/>
            <a:ext cx="365760" cy="365760"/>
          </a:xfrm>
          <a:prstGeom prst="ellipse">
            <a:avLst/>
          </a:prstGeom>
          <a:solidFill>
            <a:srgbClr val="C6613F"/>
          </a:solidFill>
          <a:ln w="12700">
            <a:solidFill>
              <a:srgbClr val="C6613F"/>
            </a:solidFill>
            <a:prstDash val="solid"/>
          </a:ln>
        </p:spPr>
      </p:sp>
      <p:sp>
        <p:nvSpPr>
          <p:cNvPr id="10" name="Text 8"/>
          <p:cNvSpPr txBox="1"/>
          <p:nvPr/>
        </p:nvSpPr>
        <p:spPr>
          <a:xfrm>
            <a:off x="4517136"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11" name="Text 9"/>
          <p:cNvSpPr txBox="1"/>
          <p:nvPr/>
        </p:nvSpPr>
        <p:spPr>
          <a:xfrm>
            <a:off x="4974336"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12" name="Shape 10"/>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284464" y="1691640"/>
            <a:ext cx="365760" cy="365760"/>
          </a:xfrm>
          <a:prstGeom prst="ellipse">
            <a:avLst/>
          </a:prstGeom>
          <a:solidFill>
            <a:srgbClr val="C6613F"/>
          </a:solidFill>
          <a:ln w="12700">
            <a:solidFill>
              <a:srgbClr val="C6613F"/>
            </a:solidFill>
            <a:prstDash val="solid"/>
          </a:ln>
        </p:spPr>
      </p:sp>
      <p:sp>
        <p:nvSpPr>
          <p:cNvPr id="14" name="Text 12"/>
          <p:cNvSpPr txBox="1"/>
          <p:nvPr/>
        </p:nvSpPr>
        <p:spPr>
          <a:xfrm>
            <a:off x="8284464"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15" name="Text 13"/>
          <p:cNvSpPr txBox="1"/>
          <p:nvPr/>
        </p:nvSpPr>
        <p:spPr>
          <a:xfrm>
            <a:off x="8741664"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16" name="Shape 14"/>
          <p:cNvSpPr/>
          <p:nvPr/>
        </p:nvSpPr>
        <p:spPr>
          <a:xfrm>
            <a:off x="749808" y="2240280"/>
            <a:ext cx="3154680" cy="457200"/>
          </a:xfrm>
          <a:prstGeom prst="roundRect">
            <a:avLst>
              <a:gd name="adj" fmla="val 20000"/>
            </a:avLst>
          </a:prstGeom>
          <a:solidFill>
            <a:srgbClr val="FBEFE9"/>
          </a:solidFill>
          <a:ln w="12700">
            <a:solidFill>
              <a:srgbClr val="FBEFE9"/>
            </a:solidFill>
            <a:prstDash val="solid"/>
          </a:ln>
        </p:spPr>
      </p:sp>
      <p:sp>
        <p:nvSpPr>
          <p:cNvPr id="17" name="Text 15"/>
          <p:cNvSpPr txBox="1"/>
          <p:nvPr/>
        </p:nvSpPr>
        <p:spPr>
          <a:xfrm>
            <a:off x="822960" y="2240280"/>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18" name="Text 16"/>
          <p:cNvSpPr txBox="1"/>
          <p:nvPr/>
        </p:nvSpPr>
        <p:spPr>
          <a:xfrm>
            <a:off x="1261872" y="2240280"/>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要望を日本語・画像で伝える</a:t>
            </a:r>
            <a:endParaRPr lang="en-US" sz="1050" dirty="0"/>
          </a:p>
        </p:txBody>
      </p:sp>
      <p:sp>
        <p:nvSpPr>
          <p:cNvPr id="19" name="Text 17"/>
          <p:cNvSpPr txBox="1"/>
          <p:nvPr/>
        </p:nvSpPr>
        <p:spPr>
          <a:xfrm>
            <a:off x="2240280" y="2660904"/>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0" name="Shape 18"/>
          <p:cNvSpPr/>
          <p:nvPr/>
        </p:nvSpPr>
        <p:spPr>
          <a:xfrm>
            <a:off x="749808" y="2807208"/>
            <a:ext cx="3154680" cy="457200"/>
          </a:xfrm>
          <a:prstGeom prst="roundRect">
            <a:avLst>
              <a:gd name="adj" fmla="val 20000"/>
            </a:avLst>
          </a:prstGeom>
          <a:solidFill>
            <a:srgbClr val="EEF3FB"/>
          </a:solidFill>
          <a:ln w="12700">
            <a:solidFill>
              <a:srgbClr val="EEF3FB"/>
            </a:solidFill>
            <a:prstDash val="solid"/>
          </a:ln>
        </p:spPr>
      </p:sp>
      <p:sp>
        <p:nvSpPr>
          <p:cNvPr id="21" name="Text 19"/>
          <p:cNvSpPr txBox="1"/>
          <p:nvPr/>
        </p:nvSpPr>
        <p:spPr>
          <a:xfrm>
            <a:off x="822960" y="2807208"/>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2" name="Text 20"/>
          <p:cNvSpPr txBox="1"/>
          <p:nvPr/>
        </p:nvSpPr>
        <p:spPr>
          <a:xfrm>
            <a:off x="1261872" y="2807208"/>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実装＋自動テスト（Playwright）</a:t>
            </a:r>
            <a:endParaRPr lang="en-US" sz="1050" dirty="0"/>
          </a:p>
        </p:txBody>
      </p:sp>
      <p:sp>
        <p:nvSpPr>
          <p:cNvPr id="23" name="Text 21"/>
          <p:cNvSpPr txBox="1"/>
          <p:nvPr/>
        </p:nvSpPr>
        <p:spPr>
          <a:xfrm>
            <a:off x="2240280" y="3227832"/>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4" name="Shape 22"/>
          <p:cNvSpPr/>
          <p:nvPr/>
        </p:nvSpPr>
        <p:spPr>
          <a:xfrm>
            <a:off x="749808" y="3374136"/>
            <a:ext cx="3154680" cy="457200"/>
          </a:xfrm>
          <a:prstGeom prst="roundRect">
            <a:avLst>
              <a:gd name="adj" fmla="val 20000"/>
            </a:avLst>
          </a:prstGeom>
          <a:solidFill>
            <a:srgbClr val="EEF3FB"/>
          </a:solidFill>
          <a:ln w="12700">
            <a:solidFill>
              <a:srgbClr val="EEF3FB"/>
            </a:solidFill>
            <a:prstDash val="solid"/>
          </a:ln>
        </p:spPr>
      </p:sp>
      <p:sp>
        <p:nvSpPr>
          <p:cNvPr id="25" name="Text 23"/>
          <p:cNvSpPr txBox="1"/>
          <p:nvPr/>
        </p:nvSpPr>
        <p:spPr>
          <a:xfrm>
            <a:off x="822960" y="3374136"/>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6" name="Text 24"/>
          <p:cNvSpPr txBox="1"/>
          <p:nvPr/>
        </p:nvSpPr>
        <p:spPr>
          <a:xfrm>
            <a:off x="1261872" y="3374136"/>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コミット＆本番デプロイ</a:t>
            </a:r>
            <a:endParaRPr lang="en-US" sz="1050" dirty="0"/>
          </a:p>
        </p:txBody>
      </p:sp>
      <p:sp>
        <p:nvSpPr>
          <p:cNvPr id="27" name="Text 25"/>
          <p:cNvSpPr txBox="1"/>
          <p:nvPr/>
        </p:nvSpPr>
        <p:spPr>
          <a:xfrm>
            <a:off x="2240280" y="3794760"/>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8" name="Shape 26"/>
          <p:cNvSpPr/>
          <p:nvPr/>
        </p:nvSpPr>
        <p:spPr>
          <a:xfrm>
            <a:off x="749808" y="3941064"/>
            <a:ext cx="3154680" cy="457200"/>
          </a:xfrm>
          <a:prstGeom prst="roundRect">
            <a:avLst>
              <a:gd name="adj" fmla="val 20000"/>
            </a:avLst>
          </a:prstGeom>
          <a:solidFill>
            <a:srgbClr val="FBEFE9"/>
          </a:solidFill>
          <a:ln w="12700">
            <a:solidFill>
              <a:srgbClr val="FBEFE9"/>
            </a:solidFill>
            <a:prstDash val="solid"/>
          </a:ln>
        </p:spPr>
      </p:sp>
      <p:sp>
        <p:nvSpPr>
          <p:cNvPr id="29" name="Text 27"/>
          <p:cNvSpPr txBox="1"/>
          <p:nvPr/>
        </p:nvSpPr>
        <p:spPr>
          <a:xfrm>
            <a:off x="822960" y="3941064"/>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30" name="Text 28"/>
          <p:cNvSpPr txBox="1"/>
          <p:nvPr/>
        </p:nvSpPr>
        <p:spPr>
          <a:xfrm>
            <a:off x="1261872" y="3941064"/>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実機で検証 → 採用／差し戻し</a:t>
            </a:r>
            <a:endParaRPr lang="en-US" sz="1050" dirty="0"/>
          </a:p>
        </p:txBody>
      </p:sp>
      <p:sp>
        <p:nvSpPr>
          <p:cNvPr id="31" name="Text 29"/>
          <p:cNvSpPr txBox="1"/>
          <p:nvPr/>
        </p:nvSpPr>
        <p:spPr>
          <a:xfrm>
            <a:off x="749808" y="4572000"/>
            <a:ext cx="3154680" cy="68580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開発：</a:t>
            </a:r>
            <a:pPr algn="l" indent="0" marL="0">
              <a:buNone/>
            </a:pPr>
            <a:r>
              <a:rPr lang="en-US" sz="1050" dirty="0">
                <a:solidFill>
                  <a:srgbClr val="1F1E1D"/>
                </a:solidFill>
                <a:latin typeface="Yu Gothic" pitchFamily="34" charset="0"/>
                <a:ea typeface="Yu Gothic" pitchFamily="34" charset="-122"/>
                <a:cs typeface="Yu Gothic" pitchFamily="34" charset="-120"/>
              </a:rPr>
              <a:t>コードは全量AI実装（Claude Code）。人は要望・検証・採否に専念。このループを </a:t>
            </a:r>
            <a:pPr algn="l" indent="0" marL="0">
              <a:buNone/>
            </a:pPr>
            <a:r>
              <a:rPr lang="en-US" sz="1050" b="1" dirty="0">
                <a:solidFill>
                  <a:srgbClr val="C6613F"/>
                </a:solidFill>
                <a:latin typeface="Yu Gothic" pitchFamily="34" charset="0"/>
                <a:ea typeface="Yu Gothic" pitchFamily="34" charset="-122"/>
                <a:cs typeface="Yu Gothic" pitchFamily="34" charset="-120"/>
              </a:rPr>
              <a:t>295回転</a:t>
            </a:r>
            <a:pPr algn="l" indent="0" marL="0">
              <a:buNone/>
            </a:pPr>
            <a:r>
              <a:rPr lang="en-US" sz="1050" dirty="0">
                <a:solidFill>
                  <a:srgbClr val="1F1E1D"/>
                </a:solidFill>
                <a:latin typeface="Yu Gothic" pitchFamily="34" charset="0"/>
                <a:ea typeface="Yu Gothic" pitchFamily="34" charset="-122"/>
                <a:cs typeface="Yu Gothic" pitchFamily="34" charset="-120"/>
              </a:rPr>
              <a:t>。</a:t>
            </a:r>
            <a:endParaRPr lang="en-US" sz="1050" dirty="0"/>
          </a:p>
        </p:txBody>
      </p:sp>
      <p:sp>
        <p:nvSpPr>
          <p:cNvPr id="32" name="Text 30"/>
          <p:cNvSpPr txBox="1"/>
          <p:nvPr/>
        </p:nvSpPr>
        <p:spPr>
          <a:xfrm>
            <a:off x="749808" y="5257800"/>
            <a:ext cx="3154680" cy="96012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アプリ内：</a:t>
            </a:r>
            <a:pPr algn="l" indent="0" marL="0">
              <a:buNone/>
            </a:pPr>
            <a:r>
              <a:rPr lang="en-US" sz="1050" dirty="0">
                <a:solidFill>
                  <a:srgbClr val="1F1E1D"/>
                </a:solidFill>
                <a:latin typeface="Yu Gothic" pitchFamily="34" charset="0"/>
                <a:ea typeface="Yu Gothic" pitchFamily="34" charset="-122"/>
                <a:cs typeface="Yu Gothic" pitchFamily="34" charset="-120"/>
              </a:rPr>
              <a:t>料理写真を Claude API（画像入力）で70+ジャンルに自動判定。迷ったら空欄にして人が選ぶ。キー未設定でも地図タグ推定で動く。</a:t>
            </a:r>
            <a:endParaRPr lang="en-US" sz="1050" dirty="0"/>
          </a:p>
        </p:txBody>
      </p:sp>
      <p:sp>
        <p:nvSpPr>
          <p:cNvPr id="33" name="Text 31"/>
          <p:cNvSpPr txBox="1"/>
          <p:nvPr/>
        </p:nvSpPr>
        <p:spPr>
          <a:xfrm>
            <a:off x="4517136" y="224028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にルールを明文化</a:t>
            </a:r>
            <a:endParaRPr lang="en-US" sz="1150" dirty="0"/>
          </a:p>
        </p:txBody>
      </p:sp>
      <p:sp>
        <p:nvSpPr>
          <p:cNvPr id="34" name="Text 32"/>
          <p:cNvSpPr txBox="1"/>
          <p:nvPr/>
        </p:nvSpPr>
        <p:spPr>
          <a:xfrm>
            <a:off x="4517136" y="255117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「変更のたびに4箇所のバージョンを揃える」「星は共通SVG部品」「他人の投稿に日付を出さない」など、毎回守る決め事を文書化して全会話で共有</a:t>
            </a:r>
            <a:endParaRPr lang="en-US" sz="1000" dirty="0"/>
          </a:p>
        </p:txBody>
      </p:sp>
      <p:sp>
        <p:nvSpPr>
          <p:cNvPr id="35" name="Text 33"/>
          <p:cNvSpPr txBox="1"/>
          <p:nvPr/>
        </p:nvSpPr>
        <p:spPr>
          <a:xfrm>
            <a:off x="4517136" y="356616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要望は「現象」で伝える</a:t>
            </a:r>
            <a:endParaRPr lang="en-US" sz="1150" dirty="0"/>
          </a:p>
        </p:txBody>
      </p:sp>
      <p:sp>
        <p:nvSpPr>
          <p:cNvPr id="36" name="Text 34"/>
          <p:cNvSpPr txBox="1"/>
          <p:nvPr/>
        </p:nvSpPr>
        <p:spPr>
          <a:xfrm>
            <a:off x="4517136" y="387705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例：「写真一覧をタップすると少し前の投稿が出るので直して」。原因の特定はAIに任せ、人はコードを読まない。デザインは文章より画像で渡す</a:t>
            </a:r>
            <a:endParaRPr lang="en-US" sz="1000" dirty="0"/>
          </a:p>
        </p:txBody>
      </p:sp>
      <p:sp>
        <p:nvSpPr>
          <p:cNvPr id="37" name="Text 35"/>
          <p:cNvSpPr txBox="1"/>
          <p:nvPr/>
        </p:nvSpPr>
        <p:spPr>
          <a:xfrm>
            <a:off x="4517136" y="489204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アプリ内の分類器は「制約」で縛る</a:t>
            </a:r>
            <a:endParaRPr lang="en-US" sz="1150" dirty="0"/>
          </a:p>
        </p:txBody>
      </p:sp>
      <p:sp>
        <p:nvSpPr>
          <p:cNvPr id="38" name="Text 36"/>
          <p:cNvSpPr txBox="1"/>
          <p:nvPr/>
        </p:nvSpPr>
        <p:spPr>
          <a:xfrm>
            <a:off x="4517136" y="520293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ジャンルは enum で一覧に固定（幻覚を出さない）／自信がなければ confident=false で空欄／JSON Schema で構造化出力</a:t>
            </a:r>
            <a:endParaRPr lang="en-US" sz="1000" dirty="0"/>
          </a:p>
        </p:txBody>
      </p:sp>
      <p:sp>
        <p:nvSpPr>
          <p:cNvPr id="39" name="Text 37"/>
          <p:cNvSpPr txBox="1"/>
          <p:nvPr/>
        </p:nvSpPr>
        <p:spPr>
          <a:xfrm>
            <a:off x="8284464" y="2240280"/>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写真一覧の2列化</a:t>
            </a:r>
            <a:endParaRPr lang="en-US" sz="1100" dirty="0"/>
          </a:p>
        </p:txBody>
      </p:sp>
      <p:sp>
        <p:nvSpPr>
          <p:cNvPr id="40" name="Text 38"/>
          <p:cNvSpPr txBox="1"/>
          <p:nvPr/>
        </p:nvSpPr>
        <p:spPr>
          <a:xfrm>
            <a:off x="8284464" y="2496312"/>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AIが提案・実装（v278〜280）</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実機で「一覧性が落ちた」→3版分を差し戻し</a:t>
            </a:r>
            <a:endParaRPr lang="en-US" sz="950" dirty="0"/>
          </a:p>
        </p:txBody>
      </p:sp>
      <p:sp>
        <p:nvSpPr>
          <p:cNvPr id="41" name="Text 39"/>
          <p:cNvSpPr txBox="1"/>
          <p:nvPr/>
        </p:nvSpPr>
        <p:spPr>
          <a:xfrm>
            <a:off x="8284464" y="3172968"/>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p>
        </p:txBody>
      </p:sp>
      <p:sp>
        <p:nvSpPr>
          <p:cNvPr id="42" name="Text 40"/>
          <p:cNvSpPr txBox="1"/>
          <p:nvPr/>
        </p:nvSpPr>
        <p:spPr>
          <a:xfrm>
            <a:off x="8284464" y="3429000"/>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AIがSVGで71種を自作</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絵柄が不統一で不採用→手持ちイラストから切り出し</a:t>
            </a:r>
            <a:endParaRPr lang="en-US" sz="950" dirty="0"/>
          </a:p>
        </p:txBody>
      </p:sp>
      <p:sp>
        <p:nvSpPr>
          <p:cNvPr id="43" name="Text 41"/>
          <p:cNvSpPr txBox="1"/>
          <p:nvPr/>
        </p:nvSpPr>
        <p:spPr>
          <a:xfrm>
            <a:off x="8284464" y="4105656"/>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味覚一致率の表示</a:t>
            </a:r>
            <a:endParaRPr lang="en-US" sz="1100" dirty="0"/>
          </a:p>
        </p:txBody>
      </p:sp>
      <p:sp>
        <p:nvSpPr>
          <p:cNvPr id="44" name="Text 42"/>
          <p:cNvSpPr txBox="1"/>
          <p:nvPr/>
        </p:nvSpPr>
        <p:spPr>
          <a:xfrm>
            <a:off x="8284464" y="4361688"/>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共通2〜3店でも計算</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偶然の一致を防ぐ「5件未満は非表示」を人が定義</a:t>
            </a:r>
            <a:endParaRPr lang="en-US" sz="950" dirty="0"/>
          </a:p>
        </p:txBody>
      </p:sp>
      <p:sp>
        <p:nvSpPr>
          <p:cNvPr id="45" name="Text 43"/>
          <p:cNvSpPr txBox="1"/>
          <p:nvPr/>
        </p:nvSpPr>
        <p:spPr>
          <a:xfrm>
            <a:off x="8284464" y="5038344"/>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スクロールの修正</a:t>
            </a:r>
            <a:endParaRPr lang="en-US" sz="1100" dirty="0"/>
          </a:p>
        </p:txBody>
      </p:sp>
      <p:sp>
        <p:nvSpPr>
          <p:cNvPr id="46" name="Text 44"/>
          <p:cNvSpPr txBox="1"/>
          <p:nvPr/>
        </p:nvSpPr>
        <p:spPr>
          <a:xfrm>
            <a:off x="8284464" y="5294376"/>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1回目の修正で「直った」と報告</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「まだ滑らかでない」と差し戻し→計測で原因特定させ方式変更</a:t>
            </a:r>
            <a:endParaRPr lang="en-US" sz="950" dirty="0"/>
          </a:p>
        </p:txBody>
      </p:sp>
      <p:sp>
        <p:nvSpPr>
          <p:cNvPr id="47" name="Text 45"/>
          <p:cNvSpPr txBox="1"/>
          <p:nvPr/>
        </p:nvSpPr>
        <p:spPr>
          <a:xfrm>
            <a:off x="8284464" y="5943600"/>
            <a:ext cx="3154680" cy="292608"/>
          </a:xfrm>
          <a:prstGeom prst="rect">
            <a:avLst/>
          </a:prstGeom>
          <a:noFill/>
          <a:ln/>
        </p:spPr>
        <p:txBody>
          <a:bodyPr wrap="square" lIns="0" tIns="0" rIns="0" bIns="0" rtlCol="0" anchor="ctr"/>
          <a:lstStyle/>
          <a:p>
            <a:pPr indent="0" marL="0">
              <a:buNone/>
            </a:pPr>
            <a:r>
              <a:rPr lang="en-US" sz="10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00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9" name="Text 4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v295）― 実利用で見つけた5点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596128"/>
            <a:ext cx="10698480" cy="685800"/>
          </a:xfrm>
          <a:prstGeom prst="rect">
            <a:avLst/>
          </a:prstGeom>
          <a:noFill/>
          <a:ln/>
        </p:spPr>
        <p:txBody>
          <a:bodyPr wrap="square" lIns="0" tIns="0" rIns="0" bIns="0" rtlCol="0" anchor="ctr"/>
          <a:lstStyle/>
          <a:p>
            <a:pPr algn="l" indent="0" marL="0">
              <a:buNone/>
            </a:pPr>
            <a:r>
              <a:rPr lang="en-US" sz="1150" b="1" dirty="0">
                <a:solidFill>
                  <a:srgbClr val="C6613F"/>
                </a:solidFill>
                <a:latin typeface="Yu Gothic" pitchFamily="34" charset="0"/>
                <a:ea typeface="Yu Gothic" pitchFamily="34" charset="-122"/>
                <a:cs typeface="Yu Gothic" pitchFamily="34" charset="-120"/>
              </a:rPr>
              <a:t>v294-295 写真込みバックアップ：</a:t>
            </a:r>
            <a:pPr algn="l" indent="0" marL="0">
              <a:buNone/>
            </a:pPr>
            <a:r>
              <a:rPr lang="en-US" sz="1150" dirty="0">
                <a:solidFill>
                  <a:srgbClr val="1F1E1D"/>
                </a:solidFill>
                <a:latin typeface="Yu Gothic" pitchFamily="34" charset="0"/>
                <a:ea typeface="Yu Gothic" pitchFamily="34" charset="-122"/>
                <a:cs typeface="Yu Gothic" pitchFamily="34" charset="-120"/>
              </a:rPr>
              <a:t>クラウド保存の写真も端末で取得して同梱し、別端末で写真ごと復元できるように（このデモ動画の実データ再現にも使用）。</a:t>
            </a:r>
            <a:pPr algn="l" indent="0" marL="0">
              <a:buNone/>
            </a:pPr>
            <a:r>
              <a:rPr lang="en-US" sz="1150" b="1" dirty="0">
                <a:solidFill>
                  <a:srgbClr val="C6613F"/>
                </a:solidFill>
                <a:latin typeface="Yu Gothic" pitchFamily="34" charset="0"/>
                <a:ea typeface="Yu Gothic" pitchFamily="34" charset="-122"/>
                <a:cs typeface="Yu Gothic" pitchFamily="34" charset="-120"/>
              </a:rPr>
              <a:t>　進め方は予選と同じループ：</a:t>
            </a:r>
            <a:pPr algn="l" indent="0" marL="0">
              <a:buNone/>
            </a:pPr>
            <a:r>
              <a:rPr lang="en-US" sz="1150" dirty="0">
                <a:solidFill>
                  <a:srgbClr val="1F1E1D"/>
                </a:solidFill>
                <a:latin typeface="Yu Gothic" pitchFamily="34" charset="0"/>
                <a:ea typeface="Yu Gothic" pitchFamily="34" charset="-122"/>
                <a:cs typeface="Yu Gothic" pitchFamily="34" charset="-120"/>
              </a:rPr>
              <a:t>日常利用で気づく → 現象を伝える → AIが修正・自動テスト → 実機で検証。</a:t>
            </a:r>
            <a:endParaRPr lang="en-US" sz="11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295</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208</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本番公開済み（PWA・URLを開くだけ・インストール不要）。制作者自身が毎日の外食の記録（食日記）として利用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138160" y="6309360"/>
            <a:ext cx="402336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統計画面（実データ）：208店舗・251訪問・242枚</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295バージョンのAI協働開発プロセスの記録そのものも成果物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店舗検索の Google Places API とクラウドは利用量に応じて課金。多人数への一般公開はコスト面の壁があり、当面は利用者自身のキー＋無料の OpenStreetMap 検索で運用</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295回のループの記録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実利用での改善5件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AIは実装と判定、判断は人。295回のループで完成</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一般公開の予定は？費用は？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295回転</a:t>
            </a:r>
            <a:pPr algn="l" indent="0" marL="0">
              <a:buNone/>
            </a:pPr>
            <a:r>
              <a:rPr lang="en-US" sz="1200" dirty="0">
                <a:solidFill>
                  <a:srgbClr val="1F1E1D"/>
                </a:solidFill>
                <a:latin typeface="Yu Gothic" pitchFamily="34" charset="0"/>
                <a:ea typeface="Yu Gothic" pitchFamily="34" charset="-122"/>
                <a:cs typeface="Yu Gothic" pitchFamily="34" charset="-120"/>
              </a:rPr>
              <a:t>（v1〜v295）。仕様書・デザイン案は画像のまま渡し、守るべき決め事は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参考：一般向け紹介動画（アニメ＋実演・約1分）</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2026-09-19T10:01:59Z</dcterms:created>
  <dcterms:modified xsi:type="dcterms:W3CDTF">2026-09-19T10:01:59Z</dcterms:modified>
</cp:coreProperties>
</file>