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【0:20】挨拶＋一言。「レビューサイトの★3.5は、みんなの平均。BITEMAPは、あなたの味覚で店を選ぶアプリです」。右の画面は本番アプリのホーム。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課題は2つ。①平均点は誰の舌でもない。同じ一杯でも★5と★2の人がいて、表示されるのは★3.7。②自分の記録は続かない。入力が面倒。この2つに、記録の手間をAIで消し、たまった記録から味覚をデータ化する、という答えを出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使い方は3ステップ。①撮って選ぶだけ。場所は写真の位置情報から、ジャンルはAIが判定。人が入れるのは店名と★だけ。②地図とアルバムに自動で整理。③味覚でつながる。ここが核心なので次で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［審査観点 ④オリジナリティ ⑤成果物 に対応］【1:00】核心の味覚一致率。共通で行った店の★を突き合わせ、相関と評価差から0〜100%を出します。この79%で他の人の評価を重み付けすると、同じ店が全体では★3.6、あなた向けには★4.5になる。3つの工夫：偶然の一致を防ぐ信頼度ルールは人が定義。検証では近い人79%・真逆27%。地図・ホーム・店舗詳細すべてでこの値を使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【1:30】実機デモ（86秒・スライド全面・クリックで再生開始・BGM小音量入り）。冒頭に BITEMAP の導入カード（5秒）、末尾に締めのカード（4秒）。「ここからは実機、実データの動画です」と言ってからクリック。締めのカードが出たら次のスライドへ進んでよい。①ホーム：味覚一致83%のバッジと「あなた向け／全体」評価 ②アルバム：食日記としての写真グリッド→お店の記録 ③地図：訪問順にピンが1本ずつ増える→渋谷へズーム→ピンをタップして店舗シート ④検索：ジャンル別の写真一覧 ⑤ふりかえり：統計。再生できない場合は本番URL https://takusangoukaku-hash.github.io/gourmet-app/ をブラウザで開いて実演。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［審査観点 ①AI活用の目的と方法 ②プロンプト設計 ③人の判断・修正 に対応］【0:50】AIの使い方を1枚で。上が開発ループ。要望を伝える→AIが実装と自動テスト→デプロイ→人が実機で検証して採否。これを295回。①目的は、実装をAIに任せて人の判断の回数を最大化すること。アプリ内でも写真のジャンル判定にAIを使い、迷ったら人が選ぶ。②プロンプトは、ルールは文書に、要望は現象で、判定は制約で。③人の判断の代表例が3つ。特に3つ目、AIが直ったと言っても人が触るまで直っていない、これを次で。詳細は補足スライド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［審査観点 ③人の判断・修正、予選からの改良 に対応］【0:40】予選のあと1週間、毎日使って見つけた5点を、予選と同じループで直しました。いちばん覚えているのがこれ。スクロールが止まる不具合を、AIは1回目の修正で「直りました」と報告した。でも実機で触ると直っていない。差し戻して、計測させて、本当の原因を特定させ、方式を変えて採用。AIの報告を鵜呑みにせず、実機で判断する。この姿勢が決勝までに日常にな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［審査観点 ⑤成果物・デモ に対応］【0:25】成果。いちばん大事な数字は208店舗。デモ用のダミーではなく、私が本番アプリに毎日記録してきた実データです。記録の手間はここまで下がりました。従来は店名・住所・ジャンル・料理・日時・写真・評価の7項目。BITEMAPは写真と★と店名だけ、約1分。だから続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［審査観点 ④オリジナリティ に対応］【0:30】オリジナリティは情報の流れです。一般のサイトは、店の評価の平均があなたに届く。BITEMAPは逆で、あなたの評価から味覚が近い人を見つけ、その人の評価で、まだ行っていない店を選ぶ。評価の主語が「みんな」から「あなた」に変わる。課題は正直に。Google の検索やクラウドは使うほど課金されます。そこで無料の検索源を先に使い、Google を最後の手段にする設計に変えました。それでも1万人規模では課金モデルが要る、これは次のページで。初期の一致率は共通店が少ないと出せないので、5件未満は非表示、自分の評価を100%として使う設計で、1人でも食日記として成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［審査観点 ⑥プレゼン構成（展望）に対応］【0:30】ここまでは295回のループ。これからは、費用をかけずに増える設計です。店舗検索は、写真の位置情報と無料の地図データを一次候補にし、Yahoo!とホットペッパーを加えました。ここは実装済み。登録された店は全員の台帳にして、人が増えるほど外部への問い合わせを減らす。Googleは見つからなかったときだけ、1人1日5回まで。それ以上は自分のキーか、月300円のプレミアム。この順序なら1,000人まで運営コストは実質ゼロ、1万人でも月数万円で、プレミアム3%と予約アフィリエイトで回る計算です。人が増えるほど一人ひとりの地図が賢くなる、を費用の面でも成り立た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【0:20】まとめ3点。平均ではなく個人の味覚。AIは実装と判定、判断は人。毎日使えるアプリになりました。ご清聴ありがとうございました。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［審査観点 ⑦質疑応答 用］質疑応答の予備。発表では飛ばす（発表者ツールで参照）。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［審査観点 ①AI活用の目的と方法（詳細）］【0:45】AIは2か所。開発ではClaude Codeにコードを全量書かせ、人は要望・検証・採否に専念。アプリ内では写真のジャンル判定にClaude APIを使い、自信がなければ空欄にして人が選ぶ。AIは提案役、決定は人、が一貫した方針です。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［審査観点 ②プロンプト設計（詳細）］【0:50】プロンプト設計は3層。①CLAUDE.mdに毎回守るルールを明文化し、会話をまたいで共有。②要望は現象ベースで伝え、原因特定はAIに任せる。実物のプロンプトはこの3つ。③アプリ内の分類器はenum制約とconfidentフラグ、JSONスキーマ出力で、幻覚を出さず、迷ったら人に委ねる設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［審査観点 ③人の判断・修正（詳細）］【0:50】AIの提案をそのまま採用しなかった代表例。写真一覧の2列化は一覧性が落ちて3バージョン差し戻し。SVGアイコンは絵柄が不統一で不採用。一致率の信頼度ルールは人が定義。ジャンル判定は所有権ルール。最後は決勝までに起きた例で、1回目の修正を「まだ滑らかでない」と差し戻し、計測で原因を特定させました。共通原則は、AIの出力は提案、採否は実機で決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補足：一般向け紹介動画（71秒・スライド全面・クリックで再生）。質疑で「一般の人にどう伝えるか」と聞かれたときの参考。発表では使わない。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6-1.mp4"/><Relationship Id="rId2" Type="http://schemas.microsoft.com/office/2007/relationships/media" Target="../media/media-16-1.mp4"/><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548640"/>
            <a:ext cx="7315200" cy="365760"/>
          </a:xfrm>
          <a:prstGeom prst="rect">
            <a:avLst/>
          </a:prstGeom>
          <a:noFill/>
          <a:ln/>
        </p:spPr>
        <p:txBody>
          <a:bodyPr wrap="square" lIns="0" tIns="0" rIns="0" bIns="0" rtlCol="0" anchor="ctr"/>
          <a:lstStyle/>
          <a:p>
            <a:pPr indent="0" marL="0">
              <a:buNone/>
            </a:pPr>
            <a:r>
              <a:rPr lang="en-US" sz="1200" b="1" spc="200" kern="0" dirty="0">
                <a:solidFill>
                  <a:srgbClr val="FFE1D2"/>
                </a:solidFill>
                <a:latin typeface="Yu Gothic" pitchFamily="34" charset="0"/>
                <a:ea typeface="Yu Gothic" pitchFamily="34" charset="-122"/>
                <a:cs typeface="Yu Gothic" pitchFamily="34" charset="-120"/>
              </a:rPr>
              <a:t>2026 AI INNOVATORS CUP @ SHIBAURA ｜ 決勝 ｜ オープンテーマ部門</a:t>
            </a:r>
            <a:endParaRPr lang="en-US" sz="1200" dirty="0"/>
          </a:p>
        </p:txBody>
      </p:sp>
      <p:sp>
        <p:nvSpPr>
          <p:cNvPr id="3" name="Text 1"/>
          <p:cNvSpPr txBox="1"/>
          <p:nvPr/>
        </p:nvSpPr>
        <p:spPr>
          <a:xfrm>
            <a:off x="640080" y="1463040"/>
            <a:ext cx="7315200" cy="1371600"/>
          </a:xfrm>
          <a:prstGeom prst="rect">
            <a:avLst/>
          </a:prstGeom>
          <a:noFill/>
          <a:ln/>
        </p:spPr>
        <p:txBody>
          <a:bodyPr wrap="square" lIns="0" tIns="0" rIns="0" bIns="0" rtlCol="0" anchor="ctr"/>
          <a:lstStyle/>
          <a:p>
            <a:pPr indent="0" marL="0">
              <a:buNone/>
            </a:pPr>
            <a:r>
              <a:rPr lang="en-US" sz="8800" b="1" spc="400" kern="0" dirty="0">
                <a:solidFill>
                  <a:srgbClr val="FFFFFF"/>
                </a:solidFill>
                <a:latin typeface="Cambria" pitchFamily="34" charset="0"/>
                <a:ea typeface="Cambria" pitchFamily="34" charset="-122"/>
                <a:cs typeface="Cambria" pitchFamily="34" charset="-120"/>
              </a:rPr>
              <a:t>BITEMAP</a:t>
            </a:r>
            <a:endParaRPr lang="en-US" sz="8800" dirty="0"/>
          </a:p>
        </p:txBody>
      </p:sp>
      <p:sp>
        <p:nvSpPr>
          <p:cNvPr id="4" name="Text 2"/>
          <p:cNvSpPr txBox="1"/>
          <p:nvPr/>
        </p:nvSpPr>
        <p:spPr>
          <a:xfrm>
            <a:off x="640080" y="2971800"/>
            <a:ext cx="7315200" cy="640080"/>
          </a:xfrm>
          <a:prstGeom prst="rect">
            <a:avLst/>
          </a:prstGeom>
          <a:noFill/>
          <a:ln/>
        </p:spPr>
        <p:txBody>
          <a:bodyPr wrap="square" lIns="0" tIns="0" rIns="0" bIns="0" rtlCol="0" anchor="t"/>
          <a:lstStyle/>
          <a:p>
            <a:pPr algn="l" indent="0" marL="0">
              <a:buNone/>
            </a:pPr>
            <a:r>
              <a:rPr lang="en-US" sz="3200" dirty="0">
                <a:solidFill>
                  <a:srgbClr val="FFFFFF"/>
                </a:solidFill>
                <a:latin typeface="Yu Gothic" pitchFamily="34" charset="0"/>
                <a:ea typeface="Yu Gothic" pitchFamily="34" charset="-122"/>
                <a:cs typeface="Yu Gothic" pitchFamily="34" charset="-120"/>
              </a:rPr>
              <a:t>その</a:t>
            </a:r>
            <a:pPr algn="l" indent="0" marL="0">
              <a:buNone/>
            </a:pPr>
            <a:r>
              <a:rPr lang="en-US" sz="3200" b="1" dirty="0">
                <a:solidFill>
                  <a:srgbClr val="FFD75E"/>
                </a:solidFill>
                <a:latin typeface="Yu Gothic" pitchFamily="34" charset="0"/>
                <a:ea typeface="Yu Gothic" pitchFamily="34" charset="-122"/>
                <a:cs typeface="Yu Gothic" pitchFamily="34" charset="-120"/>
              </a:rPr>
              <a:t>★3.5</a:t>
            </a:r>
            <a:pPr algn="l" indent="0" marL="0">
              <a:buNone/>
            </a:pPr>
            <a:r>
              <a:rPr lang="en-US" sz="3200" dirty="0">
                <a:solidFill>
                  <a:srgbClr val="FFFFFF"/>
                </a:solidFill>
                <a:latin typeface="Yu Gothic" pitchFamily="34" charset="0"/>
                <a:ea typeface="Yu Gothic" pitchFamily="34" charset="-122"/>
                <a:cs typeface="Yu Gothic" pitchFamily="34" charset="-120"/>
              </a:rPr>
              <a:t>は、みんなの平均。</a:t>
            </a:r>
            <a:endParaRPr lang="en-US" sz="3200" dirty="0"/>
          </a:p>
        </p:txBody>
      </p:sp>
      <p:sp>
        <p:nvSpPr>
          <p:cNvPr id="5" name="Text 3"/>
          <p:cNvSpPr txBox="1"/>
          <p:nvPr/>
        </p:nvSpPr>
        <p:spPr>
          <a:xfrm>
            <a:off x="640080" y="3611880"/>
            <a:ext cx="7315200" cy="548640"/>
          </a:xfrm>
          <a:prstGeom prst="rect">
            <a:avLst/>
          </a:prstGeom>
          <a:noFill/>
          <a:ln/>
        </p:spPr>
        <p:txBody>
          <a:bodyPr wrap="square" lIns="0" tIns="0" rIns="0" bIns="0" rtlCol="0" anchor="ctr"/>
          <a:lstStyle/>
          <a:p>
            <a:pPr indent="0" marL="0">
              <a:buNone/>
            </a:pPr>
            <a:r>
              <a:rPr lang="en-US" sz="2400" b="1" dirty="0">
                <a:solidFill>
                  <a:srgbClr val="FFFFFF"/>
                </a:solidFill>
                <a:latin typeface="Yu Gothic" pitchFamily="34" charset="0"/>
                <a:ea typeface="Yu Gothic" pitchFamily="34" charset="-122"/>
                <a:cs typeface="Yu Gothic" pitchFamily="34" charset="-120"/>
              </a:rPr>
              <a:t>BITEMAPは「あなたの味覚」で店を選ぶ。</a:t>
            </a:r>
            <a:endParaRPr lang="en-US" sz="2400" dirty="0"/>
          </a:p>
        </p:txBody>
      </p:sp>
      <p:sp>
        <p:nvSpPr>
          <p:cNvPr id="6" name="Text 4"/>
          <p:cNvSpPr txBox="1"/>
          <p:nvPr/>
        </p:nvSpPr>
        <p:spPr>
          <a:xfrm>
            <a:off x="640080" y="4343400"/>
            <a:ext cx="7315200" cy="822960"/>
          </a:xfrm>
          <a:prstGeom prst="rect">
            <a:avLst/>
          </a:prstGeom>
          <a:noFill/>
          <a:ln/>
        </p:spPr>
        <p:txBody>
          <a:bodyPr wrap="square" lIns="0" tIns="0" rIns="0" bIns="0" rtlCol="0" anchor="ctr"/>
          <a:lstStyle/>
          <a:p>
            <a:pPr indent="0" marL="0">
              <a:buNone/>
            </a:pPr>
            <a:r>
              <a:rPr lang="en-US" sz="1400" dirty="0">
                <a:solidFill>
                  <a:srgbClr val="FFE9DF"/>
                </a:solidFill>
                <a:latin typeface="Yu Gothic" pitchFamily="34" charset="0"/>
                <a:ea typeface="Yu Gothic" pitchFamily="34" charset="-122"/>
                <a:cs typeface="Yu Gothic" pitchFamily="34" charset="-120"/>
              </a:rPr>
              <a:t>自分だけの食の記録（アルバム・地図・統計） × 味覚一致率でパーソナライズされる評価</a:t>
            </a:r>
            <a:endParaRPr lang="en-US" sz="1400" dirty="0"/>
          </a:p>
          <a:p>
            <a:pPr indent="0" marL="0">
              <a:buNone/>
            </a:pPr>
            <a:r>
              <a:rPr lang="en-US" sz="1400" dirty="0">
                <a:solidFill>
                  <a:srgbClr val="FFE9DF"/>
                </a:solidFill>
                <a:latin typeface="Yu Gothic" pitchFamily="34" charset="0"/>
                <a:ea typeface="Yu Gothic" pitchFamily="34" charset="-122"/>
                <a:cs typeface="Yu Gothic" pitchFamily="34" charset="-120"/>
              </a:rPr>
              <a:t>AIと二人三脚で開発した PWA アプリ（本番公開・実運用中）</a:t>
            </a:r>
            <a:endParaRPr lang="en-US" sz="1400" dirty="0"/>
          </a:p>
        </p:txBody>
      </p:sp>
      <p:sp>
        <p:nvSpPr>
          <p:cNvPr id="7" name="Text 5"/>
          <p:cNvSpPr txBox="1"/>
          <p:nvPr/>
        </p:nvSpPr>
        <p:spPr>
          <a:xfrm>
            <a:off x="640080" y="5257800"/>
            <a:ext cx="7315200" cy="320040"/>
          </a:xfrm>
          <a:prstGeom prst="rect">
            <a:avLst/>
          </a:prstGeom>
          <a:noFill/>
          <a:ln/>
        </p:spPr>
        <p:txBody>
          <a:bodyPr wrap="square" lIns="0" tIns="0" rIns="0" bIns="0" rtlCol="0" anchor="ctr"/>
          <a:lstStyle/>
          <a:p>
            <a:pPr indent="0" marL="0">
              <a:buNone/>
            </a:pPr>
            <a:r>
              <a:rPr lang="en-US" sz="1100" dirty="0">
                <a:solidFill>
                  <a:srgbClr val="FFE1D2"/>
                </a:solidFill>
                <a:latin typeface="Yu Gothic" pitchFamily="34" charset="0"/>
                <a:ea typeface="Yu Gothic" pitchFamily="34" charset="-122"/>
                <a:cs typeface="Yu Gothic" pitchFamily="34" charset="-120"/>
              </a:rPr>
              <a:t>実機画面はすべて本人アカウントの実データ（208店舗）</a:t>
            </a:r>
            <a:endParaRPr lang="en-US" sz="1100" dirty="0"/>
          </a:p>
        </p:txBody>
      </p:sp>
      <p:sp>
        <p:nvSpPr>
          <p:cNvPr id="8" name="Text 6"/>
          <p:cNvSpPr txBox="1"/>
          <p:nvPr/>
        </p:nvSpPr>
        <p:spPr>
          <a:xfrm>
            <a:off x="640080" y="5760720"/>
            <a:ext cx="7315200" cy="45720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［チーム名 ／ 氏名 ／ 学部学科］</a:t>
            </a:r>
            <a:endParaRPr lang="en-US" sz="1600" dirty="0"/>
          </a:p>
        </p:txBody>
      </p:sp>
      <p:sp>
        <p:nvSpPr>
          <p:cNvPr id="9" name="Shape 7"/>
          <p:cNvSpPr/>
          <p:nvPr/>
        </p:nvSpPr>
        <p:spPr>
          <a:xfrm>
            <a:off x="8860536" y="448056"/>
            <a:ext cx="2813925" cy="5961888"/>
          </a:xfrm>
          <a:prstGeom prst="roundRect">
            <a:avLst>
              <a:gd name="adj" fmla="val 7149"/>
            </a:avLst>
          </a:prstGeom>
          <a:solidFill>
            <a:srgbClr val="1F1E1D"/>
          </a:solidFill>
          <a:ln w="12700">
            <a:solidFill>
              <a:srgbClr val="1F1E1D"/>
            </a:solidFill>
            <a:prstDash val="solid"/>
          </a:ln>
          <a:effectLst>
            <a:outerShdw sx="100000" sy="100000" kx="0" ky="0" algn="bl" rotWithShape="0" blurRad="76200" dist="25400" dir="5400000">
              <a:srgbClr val="000000">
                <a:alpha val="12000"/>
              </a:srgbClr>
            </a:outerShdw>
          </a:effectLst>
        </p:spPr>
      </p:sp>
      <p:pic>
        <p:nvPicPr>
          <p:cNvPr id="10" name="Image 0" descr="/tmp/claude-0/-home-user-gourmet-app/8edbdaa3-b81a-5c49-b452-bda755b7f07f/scratchpad/real/shots/home.png">    </p:cNvPr>
          <p:cNvPicPr>
            <a:picLocks noChangeAspect="1"/>
          </p:cNvPicPr>
          <p:nvPr/>
        </p:nvPicPr>
        <p:blipFill>
          <a:blip r:embed="rId2"/>
          <a:stretch>
            <a:fillRect/>
          </a:stretch>
        </p:blipFill>
        <p:spPr>
          <a:xfrm>
            <a:off x="8915400" y="502920"/>
            <a:ext cx="2704197" cy="5852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課題</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おいしいは、人の数だけある。</a:t>
            </a:r>
            <a:endParaRPr lang="en-US" sz="3000" dirty="0"/>
          </a:p>
        </p:txBody>
      </p:sp>
      <p:sp>
        <p:nvSpPr>
          <p:cNvPr id="4" name="Shape 2"/>
          <p:cNvSpPr/>
          <p:nvPr/>
        </p:nvSpPr>
        <p:spPr>
          <a:xfrm>
            <a:off x="548640" y="1600200"/>
            <a:ext cx="5120640" cy="2011680"/>
          </a:xfrm>
          <a:prstGeom prst="roundRect">
            <a:avLst>
              <a:gd name="adj" fmla="val 5455"/>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828800"/>
            <a:ext cx="384048" cy="384048"/>
          </a:xfrm>
          <a:prstGeom prst="ellipse">
            <a:avLst/>
          </a:prstGeom>
          <a:solidFill>
            <a:srgbClr val="C6613F"/>
          </a:solidFill>
          <a:ln w="12700">
            <a:solidFill>
              <a:srgbClr val="C6613F"/>
            </a:solidFill>
            <a:prstDash val="solid"/>
          </a:ln>
        </p:spPr>
      </p:sp>
      <p:sp>
        <p:nvSpPr>
          <p:cNvPr id="6" name="Text 4"/>
          <p:cNvSpPr txBox="1"/>
          <p:nvPr/>
        </p:nvSpPr>
        <p:spPr>
          <a:xfrm>
            <a:off x="777240"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7" name="Text 5"/>
          <p:cNvSpPr txBox="1"/>
          <p:nvPr/>
        </p:nvSpPr>
        <p:spPr>
          <a:xfrm>
            <a:off x="1280160" y="1810512"/>
            <a:ext cx="4206240" cy="411480"/>
          </a:xfrm>
          <a:prstGeom prst="rect">
            <a:avLst/>
          </a:prstGeom>
          <a:noFill/>
          <a:ln/>
        </p:spPr>
        <p:txBody>
          <a:bodyPr wrap="square" lIns="0" tIns="0" rIns="0" bIns="0" rtlCol="0" anchor="ctr"/>
          <a:lstStyle/>
          <a:p>
            <a:pPr indent="0" marL="0">
              <a:buNone/>
            </a:pPr>
            <a:r>
              <a:rPr lang="en-US" sz="1700" b="1" dirty="0">
                <a:solidFill>
                  <a:srgbClr val="1F1E1D"/>
                </a:solidFill>
                <a:latin typeface="Yu Gothic" pitchFamily="34" charset="0"/>
                <a:ea typeface="Yu Gothic" pitchFamily="34" charset="-122"/>
                <a:cs typeface="Yu Gothic" pitchFamily="34" charset="-120"/>
              </a:rPr>
              <a:t>★の平均点は、あなたの舌ではない</a:t>
            </a:r>
            <a:endParaRPr lang="en-US" sz="1700" dirty="0"/>
          </a:p>
        </p:txBody>
      </p:sp>
      <p:sp>
        <p:nvSpPr>
          <p:cNvPr id="8" name="Text 6"/>
          <p:cNvSpPr txBox="1"/>
          <p:nvPr/>
        </p:nvSpPr>
        <p:spPr>
          <a:xfrm>
            <a:off x="777240" y="2286000"/>
            <a:ext cx="4663440" cy="12801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6E6960"/>
                </a:solidFill>
                <a:latin typeface="Yu Gothic" pitchFamily="34" charset="0"/>
                <a:ea typeface="Yu Gothic" pitchFamily="34" charset="-122"/>
                <a:cs typeface="Yu Gothic" pitchFamily="34" charset="-120"/>
              </a:rPr>
              <a:t>同じ一杯でも ★5 の人と ★2 の人がいる</a:t>
            </a:r>
            <a:endParaRPr lang="en-US" sz="1350" dirty="0"/>
          </a:p>
          <a:p>
            <a:pPr marL="342900" indent="-342900">
              <a:spcAft>
                <a:spcPts val="500"/>
              </a:spcAft>
              <a:buSzPct val="100000"/>
              <a:buChar char="•"/>
            </a:pPr>
            <a:r>
              <a:rPr lang="en-US" sz="1350" dirty="0">
                <a:solidFill>
                  <a:srgbClr val="6E6960"/>
                </a:solidFill>
                <a:latin typeface="Yu Gothic" pitchFamily="34" charset="0"/>
                <a:ea typeface="Yu Gothic" pitchFamily="34" charset="-122"/>
                <a:cs typeface="Yu Gothic" pitchFamily="34" charset="-120"/>
              </a:rPr>
              <a:t>レビューサイトは「他人の平均」しか教えてくれない</a:t>
            </a:r>
            <a:endParaRPr lang="en-US" sz="1350" dirty="0"/>
          </a:p>
          <a:p>
            <a:pPr marL="342900" indent="-342900">
              <a:spcAft>
                <a:spcPts val="500"/>
              </a:spcAft>
              <a:buSzPct val="100000"/>
              <a:buChar char="•"/>
            </a:pPr>
            <a:r>
              <a:rPr lang="en-US" sz="1350" dirty="0">
                <a:solidFill>
                  <a:srgbClr val="6E6960"/>
                </a:solidFill>
                <a:latin typeface="Yu Gothic" pitchFamily="34" charset="0"/>
                <a:ea typeface="Yu Gothic" pitchFamily="34" charset="-122"/>
                <a:cs typeface="Yu Gothic" pitchFamily="34" charset="-120"/>
              </a:rPr>
              <a:t>人気店に行っても、自分には刺さらないことがある</a:t>
            </a:r>
            <a:endParaRPr lang="en-US" sz="1350" dirty="0"/>
          </a:p>
        </p:txBody>
      </p:sp>
      <p:sp>
        <p:nvSpPr>
          <p:cNvPr id="9" name="Shape 7"/>
          <p:cNvSpPr/>
          <p:nvPr/>
        </p:nvSpPr>
        <p:spPr>
          <a:xfrm>
            <a:off x="548640" y="3840480"/>
            <a:ext cx="5120640" cy="2011680"/>
          </a:xfrm>
          <a:prstGeom prst="roundRect">
            <a:avLst>
              <a:gd name="adj" fmla="val 5455"/>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777240" y="4069080"/>
            <a:ext cx="384048" cy="384048"/>
          </a:xfrm>
          <a:prstGeom prst="ellipse">
            <a:avLst/>
          </a:prstGeom>
          <a:solidFill>
            <a:srgbClr val="C6613F"/>
          </a:solidFill>
          <a:ln w="12700">
            <a:solidFill>
              <a:srgbClr val="C6613F"/>
            </a:solidFill>
            <a:prstDash val="solid"/>
          </a:ln>
        </p:spPr>
      </p:sp>
      <p:sp>
        <p:nvSpPr>
          <p:cNvPr id="11" name="Text 9"/>
          <p:cNvSpPr txBox="1"/>
          <p:nvPr/>
        </p:nvSpPr>
        <p:spPr>
          <a:xfrm>
            <a:off x="777240"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2" name="Text 10"/>
          <p:cNvSpPr txBox="1"/>
          <p:nvPr/>
        </p:nvSpPr>
        <p:spPr>
          <a:xfrm>
            <a:off x="1280160" y="4050792"/>
            <a:ext cx="4206240" cy="411480"/>
          </a:xfrm>
          <a:prstGeom prst="rect">
            <a:avLst/>
          </a:prstGeom>
          <a:noFill/>
          <a:ln/>
        </p:spPr>
        <p:txBody>
          <a:bodyPr wrap="square" lIns="0" tIns="0" rIns="0" bIns="0" rtlCol="0" anchor="ctr"/>
          <a:lstStyle/>
          <a:p>
            <a:pPr indent="0" marL="0">
              <a:buNone/>
            </a:pPr>
            <a:r>
              <a:rPr lang="en-US" sz="1700" b="1" dirty="0">
                <a:solidFill>
                  <a:srgbClr val="1F1E1D"/>
                </a:solidFill>
                <a:latin typeface="Yu Gothic" pitchFamily="34" charset="0"/>
                <a:ea typeface="Yu Gothic" pitchFamily="34" charset="-122"/>
                <a:cs typeface="Yu Gothic" pitchFamily="34" charset="-120"/>
              </a:rPr>
              <a:t>自分の記録は、続かない</a:t>
            </a:r>
            <a:endParaRPr lang="en-US" sz="1700" dirty="0"/>
          </a:p>
        </p:txBody>
      </p:sp>
      <p:sp>
        <p:nvSpPr>
          <p:cNvPr id="13" name="Text 11"/>
          <p:cNvSpPr txBox="1"/>
          <p:nvPr/>
        </p:nvSpPr>
        <p:spPr>
          <a:xfrm>
            <a:off x="777240" y="4526280"/>
            <a:ext cx="4663440" cy="128016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6E6960"/>
                </a:solidFill>
                <a:latin typeface="Yu Gothic" pitchFamily="34" charset="0"/>
                <a:ea typeface="Yu Gothic" pitchFamily="34" charset="-122"/>
                <a:cs typeface="Yu Gothic" pitchFamily="34" charset="-120"/>
              </a:rPr>
              <a:t>食べた記録は写真フォルダに埋もれる</a:t>
            </a:r>
            <a:endParaRPr lang="en-US" sz="1350" dirty="0"/>
          </a:p>
          <a:p>
            <a:pPr marL="342900" indent="-342900">
              <a:spcAft>
                <a:spcPts val="500"/>
              </a:spcAft>
              <a:buSzPct val="100000"/>
              <a:buChar char="•"/>
            </a:pPr>
            <a:r>
              <a:rPr lang="en-US" sz="1350" dirty="0">
                <a:solidFill>
                  <a:srgbClr val="6E6960"/>
                </a:solidFill>
                <a:latin typeface="Yu Gothic" pitchFamily="34" charset="0"/>
                <a:ea typeface="Yu Gothic" pitchFamily="34" charset="-122"/>
                <a:cs typeface="Yu Gothic" pitchFamily="34" charset="-120"/>
              </a:rPr>
              <a:t>記録アプリは店名・住所・ジャンル…入力が面倒で三日坊主</a:t>
            </a:r>
            <a:endParaRPr lang="en-US" sz="1350" dirty="0"/>
          </a:p>
          <a:p>
            <a:pPr marL="342900" indent="-342900">
              <a:spcAft>
                <a:spcPts val="500"/>
              </a:spcAft>
              <a:buSzPct val="100000"/>
              <a:buChar char="•"/>
            </a:pPr>
            <a:r>
              <a:rPr lang="en-US" sz="1350" dirty="0">
                <a:solidFill>
                  <a:srgbClr val="6E6960"/>
                </a:solidFill>
                <a:latin typeface="Yu Gothic" pitchFamily="34" charset="0"/>
                <a:ea typeface="Yu Gothic" pitchFamily="34" charset="-122"/>
                <a:cs typeface="Yu Gothic" pitchFamily="34" charset="-120"/>
              </a:rPr>
              <a:t>「自分の味覚」はデータとして残らない</a:t>
            </a:r>
            <a:endParaRPr lang="en-US" sz="1350" dirty="0"/>
          </a:p>
        </p:txBody>
      </p:sp>
      <p:pic>
        <p:nvPicPr>
          <p:cNvPr id="14" name="Image 0" descr="/tmp/claude-0/-home-user-gourmet-app/8edbdaa3-b81a-5c49-b452-bda755b7f07f/scratchpad/final/shots/insight.png">    </p:cNvPr>
          <p:cNvPicPr>
            <a:picLocks noChangeAspect="1"/>
          </p:cNvPicPr>
          <p:nvPr/>
        </p:nvPicPr>
        <p:blipFill>
          <a:blip r:embed="rId1"/>
          <a:stretch>
            <a:fillRect/>
          </a:stretch>
        </p:blipFill>
        <p:spPr>
          <a:xfrm>
            <a:off x="5943600" y="1600200"/>
            <a:ext cx="5715000" cy="3218688"/>
          </a:xfrm>
          <a:prstGeom prst="rect">
            <a:avLst/>
          </a:prstGeom>
          <a:effectLst>
            <a:outerShdw sx="100000" sy="100000" kx="0" ky="0" algn="bl" rotWithShape="0" blurRad="76200" dist="25400" dir="5400000">
              <a:srgbClr val="000000">
                <a:alpha val="12000"/>
              </a:srgbClr>
            </a:outerShdw>
          </a:effectLst>
        </p:spPr>
      </p:pic>
      <p:sp>
        <p:nvSpPr>
          <p:cNvPr id="15" name="Text 12"/>
          <p:cNvSpPr txBox="1"/>
          <p:nvPr/>
        </p:nvSpPr>
        <p:spPr>
          <a:xfrm>
            <a:off x="5943600" y="4937760"/>
            <a:ext cx="5715000" cy="365760"/>
          </a:xfrm>
          <a:prstGeom prst="rect">
            <a:avLst/>
          </a:prstGeom>
          <a:noFill/>
          <a:ln/>
        </p:spPr>
        <p:txBody>
          <a:bodyPr wrap="square" lIns="0" tIns="0" rIns="0" bIns="0" rtlCol="0" anchor="ctr"/>
          <a:lstStyle/>
          <a:p>
            <a:pPr algn="ctr" indent="0" marL="0">
              <a:buNone/>
            </a:pPr>
            <a:r>
              <a:rPr lang="en-US" sz="1150" dirty="0">
                <a:solidFill>
                  <a:srgbClr val="8A857D"/>
                </a:solidFill>
                <a:latin typeface="Yu Gothic" pitchFamily="34" charset="0"/>
                <a:ea typeface="Yu Gothic" pitchFamily="34" charset="-122"/>
                <a:cs typeface="Yu Gothic" pitchFamily="34" charset="-120"/>
              </a:rPr>
              <a:t>同じ一杯を3人が食べたら ★5.0／★2.0／★4.0 ― サイトの表示は「★3.7」</a:t>
            </a:r>
            <a:endParaRPr lang="en-US" sz="1150" dirty="0"/>
          </a:p>
        </p:txBody>
      </p:sp>
      <p:sp>
        <p:nvSpPr>
          <p:cNvPr id="16" name="Text 13"/>
          <p:cNvSpPr txBox="1"/>
          <p:nvPr/>
        </p:nvSpPr>
        <p:spPr>
          <a:xfrm>
            <a:off x="5943600" y="5440680"/>
            <a:ext cx="5715000" cy="822960"/>
          </a:xfrm>
          <a:prstGeom prst="rect">
            <a:avLst/>
          </a:prstGeom>
          <a:noFill/>
          <a:ln/>
        </p:spPr>
        <p:txBody>
          <a:bodyPr wrap="square" lIns="0" tIns="0" rIns="0" bIns="0" rtlCol="0" anchor="t"/>
          <a:lstStyle/>
          <a:p>
            <a:pPr algn="l" indent="0" marL="0">
              <a:buNone/>
            </a:pPr>
            <a:r>
              <a:rPr lang="en-US" sz="1400" b="1" dirty="0">
                <a:solidFill>
                  <a:srgbClr val="C6613F"/>
                </a:solidFill>
                <a:latin typeface="Yu Gothic" pitchFamily="34" charset="0"/>
                <a:ea typeface="Yu Gothic" pitchFamily="34" charset="-122"/>
                <a:cs typeface="Yu Gothic" pitchFamily="34" charset="-120"/>
              </a:rPr>
              <a:t>BITEMAPの答え：</a:t>
            </a:r>
            <a:pPr algn="l" indent="0" marL="0">
              <a:buNone/>
            </a:pPr>
            <a:r>
              <a:rPr lang="en-US" sz="1400" dirty="0">
                <a:solidFill>
                  <a:srgbClr val="1F1E1D"/>
                </a:solidFill>
                <a:latin typeface="Yu Gothic" pitchFamily="34" charset="0"/>
                <a:ea typeface="Yu Gothic" pitchFamily="34" charset="-122"/>
                <a:cs typeface="Yu Gothic" pitchFamily="34" charset="-120"/>
              </a:rPr>
              <a:t>①記録の手間はAIが消す　②たまった記録から「自分の味覚」をデータ化する　③自分の食日記としても、SNSとしても使える</a:t>
            </a:r>
            <a:endParaRPr lang="en-US" sz="1400" dirty="0"/>
          </a:p>
        </p:txBody>
      </p:sp>
      <p:sp>
        <p:nvSpPr>
          <p:cNvPr id="17" name="Text 1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18" name="Text 15"/>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BITEMAP とは</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撮るだけで、グルメ地図が育つ</a:t>
            </a:r>
            <a:endParaRPr lang="en-US" sz="3000" dirty="0"/>
          </a:p>
        </p:txBody>
      </p:sp>
      <p:sp>
        <p:nvSpPr>
          <p:cNvPr id="4" name="Shape 2"/>
          <p:cNvSpPr/>
          <p:nvPr/>
        </p:nvSpPr>
        <p:spPr>
          <a:xfrm>
            <a:off x="548640" y="1508760"/>
            <a:ext cx="3566160" cy="4800600"/>
          </a:xfrm>
          <a:prstGeom prst="roundRect">
            <a:avLst>
              <a:gd name="adj" fmla="val 3077"/>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1737360"/>
            <a:ext cx="384048" cy="384048"/>
          </a:xfrm>
          <a:prstGeom prst="ellipse">
            <a:avLst/>
          </a:prstGeom>
          <a:solidFill>
            <a:srgbClr val="C6613F"/>
          </a:solidFill>
          <a:ln w="12700">
            <a:solidFill>
              <a:srgbClr val="C6613F"/>
            </a:solidFill>
            <a:prstDash val="solid"/>
          </a:ln>
        </p:spPr>
      </p:sp>
      <p:sp>
        <p:nvSpPr>
          <p:cNvPr id="6" name="Text 4"/>
          <p:cNvSpPr txBox="1"/>
          <p:nvPr/>
        </p:nvSpPr>
        <p:spPr>
          <a:xfrm>
            <a:off x="777240"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7" name="Text 5"/>
          <p:cNvSpPr txBox="1"/>
          <p:nvPr/>
        </p:nvSpPr>
        <p:spPr>
          <a:xfrm>
            <a:off x="1261872" y="1719072"/>
            <a:ext cx="2743200" cy="411480"/>
          </a:xfrm>
          <a:prstGeom prst="rect">
            <a:avLst/>
          </a:prstGeom>
          <a:noFill/>
          <a:ln/>
        </p:spPr>
        <p:txBody>
          <a:bodyPr wrap="square" lIns="0" tIns="0" rIns="0" bIns="0" rtlCol="0" anchor="ctr"/>
          <a:lstStyle/>
          <a:p>
            <a:pPr indent="0" marL="0">
              <a:buNone/>
            </a:pPr>
            <a:r>
              <a:rPr lang="en-US" sz="1700" b="1" dirty="0">
                <a:solidFill>
                  <a:srgbClr val="1F1E1D"/>
                </a:solidFill>
                <a:latin typeface="Yu Gothic" pitchFamily="34" charset="0"/>
                <a:ea typeface="Yu Gothic" pitchFamily="34" charset="-122"/>
                <a:cs typeface="Yu Gothic" pitchFamily="34" charset="-120"/>
              </a:rPr>
              <a:t>撮って選ぶだけ</a:t>
            </a:r>
            <a:endParaRPr lang="en-US" sz="1700" dirty="0"/>
          </a:p>
        </p:txBody>
      </p:sp>
      <p:sp>
        <p:nvSpPr>
          <p:cNvPr id="8" name="Text 6"/>
          <p:cNvSpPr txBox="1"/>
          <p:nvPr/>
        </p:nvSpPr>
        <p:spPr>
          <a:xfrm>
            <a:off x="777240" y="2194560"/>
            <a:ext cx="3108960" cy="960120"/>
          </a:xfrm>
          <a:prstGeom prst="rect">
            <a:avLst/>
          </a:prstGeom>
          <a:noFill/>
          <a:ln/>
        </p:spPr>
        <p:txBody>
          <a:bodyPr wrap="square" lIns="0" tIns="0" rIns="0" bIns="0" rtlCol="0" anchor="ctr"/>
          <a:lstStyle/>
          <a:p>
            <a:pPr indent="0" marL="0">
              <a:buNone/>
            </a:pPr>
            <a:r>
              <a:rPr lang="en-US" sz="1150" dirty="0">
                <a:solidFill>
                  <a:srgbClr val="6E6960"/>
                </a:solidFill>
                <a:latin typeface="Yu Gothic" pitchFamily="34" charset="0"/>
                <a:ea typeface="Yu Gothic" pitchFamily="34" charset="-122"/>
                <a:cs typeface="Yu Gothic" pitchFamily="34" charset="-120"/>
              </a:rPr>
              <a:t>写真のEXIF位置から周辺の店を自動提示。料理ジャンルはAIが写真から判定。手で入れるのは店名と★だけ（0.5刻み）。</a:t>
            </a:r>
            <a:endParaRPr lang="en-US" sz="1150" dirty="0"/>
          </a:p>
        </p:txBody>
      </p:sp>
      <p:sp>
        <p:nvSpPr>
          <p:cNvPr id="9" name="Shape 7"/>
          <p:cNvSpPr/>
          <p:nvPr/>
        </p:nvSpPr>
        <p:spPr>
          <a:xfrm>
            <a:off x="1682496" y="3191256"/>
            <a:ext cx="1440700" cy="2990088"/>
          </a:xfrm>
          <a:prstGeom prst="roundRect">
            <a:avLst>
              <a:gd name="adj" fmla="val 13963"/>
            </a:avLst>
          </a:prstGeom>
          <a:solidFill>
            <a:srgbClr val="1F1E1D"/>
          </a:solidFill>
          <a:ln w="12700">
            <a:solidFill>
              <a:srgbClr val="1F1E1D"/>
            </a:solidFill>
            <a:prstDash val="solid"/>
          </a:ln>
          <a:effectLst>
            <a:outerShdw sx="100000" sy="100000" kx="0" ky="0" algn="bl" rotWithShape="0" blurRad="76200" dist="25400" dir="5400000">
              <a:srgbClr val="000000">
                <a:alpha val="12000"/>
              </a:srgbClr>
            </a:outerShdw>
          </a:effectLst>
        </p:spPr>
      </p:sp>
      <p:pic>
        <p:nvPicPr>
          <p:cNvPr id="10" name="Image 0" descr="/tmp/claude-0/-home-user-gourmet-app/8edbdaa3-b81a-5c49-b452-bda755b7f07f/scratchpad/final/shots/register.png">    </p:cNvPr>
          <p:cNvPicPr>
            <a:picLocks noChangeAspect="1"/>
          </p:cNvPicPr>
          <p:nvPr/>
        </p:nvPicPr>
        <p:blipFill>
          <a:blip r:embed="rId1"/>
          <a:stretch>
            <a:fillRect/>
          </a:stretch>
        </p:blipFill>
        <p:spPr>
          <a:xfrm>
            <a:off x="1737360" y="3246120"/>
            <a:ext cx="1330972" cy="2880360"/>
          </a:xfrm>
          <a:prstGeom prst="rect">
            <a:avLst/>
          </a:prstGeom>
        </p:spPr>
      </p:pic>
      <p:sp>
        <p:nvSpPr>
          <p:cNvPr id="11" name="Shape 8"/>
          <p:cNvSpPr/>
          <p:nvPr/>
        </p:nvSpPr>
        <p:spPr>
          <a:xfrm>
            <a:off x="4315968" y="1508760"/>
            <a:ext cx="3566160" cy="4800600"/>
          </a:xfrm>
          <a:prstGeom prst="roundRect">
            <a:avLst>
              <a:gd name="adj" fmla="val 3077"/>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544568" y="1737360"/>
            <a:ext cx="384048" cy="384048"/>
          </a:xfrm>
          <a:prstGeom prst="ellipse">
            <a:avLst/>
          </a:prstGeom>
          <a:solidFill>
            <a:srgbClr val="C6613F"/>
          </a:solidFill>
          <a:ln w="12700">
            <a:solidFill>
              <a:srgbClr val="C6613F"/>
            </a:solidFill>
            <a:prstDash val="solid"/>
          </a:ln>
        </p:spPr>
      </p:sp>
      <p:sp>
        <p:nvSpPr>
          <p:cNvPr id="13" name="Text 10"/>
          <p:cNvSpPr txBox="1"/>
          <p:nvPr/>
        </p:nvSpPr>
        <p:spPr>
          <a:xfrm>
            <a:off x="4544568"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4" name="Text 11"/>
          <p:cNvSpPr txBox="1"/>
          <p:nvPr/>
        </p:nvSpPr>
        <p:spPr>
          <a:xfrm>
            <a:off x="5029200" y="1719072"/>
            <a:ext cx="2743200" cy="411480"/>
          </a:xfrm>
          <a:prstGeom prst="rect">
            <a:avLst/>
          </a:prstGeom>
          <a:noFill/>
          <a:ln/>
        </p:spPr>
        <p:txBody>
          <a:bodyPr wrap="square" lIns="0" tIns="0" rIns="0" bIns="0" rtlCol="0" anchor="ctr"/>
          <a:lstStyle/>
          <a:p>
            <a:pPr indent="0" marL="0">
              <a:buNone/>
            </a:pPr>
            <a:r>
              <a:rPr lang="en-US" sz="1700" b="1" dirty="0">
                <a:solidFill>
                  <a:srgbClr val="1F1E1D"/>
                </a:solidFill>
                <a:latin typeface="Yu Gothic" pitchFamily="34" charset="0"/>
                <a:ea typeface="Yu Gothic" pitchFamily="34" charset="-122"/>
                <a:cs typeface="Yu Gothic" pitchFamily="34" charset="-120"/>
              </a:rPr>
              <a:t>自分の記録が育つ</a:t>
            </a:r>
            <a:endParaRPr lang="en-US" sz="1700" dirty="0"/>
          </a:p>
        </p:txBody>
      </p:sp>
      <p:sp>
        <p:nvSpPr>
          <p:cNvPr id="15" name="Text 12"/>
          <p:cNvSpPr txBox="1"/>
          <p:nvPr/>
        </p:nvSpPr>
        <p:spPr>
          <a:xfrm>
            <a:off x="4544568" y="2194560"/>
            <a:ext cx="3108960" cy="960120"/>
          </a:xfrm>
          <a:prstGeom prst="rect">
            <a:avLst/>
          </a:prstGeom>
          <a:noFill/>
          <a:ln/>
        </p:spPr>
        <p:txBody>
          <a:bodyPr wrap="square" lIns="0" tIns="0" rIns="0" bIns="0" rtlCol="0" anchor="ctr"/>
          <a:lstStyle/>
          <a:p>
            <a:pPr indent="0" marL="0">
              <a:buNone/>
            </a:pPr>
            <a:r>
              <a:rPr lang="en-US" sz="1150" dirty="0">
                <a:solidFill>
                  <a:srgbClr val="6E6960"/>
                </a:solidFill>
                <a:latin typeface="Yu Gothic" pitchFamily="34" charset="0"/>
                <a:ea typeface="Yu Gothic" pitchFamily="34" charset="-122"/>
                <a:cs typeface="Yu Gothic" pitchFamily="34" charset="-120"/>
              </a:rPr>
              <a:t>訪問店は評価色のピンに。写真は店ごとに自動整理され、「いつ・何を・何点」がすぐ見返せる。SNSであると同時に、自分だけの食日記・地図・統計として毎日使える。</a:t>
            </a:r>
            <a:endParaRPr lang="en-US" sz="1150" dirty="0"/>
          </a:p>
        </p:txBody>
      </p:sp>
      <p:sp>
        <p:nvSpPr>
          <p:cNvPr id="16" name="Shape 13"/>
          <p:cNvSpPr/>
          <p:nvPr/>
        </p:nvSpPr>
        <p:spPr>
          <a:xfrm>
            <a:off x="5449824" y="3191256"/>
            <a:ext cx="1440700" cy="2990088"/>
          </a:xfrm>
          <a:prstGeom prst="roundRect">
            <a:avLst>
              <a:gd name="adj" fmla="val 13963"/>
            </a:avLst>
          </a:prstGeom>
          <a:solidFill>
            <a:srgbClr val="1F1E1D"/>
          </a:solidFill>
          <a:ln w="12700">
            <a:solidFill>
              <a:srgbClr val="1F1E1D"/>
            </a:solidFill>
            <a:prstDash val="solid"/>
          </a:ln>
          <a:effectLst>
            <a:outerShdw sx="100000" sy="100000" kx="0" ky="0" algn="bl" rotWithShape="0" blurRad="76200" dist="25400" dir="5400000">
              <a:srgbClr val="000000">
                <a:alpha val="12000"/>
              </a:srgbClr>
            </a:outerShdw>
          </a:effectLst>
        </p:spPr>
      </p:sp>
      <p:pic>
        <p:nvPicPr>
          <p:cNvPr id="17" name="Image 1" descr="/tmp/claude-0/-home-user-gourmet-app/8edbdaa3-b81a-5c49-b452-bda755b7f07f/scratchpad/real/shots/map.png">    </p:cNvPr>
          <p:cNvPicPr>
            <a:picLocks noChangeAspect="1"/>
          </p:cNvPicPr>
          <p:nvPr/>
        </p:nvPicPr>
        <p:blipFill>
          <a:blip r:embed="rId2"/>
          <a:stretch>
            <a:fillRect/>
          </a:stretch>
        </p:blipFill>
        <p:spPr>
          <a:xfrm>
            <a:off x="5504688" y="3246120"/>
            <a:ext cx="1330972" cy="2880360"/>
          </a:xfrm>
          <a:prstGeom prst="rect">
            <a:avLst/>
          </a:prstGeom>
        </p:spPr>
      </p:pic>
      <p:sp>
        <p:nvSpPr>
          <p:cNvPr id="18" name="Shape 14"/>
          <p:cNvSpPr/>
          <p:nvPr/>
        </p:nvSpPr>
        <p:spPr>
          <a:xfrm>
            <a:off x="8083296" y="1508760"/>
            <a:ext cx="3566160" cy="4800600"/>
          </a:xfrm>
          <a:prstGeom prst="roundRect">
            <a:avLst>
              <a:gd name="adj" fmla="val 3077"/>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19" name="Shape 15"/>
          <p:cNvSpPr/>
          <p:nvPr/>
        </p:nvSpPr>
        <p:spPr>
          <a:xfrm>
            <a:off x="8311896" y="1737360"/>
            <a:ext cx="384048" cy="384048"/>
          </a:xfrm>
          <a:prstGeom prst="ellipse">
            <a:avLst/>
          </a:prstGeom>
          <a:solidFill>
            <a:srgbClr val="C6613F"/>
          </a:solidFill>
          <a:ln w="12700">
            <a:solidFill>
              <a:srgbClr val="C6613F"/>
            </a:solidFill>
            <a:prstDash val="solid"/>
          </a:ln>
        </p:spPr>
      </p:sp>
      <p:sp>
        <p:nvSpPr>
          <p:cNvPr id="20" name="Text 16"/>
          <p:cNvSpPr txBox="1"/>
          <p:nvPr/>
        </p:nvSpPr>
        <p:spPr>
          <a:xfrm>
            <a:off x="8311896"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21" name="Text 17"/>
          <p:cNvSpPr txBox="1"/>
          <p:nvPr/>
        </p:nvSpPr>
        <p:spPr>
          <a:xfrm>
            <a:off x="8796528" y="1719072"/>
            <a:ext cx="2743200" cy="411480"/>
          </a:xfrm>
          <a:prstGeom prst="rect">
            <a:avLst/>
          </a:prstGeom>
          <a:noFill/>
          <a:ln/>
        </p:spPr>
        <p:txBody>
          <a:bodyPr wrap="square" lIns="0" tIns="0" rIns="0" bIns="0" rtlCol="0" anchor="ctr"/>
          <a:lstStyle/>
          <a:p>
            <a:pPr indent="0" marL="0">
              <a:buNone/>
            </a:pPr>
            <a:r>
              <a:rPr lang="en-US" sz="1700" b="1" dirty="0">
                <a:solidFill>
                  <a:srgbClr val="1F1E1D"/>
                </a:solidFill>
                <a:latin typeface="Yu Gothic" pitchFamily="34" charset="0"/>
                <a:ea typeface="Yu Gothic" pitchFamily="34" charset="-122"/>
                <a:cs typeface="Yu Gothic" pitchFamily="34" charset="-120"/>
              </a:rPr>
              <a:t>味覚でつながる</a:t>
            </a:r>
            <a:endParaRPr lang="en-US" sz="1700" dirty="0"/>
          </a:p>
        </p:txBody>
      </p:sp>
      <p:sp>
        <p:nvSpPr>
          <p:cNvPr id="22" name="Text 18"/>
          <p:cNvSpPr txBox="1"/>
          <p:nvPr/>
        </p:nvSpPr>
        <p:spPr>
          <a:xfrm>
            <a:off x="8311896" y="2194560"/>
            <a:ext cx="3108960" cy="960120"/>
          </a:xfrm>
          <a:prstGeom prst="rect">
            <a:avLst/>
          </a:prstGeom>
          <a:noFill/>
          <a:ln/>
        </p:spPr>
        <p:txBody>
          <a:bodyPr wrap="square" lIns="0" tIns="0" rIns="0" bIns="0" rtlCol="0" anchor="ctr"/>
          <a:lstStyle/>
          <a:p>
            <a:pPr indent="0" marL="0">
              <a:buNone/>
            </a:pPr>
            <a:r>
              <a:rPr lang="en-US" sz="1150" dirty="0">
                <a:solidFill>
                  <a:srgbClr val="6E6960"/>
                </a:solidFill>
                <a:latin typeface="Yu Gothic" pitchFamily="34" charset="0"/>
                <a:ea typeface="Yu Gothic" pitchFamily="34" charset="-122"/>
                <a:cs typeface="Yu Gothic" pitchFamily="34" charset="-120"/>
              </a:rPr>
              <a:t>フォロー・いいね・コメント。味覚の近い人の投稿ほど上に出て、店の評価は「あなた向け」に並び替わる。</a:t>
            </a:r>
            <a:endParaRPr lang="en-US" sz="1150" dirty="0"/>
          </a:p>
        </p:txBody>
      </p:sp>
      <p:sp>
        <p:nvSpPr>
          <p:cNvPr id="23" name="Shape 19"/>
          <p:cNvSpPr/>
          <p:nvPr/>
        </p:nvSpPr>
        <p:spPr>
          <a:xfrm>
            <a:off x="9217152" y="3191256"/>
            <a:ext cx="1440700" cy="2990088"/>
          </a:xfrm>
          <a:prstGeom prst="roundRect">
            <a:avLst>
              <a:gd name="adj" fmla="val 13963"/>
            </a:avLst>
          </a:prstGeom>
          <a:solidFill>
            <a:srgbClr val="1F1E1D"/>
          </a:solidFill>
          <a:ln w="12700">
            <a:solidFill>
              <a:srgbClr val="1F1E1D"/>
            </a:solidFill>
            <a:prstDash val="solid"/>
          </a:ln>
          <a:effectLst>
            <a:outerShdw sx="100000" sy="100000" kx="0" ky="0" algn="bl" rotWithShape="0" blurRad="76200" dist="25400" dir="5400000">
              <a:srgbClr val="000000">
                <a:alpha val="12000"/>
              </a:srgbClr>
            </a:outerShdw>
          </a:effectLst>
        </p:spPr>
      </p:sp>
      <p:pic>
        <p:nvPicPr>
          <p:cNvPr id="24" name="Image 2" descr="/tmp/claude-0/-home-user-gourmet-app/8edbdaa3-b81a-5c49-b452-bda755b7f07f/scratchpad/real/shots/home.png">    </p:cNvPr>
          <p:cNvPicPr>
            <a:picLocks noChangeAspect="1"/>
          </p:cNvPicPr>
          <p:nvPr/>
        </p:nvPicPr>
        <p:blipFill>
          <a:blip r:embed="rId3"/>
          <a:stretch>
            <a:fillRect/>
          </a:stretch>
        </p:blipFill>
        <p:spPr>
          <a:xfrm>
            <a:off x="9272016" y="3246120"/>
            <a:ext cx="1330972" cy="2880360"/>
          </a:xfrm>
          <a:prstGeom prst="rect">
            <a:avLst/>
          </a:prstGeom>
        </p:spPr>
      </p:pic>
      <p:sp>
        <p:nvSpPr>
          <p:cNvPr id="25" name="Text 2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26" name="Text 2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核心アイデア</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味覚一致率 ― 評価を、あなた仕様に重み付けする</a:t>
            </a:r>
            <a:endParaRPr lang="en-US" sz="3000" dirty="0"/>
          </a:p>
        </p:txBody>
      </p:sp>
      <p:sp>
        <p:nvSpPr>
          <p:cNvPr id="4" name="Shape 2"/>
          <p:cNvSpPr/>
          <p:nvPr/>
        </p:nvSpPr>
        <p:spPr>
          <a:xfrm>
            <a:off x="548640" y="1508760"/>
            <a:ext cx="3931920" cy="2514600"/>
          </a:xfrm>
          <a:prstGeom prst="roundRect">
            <a:avLst>
              <a:gd name="adj" fmla="val 4364"/>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645920"/>
            <a:ext cx="3566160" cy="320040"/>
          </a:xfrm>
          <a:prstGeom prst="rect">
            <a:avLst/>
          </a:prstGeom>
          <a:noFill/>
          <a:ln/>
        </p:spPr>
        <p:txBody>
          <a:bodyPr wrap="square" lIns="0" tIns="0" rIns="0" bIns="0" rtlCol="0" anchor="ctr"/>
          <a:lstStyle/>
          <a:p>
            <a:pPr indent="0" marL="0">
              <a:buNone/>
            </a:pPr>
            <a:r>
              <a:rPr lang="en-US" sz="1250" b="1" dirty="0">
                <a:solidFill>
                  <a:srgbClr val="1F1E1D"/>
                </a:solidFill>
                <a:latin typeface="Yu Gothic" pitchFamily="34" charset="0"/>
                <a:ea typeface="Yu Gothic" pitchFamily="34" charset="-122"/>
                <a:cs typeface="Yu Gothic" pitchFamily="34" charset="-120"/>
              </a:rPr>
              <a:t>共通で行った店の★を突き合わせる</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2011680"/>
          <a:ext cx="3474720" cy="914400"/>
        </p:xfrm>
        <a:graphic>
          <a:graphicData uri="http://schemas.openxmlformats.org/drawingml/2006/table">
            <a:tbl>
              <a:tblPr/>
              <a:tblGrid>
                <a:gridCol w="1645920"/>
                <a:gridCol w="822960"/>
                <a:gridCol w="1005840"/>
              </a:tblGrid>
              <a:tr h="310896">
                <a:tc>
                  <a:txBody>
                    <a:bodyPr/>
                    <a:lstStyle/>
                    <a:p>
                      <a:pPr algn="l" indent="0" marL="0">
                        <a:buNone/>
                      </a:pPr>
                      <a:r>
                        <a:rPr lang="en-US" sz="1100" b="1" dirty="0">
                          <a:solidFill>
                            <a:srgbClr val="C6613F"/>
                          </a:solidFill>
                          <a:latin typeface="Yu Gothic" pitchFamily="34" charset="0"/>
                          <a:ea typeface="Yu Gothic" pitchFamily="34" charset="-122"/>
                          <a:cs typeface="Yu Gothic" pitchFamily="34" charset="-120"/>
                        </a:rPr>
                        <a:t>店</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BEFE9"/>
                    </a:solidFill>
                  </a:tcPr>
                </a:tc>
                <a:tc>
                  <a:txBody>
                    <a:bodyPr/>
                    <a:lstStyle/>
                    <a:p>
                      <a:pPr algn="ctr" indent="0" marL="0">
                        <a:buNone/>
                      </a:pPr>
                      <a:r>
                        <a:rPr lang="en-US" sz="1100" b="1" dirty="0">
                          <a:solidFill>
                            <a:srgbClr val="C6613F"/>
                          </a:solidFill>
                          <a:latin typeface="Yu Gothic" pitchFamily="34" charset="0"/>
                          <a:ea typeface="Yu Gothic" pitchFamily="34" charset="-122"/>
                          <a:cs typeface="Yu Gothic" pitchFamily="34" charset="-120"/>
                        </a:rPr>
                        <a:t>自分</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BEFE9"/>
                    </a:solidFill>
                  </a:tcPr>
                </a:tc>
                <a:tc>
                  <a:txBody>
                    <a:bodyPr/>
                    <a:lstStyle/>
                    <a:p>
                      <a:pPr algn="ctr" indent="0" marL="0">
                        <a:buNone/>
                      </a:pPr>
                      <a:r>
                        <a:rPr lang="en-US" sz="1100" b="1" dirty="0">
                          <a:solidFill>
                            <a:srgbClr val="C6613F"/>
                          </a:solidFill>
                          <a:latin typeface="Yu Gothic" pitchFamily="34" charset="0"/>
                          <a:ea typeface="Yu Gothic" pitchFamily="34" charset="-122"/>
                          <a:cs typeface="Yu Gothic" pitchFamily="34" charset="-120"/>
                        </a:rPr>
                        <a:t>ゆかりさん</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BEFE9"/>
                    </a:solidFill>
                  </a:tcPr>
                </a:tc>
              </a:tr>
              <a:tr h="310896">
                <a:tc>
                  <a:txBody>
                    <a:bodyPr/>
                    <a:lstStyle/>
                    <a:p>
                      <a:pPr algn="l" indent="0" marL="0">
                        <a:buNone/>
                      </a:pPr>
                      <a:r>
                        <a:rPr lang="en-US" sz="1100" dirty="0">
                          <a:solidFill>
                            <a:srgbClr val="1F1E1D"/>
                          </a:solidFill>
                          <a:latin typeface="Yu Gothic" pitchFamily="34" charset="0"/>
                          <a:ea typeface="Yu Gothic" pitchFamily="34" charset="-122"/>
                          <a:cs typeface="Yu Gothic" pitchFamily="34" charset="-120"/>
                        </a:rPr>
                        <a:t>麺屋 こがね</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E1D"/>
                          </a:solidFill>
                          <a:latin typeface="Yu Gothic" pitchFamily="34" charset="0"/>
                          <a:ea typeface="Yu Gothic" pitchFamily="34" charset="-122"/>
                          <a:cs typeface="Yu Gothic" pitchFamily="34" charset="-120"/>
                        </a:rPr>
                        <a:t>4.5</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E1D"/>
                          </a:solidFill>
                          <a:latin typeface="Yu Gothic" pitchFamily="34" charset="0"/>
                          <a:ea typeface="Yu Gothic" pitchFamily="34" charset="-122"/>
                          <a:cs typeface="Yu Gothic" pitchFamily="34" charset="-120"/>
                        </a:rPr>
                        <a:t>4.5</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F1E1D"/>
                          </a:solidFill>
                          <a:latin typeface="Yu Gothic" pitchFamily="34" charset="0"/>
                          <a:ea typeface="Yu Gothic" pitchFamily="34" charset="-122"/>
                          <a:cs typeface="Yu Gothic" pitchFamily="34" charset="-120"/>
                        </a:rPr>
                        <a:t>寿司処 まる海</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E1D"/>
                          </a:solidFill>
                          <a:latin typeface="Yu Gothic" pitchFamily="34" charset="0"/>
                          <a:ea typeface="Yu Gothic" pitchFamily="34" charset="-122"/>
                          <a:cs typeface="Yu Gothic" pitchFamily="34" charset="-120"/>
                        </a:rPr>
                        <a:t>5.0</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E1D"/>
                          </a:solidFill>
                          <a:latin typeface="Yu Gothic" pitchFamily="34" charset="0"/>
                          <a:ea typeface="Yu Gothic" pitchFamily="34" charset="-122"/>
                          <a:cs typeface="Yu Gothic" pitchFamily="34" charset="-120"/>
                        </a:rPr>
                        <a:t>4.5</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F1E1D"/>
                          </a:solidFill>
                          <a:latin typeface="Yu Gothic" pitchFamily="34" charset="0"/>
                          <a:ea typeface="Yu Gothic" pitchFamily="34" charset="-122"/>
                          <a:cs typeface="Yu Gothic" pitchFamily="34" charset="-120"/>
                        </a:rPr>
                        <a:t>カフェ ひだまり</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E1D"/>
                          </a:solidFill>
                          <a:latin typeface="Yu Gothic" pitchFamily="34" charset="0"/>
                          <a:ea typeface="Yu Gothic" pitchFamily="34" charset="-122"/>
                          <a:cs typeface="Yu Gothic" pitchFamily="34" charset="-120"/>
                        </a:rPr>
                        <a:t>3.0</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E1D"/>
                          </a:solidFill>
                          <a:latin typeface="Yu Gothic" pitchFamily="34" charset="0"/>
                          <a:ea typeface="Yu Gothic" pitchFamily="34" charset="-122"/>
                          <a:cs typeface="Yu Gothic" pitchFamily="34" charset="-120"/>
                        </a:rPr>
                        <a:t>3.5</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1F1E1D"/>
                          </a:solidFill>
                          <a:latin typeface="Yu Gothic" pitchFamily="34" charset="0"/>
                          <a:ea typeface="Yu Gothic" pitchFamily="34" charset="-122"/>
                          <a:cs typeface="Yu Gothic" pitchFamily="34" charset="-120"/>
                        </a:rPr>
                        <a:t>天ぷら 松波</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E1D"/>
                          </a:solidFill>
                          <a:latin typeface="Yu Gothic" pitchFamily="34" charset="0"/>
                          <a:ea typeface="Yu Gothic" pitchFamily="34" charset="-122"/>
                          <a:cs typeface="Yu Gothic" pitchFamily="34" charset="-120"/>
                        </a:rPr>
                        <a:t>5.0</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1E1D"/>
                          </a:solidFill>
                          <a:latin typeface="Yu Gothic" pitchFamily="34" charset="0"/>
                          <a:ea typeface="Yu Gothic" pitchFamily="34" charset="-122"/>
                          <a:cs typeface="Yu Gothic" pitchFamily="34" charset="-120"/>
                        </a:rPr>
                        <a:t>5.0</a:t>
                      </a:r>
                      <a:endParaRPr lang="en-US" sz="1100" dirty="0">
                        <a:latin typeface="Yu Gothic" charset="0"/>
                        <a:ea typeface="Yu Gothic" charset="0"/>
                        <a:cs typeface="Yu Gothic" charset="0"/>
                      </a:endParaRPr>
                    </a:p>
                  </a:txBody>
                  <a:tcPr marL="91440" marR="91440" marT="45720" marB="45720">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777240" y="3657600"/>
            <a:ext cx="3566160" cy="274320"/>
          </a:xfrm>
          <a:prstGeom prst="rect">
            <a:avLst/>
          </a:prstGeom>
          <a:noFill/>
          <a:ln/>
        </p:spPr>
        <p:txBody>
          <a:bodyPr wrap="square" lIns="0" tIns="0" rIns="0" bIns="0" rtlCol="0" anchor="ctr"/>
          <a:lstStyle/>
          <a:p>
            <a:pPr indent="0" marL="0">
              <a:buNone/>
            </a:pPr>
            <a:r>
              <a:rPr lang="en-US" sz="1000" dirty="0">
                <a:solidFill>
                  <a:srgbClr val="8A857D"/>
                </a:solidFill>
                <a:latin typeface="Yu Gothic" pitchFamily="34" charset="0"/>
                <a:ea typeface="Yu Gothic" pitchFamily="34" charset="-122"/>
                <a:cs typeface="Yu Gothic" pitchFamily="34" charset="-120"/>
              </a:rPr>
              <a:t>ピアソン相関（上下の付け方）0.7 ＋ 評価差の近さ 0.3</a:t>
            </a:r>
            <a:endParaRPr lang="en-US" sz="1000" dirty="0"/>
          </a:p>
        </p:txBody>
      </p:sp>
      <p:sp>
        <p:nvSpPr>
          <p:cNvPr id="8" name="Shape 5"/>
          <p:cNvSpPr/>
          <p:nvPr/>
        </p:nvSpPr>
        <p:spPr>
          <a:xfrm>
            <a:off x="4617720" y="2606040"/>
            <a:ext cx="457200" cy="310896"/>
          </a:xfrm>
          <a:prstGeom prst="rightArrow">
            <a:avLst/>
          </a:prstGeom>
          <a:solidFill>
            <a:srgbClr val="D9CFC2"/>
          </a:solidFill>
          <a:ln w="12700">
            <a:solidFill>
              <a:srgbClr val="D9CFC2"/>
            </a:solidFill>
            <a:prstDash val="solid"/>
          </a:ln>
        </p:spPr>
      </p:sp>
      <p:sp>
        <p:nvSpPr>
          <p:cNvPr id="9" name="Shape 6"/>
          <p:cNvSpPr/>
          <p:nvPr/>
        </p:nvSpPr>
        <p:spPr>
          <a:xfrm>
            <a:off x="5257800" y="1783080"/>
            <a:ext cx="2011680" cy="2011680"/>
          </a:xfrm>
          <a:prstGeom prst="ellipse">
            <a:avLst/>
          </a:prstGeom>
          <a:solidFill>
            <a:srgbClr val="FBEFE9"/>
          </a:solidFill>
          <a:ln w="25400">
            <a:solidFill>
              <a:srgbClr val="C6613F"/>
            </a:solidFill>
            <a:prstDash val="solid"/>
          </a:ln>
        </p:spPr>
      </p:sp>
      <p:sp>
        <p:nvSpPr>
          <p:cNvPr id="10" name="Text 7"/>
          <p:cNvSpPr txBox="1"/>
          <p:nvPr/>
        </p:nvSpPr>
        <p:spPr>
          <a:xfrm>
            <a:off x="5257800" y="2103120"/>
            <a:ext cx="2011680" cy="822960"/>
          </a:xfrm>
          <a:prstGeom prst="rect">
            <a:avLst/>
          </a:prstGeom>
          <a:noFill/>
          <a:ln/>
        </p:spPr>
        <p:txBody>
          <a:bodyPr wrap="square" lIns="0" tIns="0" rIns="0" bIns="0" rtlCol="0" anchor="ctr"/>
          <a:lstStyle/>
          <a:p>
            <a:pPr algn="ctr" indent="0" marL="0">
              <a:buNone/>
            </a:pPr>
            <a:r>
              <a:rPr lang="en-US" sz="4000" b="1" dirty="0">
                <a:solidFill>
                  <a:srgbClr val="B4552F"/>
                </a:solidFill>
                <a:latin typeface="Yu Gothic" pitchFamily="34" charset="0"/>
                <a:ea typeface="Yu Gothic" pitchFamily="34" charset="-122"/>
                <a:cs typeface="Yu Gothic" pitchFamily="34" charset="-120"/>
              </a:rPr>
              <a:t>79%</a:t>
            </a:r>
            <a:endParaRPr lang="en-US" sz="4000" dirty="0"/>
          </a:p>
        </p:txBody>
      </p:sp>
      <p:sp>
        <p:nvSpPr>
          <p:cNvPr id="11" name="Text 8"/>
          <p:cNvSpPr txBox="1"/>
          <p:nvPr/>
        </p:nvSpPr>
        <p:spPr>
          <a:xfrm>
            <a:off x="5257800" y="2880360"/>
            <a:ext cx="2011680" cy="365760"/>
          </a:xfrm>
          <a:prstGeom prst="rect">
            <a:avLst/>
          </a:prstGeom>
          <a:noFill/>
          <a:ln/>
        </p:spPr>
        <p:txBody>
          <a:bodyPr wrap="square" lIns="0" tIns="0" rIns="0" bIns="0" rtlCol="0" anchor="ctr"/>
          <a:lstStyle/>
          <a:p>
            <a:pPr algn="ctr" indent="0" marL="0">
              <a:buNone/>
            </a:pPr>
            <a:r>
              <a:rPr lang="en-US" sz="1300" b="1" dirty="0">
                <a:solidFill>
                  <a:srgbClr val="C6613F"/>
                </a:solidFill>
                <a:latin typeface="Yu Gothic" pitchFamily="34" charset="0"/>
                <a:ea typeface="Yu Gothic" pitchFamily="34" charset="-122"/>
                <a:cs typeface="Yu Gothic" pitchFamily="34" charset="-120"/>
              </a:rPr>
              <a:t>味覚一致率</a:t>
            </a:r>
            <a:endParaRPr lang="en-US" sz="1300" dirty="0"/>
          </a:p>
        </p:txBody>
      </p:sp>
      <p:sp>
        <p:nvSpPr>
          <p:cNvPr id="12" name="Shape 9"/>
          <p:cNvSpPr/>
          <p:nvPr/>
        </p:nvSpPr>
        <p:spPr>
          <a:xfrm>
            <a:off x="7406640" y="2606040"/>
            <a:ext cx="457200" cy="310896"/>
          </a:xfrm>
          <a:prstGeom prst="rightArrow">
            <a:avLst/>
          </a:prstGeom>
          <a:solidFill>
            <a:srgbClr val="D9CFC2"/>
          </a:solidFill>
          <a:ln w="12700">
            <a:solidFill>
              <a:srgbClr val="D9CFC2"/>
            </a:solidFill>
            <a:prstDash val="solid"/>
          </a:ln>
        </p:spPr>
      </p:sp>
      <p:sp>
        <p:nvSpPr>
          <p:cNvPr id="13" name="Shape 10"/>
          <p:cNvSpPr/>
          <p:nvPr/>
        </p:nvSpPr>
        <p:spPr>
          <a:xfrm>
            <a:off x="8046720" y="1600200"/>
            <a:ext cx="1737360" cy="1371600"/>
          </a:xfrm>
          <a:prstGeom prst="roundRect">
            <a:avLst>
              <a:gd name="adj" fmla="val 8000"/>
            </a:avLst>
          </a:prstGeom>
          <a:solidFill>
            <a:srgbClr val="FBEFE9"/>
          </a:solidFill>
          <a:ln w="12700">
            <a:solidFill>
              <a:srgbClr val="EFD3C6"/>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8046720" y="1691640"/>
            <a:ext cx="1737360" cy="274320"/>
          </a:xfrm>
          <a:prstGeom prst="rect">
            <a:avLst/>
          </a:prstGeom>
          <a:noFill/>
          <a:ln/>
        </p:spPr>
        <p:txBody>
          <a:bodyPr wrap="square" lIns="0" tIns="0" rIns="0" bIns="0" rtlCol="0" anchor="ctr"/>
          <a:lstStyle/>
          <a:p>
            <a:pPr algn="ctr" indent="0" marL="0">
              <a:buNone/>
            </a:pPr>
            <a:r>
              <a:rPr lang="en-US" sz="1050" b="1" dirty="0">
                <a:solidFill>
                  <a:srgbClr val="C6613F"/>
                </a:solidFill>
                <a:latin typeface="Yu Gothic" pitchFamily="34" charset="0"/>
                <a:ea typeface="Yu Gothic" pitchFamily="34" charset="-122"/>
                <a:cs typeface="Yu Gothic" pitchFamily="34" charset="-120"/>
              </a:rPr>
              <a:t>あなた向け評価</a:t>
            </a:r>
            <a:endParaRPr lang="en-US" sz="1050" dirty="0"/>
          </a:p>
        </p:txBody>
      </p:sp>
      <p:sp>
        <p:nvSpPr>
          <p:cNvPr id="15" name="Text 12"/>
          <p:cNvSpPr txBox="1"/>
          <p:nvPr/>
        </p:nvSpPr>
        <p:spPr>
          <a:xfrm>
            <a:off x="8046720" y="1965960"/>
            <a:ext cx="1737360" cy="640080"/>
          </a:xfrm>
          <a:prstGeom prst="rect">
            <a:avLst/>
          </a:prstGeom>
          <a:noFill/>
          <a:ln/>
        </p:spPr>
        <p:txBody>
          <a:bodyPr wrap="square" lIns="0" tIns="0" rIns="0" bIns="0" rtlCol="0" anchor="ctr"/>
          <a:lstStyle/>
          <a:p>
            <a:pPr algn="ctr" indent="0" marL="0">
              <a:buNone/>
            </a:pPr>
            <a:r>
              <a:rPr lang="en-US" sz="3000" b="1" dirty="0">
                <a:solidFill>
                  <a:srgbClr val="B4552F"/>
                </a:solidFill>
                <a:latin typeface="Yu Gothic" pitchFamily="34" charset="0"/>
                <a:ea typeface="Yu Gothic" pitchFamily="34" charset="-122"/>
                <a:cs typeface="Yu Gothic" pitchFamily="34" charset="-120"/>
              </a:rPr>
              <a:t>★4.5</a:t>
            </a:r>
            <a:endParaRPr lang="en-US" sz="3000" dirty="0"/>
          </a:p>
        </p:txBody>
      </p:sp>
      <p:sp>
        <p:nvSpPr>
          <p:cNvPr id="16" name="Text 13"/>
          <p:cNvSpPr txBox="1"/>
          <p:nvPr/>
        </p:nvSpPr>
        <p:spPr>
          <a:xfrm>
            <a:off x="8046720" y="2606040"/>
            <a:ext cx="1737360" cy="274320"/>
          </a:xfrm>
          <a:prstGeom prst="rect">
            <a:avLst/>
          </a:prstGeom>
          <a:noFill/>
          <a:ln/>
        </p:spPr>
        <p:txBody>
          <a:bodyPr wrap="square" lIns="0" tIns="0" rIns="0" bIns="0" rtlCol="0" anchor="ctr"/>
          <a:lstStyle/>
          <a:p>
            <a:pPr algn="ctr" indent="0" marL="0">
              <a:buNone/>
            </a:pPr>
            <a:r>
              <a:rPr lang="en-US" sz="850" dirty="0">
                <a:solidFill>
                  <a:srgbClr val="C6613F"/>
                </a:solidFill>
                <a:latin typeface="Yu Gothic" pitchFamily="34" charset="0"/>
                <a:ea typeface="Yu Gothic" pitchFamily="34" charset="-122"/>
                <a:cs typeface="Yu Gothic" pitchFamily="34" charset="-120"/>
              </a:rPr>
              <a:t>一致率で重み付けした平均</a:t>
            </a:r>
            <a:endParaRPr lang="en-US" sz="850" dirty="0"/>
          </a:p>
        </p:txBody>
      </p:sp>
      <p:sp>
        <p:nvSpPr>
          <p:cNvPr id="17" name="Shape 14"/>
          <p:cNvSpPr/>
          <p:nvPr/>
        </p:nvSpPr>
        <p:spPr>
          <a:xfrm>
            <a:off x="9921240" y="1600200"/>
            <a:ext cx="1737360" cy="1371600"/>
          </a:xfrm>
          <a:prstGeom prst="roundRect">
            <a:avLst>
              <a:gd name="adj" fmla="val 8000"/>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9921240" y="1691640"/>
            <a:ext cx="1737360" cy="274320"/>
          </a:xfrm>
          <a:prstGeom prst="rect">
            <a:avLst/>
          </a:prstGeom>
          <a:noFill/>
          <a:ln/>
        </p:spPr>
        <p:txBody>
          <a:bodyPr wrap="square" lIns="0" tIns="0" rIns="0" bIns="0" rtlCol="0" anchor="ctr"/>
          <a:lstStyle/>
          <a:p>
            <a:pPr algn="ctr" indent="0" marL="0">
              <a:buNone/>
            </a:pPr>
            <a:r>
              <a:rPr lang="en-US" sz="1050" b="1" dirty="0">
                <a:solidFill>
                  <a:srgbClr val="8A857D"/>
                </a:solidFill>
                <a:latin typeface="Yu Gothic" pitchFamily="34" charset="0"/>
                <a:ea typeface="Yu Gothic" pitchFamily="34" charset="-122"/>
                <a:cs typeface="Yu Gothic" pitchFamily="34" charset="-120"/>
              </a:rPr>
              <a:t>全体評価</a:t>
            </a:r>
            <a:endParaRPr lang="en-US" sz="1050" dirty="0"/>
          </a:p>
        </p:txBody>
      </p:sp>
      <p:sp>
        <p:nvSpPr>
          <p:cNvPr id="19" name="Text 16"/>
          <p:cNvSpPr txBox="1"/>
          <p:nvPr/>
        </p:nvSpPr>
        <p:spPr>
          <a:xfrm>
            <a:off x="9921240" y="1965960"/>
            <a:ext cx="1737360" cy="640080"/>
          </a:xfrm>
          <a:prstGeom prst="rect">
            <a:avLst/>
          </a:prstGeom>
          <a:noFill/>
          <a:ln/>
        </p:spPr>
        <p:txBody>
          <a:bodyPr wrap="square" lIns="0" tIns="0" rIns="0" bIns="0" rtlCol="0" anchor="ctr"/>
          <a:lstStyle/>
          <a:p>
            <a:pPr algn="ctr" indent="0" marL="0">
              <a:buNone/>
            </a:pPr>
            <a:r>
              <a:rPr lang="en-US" sz="3000" b="1" dirty="0">
                <a:solidFill>
                  <a:srgbClr val="6E6960"/>
                </a:solidFill>
                <a:latin typeface="Yu Gothic" pitchFamily="34" charset="0"/>
                <a:ea typeface="Yu Gothic" pitchFamily="34" charset="-122"/>
                <a:cs typeface="Yu Gothic" pitchFamily="34" charset="-120"/>
              </a:rPr>
              <a:t>★3.6</a:t>
            </a:r>
            <a:endParaRPr lang="en-US" sz="3000" dirty="0"/>
          </a:p>
        </p:txBody>
      </p:sp>
      <p:sp>
        <p:nvSpPr>
          <p:cNvPr id="20" name="Text 17"/>
          <p:cNvSpPr txBox="1"/>
          <p:nvPr/>
        </p:nvSpPr>
        <p:spPr>
          <a:xfrm>
            <a:off x="9921240" y="2606040"/>
            <a:ext cx="1737360" cy="274320"/>
          </a:xfrm>
          <a:prstGeom prst="rect">
            <a:avLst/>
          </a:prstGeom>
          <a:noFill/>
          <a:ln/>
        </p:spPr>
        <p:txBody>
          <a:bodyPr wrap="square" lIns="0" tIns="0" rIns="0" bIns="0" rtlCol="0" anchor="ctr"/>
          <a:lstStyle/>
          <a:p>
            <a:pPr algn="ctr" indent="0" marL="0">
              <a:buNone/>
            </a:pPr>
            <a:r>
              <a:rPr lang="en-US" sz="850" dirty="0">
                <a:solidFill>
                  <a:srgbClr val="8A857D"/>
                </a:solidFill>
                <a:latin typeface="Yu Gothic" pitchFamily="34" charset="0"/>
                <a:ea typeface="Yu Gothic" pitchFamily="34" charset="-122"/>
                <a:cs typeface="Yu Gothic" pitchFamily="34" charset="-120"/>
              </a:rPr>
              <a:t>従来の単純平均</a:t>
            </a:r>
            <a:endParaRPr lang="en-US" sz="850" dirty="0"/>
          </a:p>
        </p:txBody>
      </p:sp>
      <p:sp>
        <p:nvSpPr>
          <p:cNvPr id="21" name="Text 18"/>
          <p:cNvSpPr txBox="1"/>
          <p:nvPr/>
        </p:nvSpPr>
        <p:spPr>
          <a:xfrm>
            <a:off x="8046720" y="3108960"/>
            <a:ext cx="3611880" cy="365760"/>
          </a:xfrm>
          <a:prstGeom prst="rect">
            <a:avLst/>
          </a:prstGeom>
          <a:noFill/>
          <a:ln/>
        </p:spPr>
        <p:txBody>
          <a:bodyPr wrap="square" lIns="0" tIns="0" rIns="0" bIns="0" rtlCol="0" anchor="ctr"/>
          <a:lstStyle/>
          <a:p>
            <a:pPr algn="ctr" indent="0" marL="0">
              <a:buNone/>
            </a:pPr>
            <a:r>
              <a:rPr lang="en-US" sz="1150" b="1" dirty="0">
                <a:solidFill>
                  <a:srgbClr val="1F1E1D"/>
                </a:solidFill>
                <a:latin typeface="Yu Gothic" pitchFamily="34" charset="0"/>
                <a:ea typeface="Yu Gothic" pitchFamily="34" charset="-122"/>
                <a:cs typeface="Yu Gothic" pitchFamily="34" charset="-120"/>
              </a:rPr>
              <a:t>同じ店でも、見る人によって評価が変わる</a:t>
            </a:r>
            <a:endParaRPr lang="en-US" sz="1150" dirty="0"/>
          </a:p>
        </p:txBody>
      </p:sp>
      <p:sp>
        <p:nvSpPr>
          <p:cNvPr id="22" name="Shape 19"/>
          <p:cNvSpPr/>
          <p:nvPr/>
        </p:nvSpPr>
        <p:spPr>
          <a:xfrm>
            <a:off x="548640" y="4251960"/>
            <a:ext cx="3566160" cy="2011680"/>
          </a:xfrm>
          <a:prstGeom prst="roundRect">
            <a:avLst>
              <a:gd name="adj" fmla="val 5455"/>
            </a:avLst>
          </a:prstGeom>
          <a:solidFill>
            <a:srgbClr val="FBF8F3"/>
          </a:solidFill>
          <a:ln w="12700">
            <a:solidFill>
              <a:srgbClr val="EAE3D8"/>
            </a:solidFill>
            <a:prstDash val="solid"/>
          </a:ln>
        </p:spPr>
      </p:sp>
      <p:sp>
        <p:nvSpPr>
          <p:cNvPr id="23" name="Text 20"/>
          <p:cNvSpPr txBox="1"/>
          <p:nvPr/>
        </p:nvSpPr>
        <p:spPr>
          <a:xfrm>
            <a:off x="749808" y="4370832"/>
            <a:ext cx="3200400" cy="320040"/>
          </a:xfrm>
          <a:prstGeom prst="rect">
            <a:avLst/>
          </a:prstGeom>
          <a:noFill/>
          <a:ln/>
        </p:spPr>
        <p:txBody>
          <a:bodyPr wrap="square" lIns="0" tIns="0" rIns="0" bIns="0" rtlCol="0" anchor="ctr"/>
          <a:lstStyle/>
          <a:p>
            <a:pPr indent="0" marL="0">
              <a:buNone/>
            </a:pPr>
            <a:r>
              <a:rPr lang="en-US" sz="1300" b="1" dirty="0">
                <a:solidFill>
                  <a:srgbClr val="C6613F"/>
                </a:solidFill>
                <a:latin typeface="Yu Gothic" pitchFamily="34" charset="0"/>
                <a:ea typeface="Yu Gothic" pitchFamily="34" charset="-122"/>
                <a:cs typeface="Yu Gothic" pitchFamily="34" charset="-120"/>
              </a:rPr>
              <a:t>信頼度ルール（人が定義）</a:t>
            </a:r>
            <a:endParaRPr lang="en-US" sz="1300" dirty="0"/>
          </a:p>
        </p:txBody>
      </p:sp>
      <p:sp>
        <p:nvSpPr>
          <p:cNvPr id="24" name="Text 21"/>
          <p:cNvSpPr txBox="1"/>
          <p:nvPr/>
        </p:nvSpPr>
        <p:spPr>
          <a:xfrm>
            <a:off x="749808" y="4709160"/>
            <a:ext cx="3200400" cy="1463040"/>
          </a:xfrm>
          <a:prstGeom prst="rect">
            <a:avLst/>
          </a:prstGeom>
          <a:noFill/>
          <a:ln/>
        </p:spPr>
        <p:txBody>
          <a:bodyPr wrap="square" lIns="0" tIns="0" rIns="0" bIns="0" rtlCol="0" anchor="t"/>
          <a:lstStyle/>
          <a:p>
            <a:pPr indent="0" marL="0">
              <a:buNone/>
            </a:pPr>
            <a:r>
              <a:rPr lang="en-US" sz="1150" dirty="0">
                <a:solidFill>
                  <a:srgbClr val="1F1E1D"/>
                </a:solidFill>
                <a:latin typeface="Yu Gothic" pitchFamily="34" charset="0"/>
                <a:ea typeface="Yu Gothic" pitchFamily="34" charset="-122"/>
                <a:cs typeface="Yu Gothic" pitchFamily="34" charset="-120"/>
              </a:rPr>
              <a:t>共通店が5件未満なら一致率を出さない。5〜19件は薄く表示、20件以上で通常表示。偶然の一致による誤検出を防ぐ。</a:t>
            </a:r>
            <a:endParaRPr lang="en-US" sz="1150" dirty="0"/>
          </a:p>
        </p:txBody>
      </p:sp>
      <p:sp>
        <p:nvSpPr>
          <p:cNvPr id="25" name="Shape 22"/>
          <p:cNvSpPr/>
          <p:nvPr/>
        </p:nvSpPr>
        <p:spPr>
          <a:xfrm>
            <a:off x="4315968" y="4251960"/>
            <a:ext cx="3566160" cy="2011680"/>
          </a:xfrm>
          <a:prstGeom prst="roundRect">
            <a:avLst>
              <a:gd name="adj" fmla="val 5455"/>
            </a:avLst>
          </a:prstGeom>
          <a:solidFill>
            <a:srgbClr val="FBF8F3"/>
          </a:solidFill>
          <a:ln w="12700">
            <a:solidFill>
              <a:srgbClr val="EAE3D8"/>
            </a:solidFill>
            <a:prstDash val="solid"/>
          </a:ln>
        </p:spPr>
      </p:sp>
      <p:sp>
        <p:nvSpPr>
          <p:cNvPr id="26" name="Text 23"/>
          <p:cNvSpPr txBox="1"/>
          <p:nvPr/>
        </p:nvSpPr>
        <p:spPr>
          <a:xfrm>
            <a:off x="4517136" y="4370832"/>
            <a:ext cx="3200400" cy="320040"/>
          </a:xfrm>
          <a:prstGeom prst="rect">
            <a:avLst/>
          </a:prstGeom>
          <a:noFill/>
          <a:ln/>
        </p:spPr>
        <p:txBody>
          <a:bodyPr wrap="square" lIns="0" tIns="0" rIns="0" bIns="0" rtlCol="0" anchor="ctr"/>
          <a:lstStyle/>
          <a:p>
            <a:pPr indent="0" marL="0">
              <a:buNone/>
            </a:pPr>
            <a:r>
              <a:rPr lang="en-US" sz="1300" b="1" dirty="0">
                <a:solidFill>
                  <a:srgbClr val="C6613F"/>
                </a:solidFill>
                <a:latin typeface="Yu Gothic" pitchFamily="34" charset="0"/>
                <a:ea typeface="Yu Gothic" pitchFamily="34" charset="-122"/>
                <a:cs typeface="Yu Gothic" pitchFamily="34" charset="-120"/>
              </a:rPr>
              <a:t>効果の検証</a:t>
            </a:r>
            <a:endParaRPr lang="en-US" sz="1300" dirty="0"/>
          </a:p>
        </p:txBody>
      </p:sp>
      <p:sp>
        <p:nvSpPr>
          <p:cNvPr id="27" name="Text 24"/>
          <p:cNvSpPr txBox="1"/>
          <p:nvPr/>
        </p:nvSpPr>
        <p:spPr>
          <a:xfrm>
            <a:off x="4517136" y="4709160"/>
            <a:ext cx="3200400" cy="1463040"/>
          </a:xfrm>
          <a:prstGeom prst="rect">
            <a:avLst/>
          </a:prstGeom>
          <a:noFill/>
          <a:ln/>
        </p:spPr>
        <p:txBody>
          <a:bodyPr wrap="square" lIns="0" tIns="0" rIns="0" bIns="0" rtlCol="0" anchor="t"/>
          <a:lstStyle/>
          <a:p>
            <a:pPr indent="0" marL="0">
              <a:buNone/>
            </a:pPr>
            <a:r>
              <a:rPr lang="en-US" sz="1150" dirty="0">
                <a:solidFill>
                  <a:srgbClr val="1F1E1D"/>
                </a:solidFill>
                <a:latin typeface="Yu Gothic" pitchFamily="34" charset="0"/>
                <a:ea typeface="Yu Gothic" pitchFamily="34" charset="-122"/>
                <a:cs typeface="Yu Gothic" pitchFamily="34" charset="-120"/>
              </a:rPr>
              <a:t>評価傾向を変えたテストデータで検証。傾向が近い人は 79%、真逆の人は 27% と直感に合う値に。一致率の高い人の高評価の未訪問店が「おすすめ」上位へ。</a:t>
            </a:r>
            <a:endParaRPr lang="en-US" sz="1150" dirty="0"/>
          </a:p>
        </p:txBody>
      </p:sp>
      <p:sp>
        <p:nvSpPr>
          <p:cNvPr id="28" name="Shape 25"/>
          <p:cNvSpPr/>
          <p:nvPr/>
        </p:nvSpPr>
        <p:spPr>
          <a:xfrm>
            <a:off x="8083296" y="4251960"/>
            <a:ext cx="3566160" cy="2011680"/>
          </a:xfrm>
          <a:prstGeom prst="roundRect">
            <a:avLst>
              <a:gd name="adj" fmla="val 5455"/>
            </a:avLst>
          </a:prstGeom>
          <a:solidFill>
            <a:srgbClr val="FBF8F3"/>
          </a:solidFill>
          <a:ln w="12700">
            <a:solidFill>
              <a:srgbClr val="EAE3D8"/>
            </a:solidFill>
            <a:prstDash val="solid"/>
          </a:ln>
        </p:spPr>
      </p:sp>
      <p:sp>
        <p:nvSpPr>
          <p:cNvPr id="29" name="Text 26"/>
          <p:cNvSpPr txBox="1"/>
          <p:nvPr/>
        </p:nvSpPr>
        <p:spPr>
          <a:xfrm>
            <a:off x="8284464" y="4370832"/>
            <a:ext cx="3200400" cy="320040"/>
          </a:xfrm>
          <a:prstGeom prst="rect">
            <a:avLst/>
          </a:prstGeom>
          <a:noFill/>
          <a:ln/>
        </p:spPr>
        <p:txBody>
          <a:bodyPr wrap="square" lIns="0" tIns="0" rIns="0" bIns="0" rtlCol="0" anchor="ctr"/>
          <a:lstStyle/>
          <a:p>
            <a:pPr indent="0" marL="0">
              <a:buNone/>
            </a:pPr>
            <a:r>
              <a:rPr lang="en-US" sz="1300" b="1" dirty="0">
                <a:solidFill>
                  <a:srgbClr val="C6613F"/>
                </a:solidFill>
                <a:latin typeface="Yu Gothic" pitchFamily="34" charset="0"/>
                <a:ea typeface="Yu Gothic" pitchFamily="34" charset="-122"/>
                <a:cs typeface="Yu Gothic" pitchFamily="34" charset="-120"/>
              </a:rPr>
              <a:t>アプリ全体で使う</a:t>
            </a:r>
            <a:endParaRPr lang="en-US" sz="1300" dirty="0"/>
          </a:p>
        </p:txBody>
      </p:sp>
      <p:sp>
        <p:nvSpPr>
          <p:cNvPr id="30" name="Text 27"/>
          <p:cNvSpPr txBox="1"/>
          <p:nvPr/>
        </p:nvSpPr>
        <p:spPr>
          <a:xfrm>
            <a:off x="8284464" y="4709160"/>
            <a:ext cx="3200400" cy="1463040"/>
          </a:xfrm>
          <a:prstGeom prst="rect">
            <a:avLst/>
          </a:prstGeom>
          <a:noFill/>
          <a:ln/>
        </p:spPr>
        <p:txBody>
          <a:bodyPr wrap="square" lIns="0" tIns="0" rIns="0" bIns="0" rtlCol="0" anchor="t"/>
          <a:lstStyle/>
          <a:p>
            <a:pPr indent="0" marL="0">
              <a:buNone/>
            </a:pPr>
            <a:r>
              <a:rPr lang="en-US" sz="1150" dirty="0">
                <a:solidFill>
                  <a:srgbClr val="1F1E1D"/>
                </a:solidFill>
                <a:latin typeface="Yu Gothic" pitchFamily="34" charset="0"/>
                <a:ea typeface="Yu Gothic" pitchFamily="34" charset="-122"/>
                <a:cs typeface="Yu Gothic" pitchFamily="34" charset="-120"/>
              </a:rPr>
              <a:t>地図のピン色・ホームの並び順・店舗詳細の評価に同じ値を使用。自分の評価は一致率100%として最重視。</a:t>
            </a:r>
            <a:endParaRPr lang="en-US" sz="1150" dirty="0"/>
          </a:p>
        </p:txBody>
      </p:sp>
      <p:sp>
        <p:nvSpPr>
          <p:cNvPr id="31" name="Text 2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32" name="Text 29"/>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AIの使い方</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AIの使い方 ― つくるも、つかうもAI。決めるのは人</a:t>
            </a:r>
            <a:endParaRPr lang="en-US" sz="3000" dirty="0"/>
          </a:p>
        </p:txBody>
      </p:sp>
      <p:sp>
        <p:nvSpPr>
          <p:cNvPr id="4" name="Shape 2"/>
          <p:cNvSpPr/>
          <p:nvPr/>
        </p:nvSpPr>
        <p:spPr>
          <a:xfrm>
            <a:off x="548640" y="1463040"/>
            <a:ext cx="11091672" cy="1600200"/>
          </a:xfrm>
          <a:prstGeom prst="roundRect">
            <a:avLst>
              <a:gd name="adj" fmla="val 6857"/>
            </a:avLst>
          </a:prstGeom>
          <a:solidFill>
            <a:srgbClr val="FBF8F3"/>
          </a:solidFill>
          <a:ln w="12700">
            <a:solidFill>
              <a:srgbClr val="EAE3D8"/>
            </a:solidFill>
            <a:prstDash val="solid"/>
          </a:ln>
        </p:spPr>
      </p:sp>
      <p:sp>
        <p:nvSpPr>
          <p:cNvPr id="5" name="Text 3"/>
          <p:cNvSpPr txBox="1"/>
          <p:nvPr/>
        </p:nvSpPr>
        <p:spPr>
          <a:xfrm>
            <a:off x="777240" y="1572768"/>
            <a:ext cx="2286000" cy="274320"/>
          </a:xfrm>
          <a:prstGeom prst="rect">
            <a:avLst/>
          </a:prstGeom>
          <a:noFill/>
          <a:ln/>
        </p:spPr>
        <p:txBody>
          <a:bodyPr wrap="square" lIns="0" tIns="0" rIns="0" bIns="0" rtlCol="0" anchor="ctr"/>
          <a:lstStyle/>
          <a:p>
            <a:pPr indent="0" marL="0">
              <a:buNone/>
            </a:pPr>
            <a:r>
              <a:rPr lang="en-US" sz="1100" b="1" dirty="0">
                <a:solidFill>
                  <a:srgbClr val="C6613F"/>
                </a:solidFill>
                <a:latin typeface="Yu Gothic" pitchFamily="34" charset="0"/>
                <a:ea typeface="Yu Gothic" pitchFamily="34" charset="-122"/>
                <a:cs typeface="Yu Gothic" pitchFamily="34" charset="-120"/>
              </a:rPr>
              <a:t>開発ループ</a:t>
            </a:r>
            <a:endParaRPr lang="en-US" sz="1100" dirty="0"/>
          </a:p>
        </p:txBody>
      </p:sp>
      <p:sp>
        <p:nvSpPr>
          <p:cNvPr id="6" name="Shape 4"/>
          <p:cNvSpPr/>
          <p:nvPr/>
        </p:nvSpPr>
        <p:spPr>
          <a:xfrm>
            <a:off x="777240" y="1920240"/>
            <a:ext cx="1828800" cy="914400"/>
          </a:xfrm>
          <a:prstGeom prst="roundRect">
            <a:avLst>
              <a:gd name="adj" fmla="val 10000"/>
            </a:avLst>
          </a:prstGeom>
          <a:solidFill>
            <a:srgbClr val="FBEFE9"/>
          </a:solidFill>
          <a:ln w="12700">
            <a:solidFill>
              <a:srgbClr val="FBEFE9"/>
            </a:solidFill>
            <a:prstDash val="solid"/>
          </a:ln>
        </p:spPr>
      </p:sp>
      <p:sp>
        <p:nvSpPr>
          <p:cNvPr id="7" name="Text 5"/>
          <p:cNvSpPr txBox="1"/>
          <p:nvPr/>
        </p:nvSpPr>
        <p:spPr>
          <a:xfrm>
            <a:off x="777240" y="1975104"/>
            <a:ext cx="1828800" cy="274320"/>
          </a:xfrm>
          <a:prstGeom prst="rect">
            <a:avLst/>
          </a:prstGeom>
          <a:noFill/>
          <a:ln/>
        </p:spPr>
        <p:txBody>
          <a:bodyPr wrap="square" lIns="0" tIns="0" rIns="0" bIns="0" rtlCol="0" anchor="ctr"/>
          <a:lstStyle/>
          <a:p>
            <a:pPr algn="ctr" indent="0" marL="0">
              <a:buNone/>
            </a:pPr>
            <a:r>
              <a:rPr lang="en-US" sz="1100" b="1" dirty="0">
                <a:solidFill>
                  <a:srgbClr val="C6613F"/>
                </a:solidFill>
                <a:latin typeface="Yu Gothic" pitchFamily="34" charset="0"/>
                <a:ea typeface="Yu Gothic" pitchFamily="34" charset="-122"/>
                <a:cs typeface="Yu Gothic" pitchFamily="34" charset="-120"/>
              </a:rPr>
              <a:t>人</a:t>
            </a:r>
            <a:endParaRPr lang="en-US" sz="1100" dirty="0"/>
          </a:p>
        </p:txBody>
      </p:sp>
      <p:sp>
        <p:nvSpPr>
          <p:cNvPr id="8" name="Text 6"/>
          <p:cNvSpPr txBox="1"/>
          <p:nvPr/>
        </p:nvSpPr>
        <p:spPr>
          <a:xfrm>
            <a:off x="850392" y="2249424"/>
            <a:ext cx="1682496" cy="548640"/>
          </a:xfrm>
          <a:prstGeom prst="rect">
            <a:avLst/>
          </a:prstGeom>
          <a:noFill/>
          <a:ln/>
        </p:spPr>
        <p:txBody>
          <a:bodyPr wrap="square" lIns="0" tIns="0" rIns="0" bIns="0" rtlCol="0" anchor="t"/>
          <a:lstStyle/>
          <a:p>
            <a:pPr algn="ctr" indent="0" marL="0">
              <a:buNone/>
            </a:pPr>
            <a:r>
              <a:rPr lang="en-US" sz="1100" dirty="0">
                <a:solidFill>
                  <a:srgbClr val="1F1E1D"/>
                </a:solidFill>
                <a:latin typeface="Yu Gothic" pitchFamily="34" charset="0"/>
                <a:ea typeface="Yu Gothic" pitchFamily="34" charset="-122"/>
                <a:cs typeface="Yu Gothic" pitchFamily="34" charset="-120"/>
              </a:rPr>
              <a:t>要望を言葉・画像で伝える</a:t>
            </a:r>
            <a:endParaRPr lang="en-US" sz="1100" dirty="0"/>
          </a:p>
        </p:txBody>
      </p:sp>
      <p:sp>
        <p:nvSpPr>
          <p:cNvPr id="9" name="Shape 7"/>
          <p:cNvSpPr/>
          <p:nvPr/>
        </p:nvSpPr>
        <p:spPr>
          <a:xfrm>
            <a:off x="2624328" y="2240280"/>
            <a:ext cx="182880" cy="310896"/>
          </a:xfrm>
          <a:prstGeom prst="rightArrow">
            <a:avLst/>
          </a:prstGeom>
          <a:solidFill>
            <a:srgbClr val="D9CFC2"/>
          </a:solidFill>
          <a:ln w="12700">
            <a:solidFill>
              <a:srgbClr val="D9CFC2"/>
            </a:solidFill>
            <a:prstDash val="solid"/>
          </a:ln>
        </p:spPr>
      </p:sp>
      <p:sp>
        <p:nvSpPr>
          <p:cNvPr id="10" name="Shape 8"/>
          <p:cNvSpPr/>
          <p:nvPr/>
        </p:nvSpPr>
        <p:spPr>
          <a:xfrm>
            <a:off x="2834640" y="1920240"/>
            <a:ext cx="1828800" cy="914400"/>
          </a:xfrm>
          <a:prstGeom prst="roundRect">
            <a:avLst>
              <a:gd name="adj" fmla="val 10000"/>
            </a:avLst>
          </a:prstGeom>
          <a:solidFill>
            <a:srgbClr val="EEF3FB"/>
          </a:solidFill>
          <a:ln w="12700">
            <a:solidFill>
              <a:srgbClr val="EEF3FB"/>
            </a:solidFill>
            <a:prstDash val="solid"/>
          </a:ln>
        </p:spPr>
      </p:sp>
      <p:sp>
        <p:nvSpPr>
          <p:cNvPr id="11" name="Text 9"/>
          <p:cNvSpPr txBox="1"/>
          <p:nvPr/>
        </p:nvSpPr>
        <p:spPr>
          <a:xfrm>
            <a:off x="2834640" y="1975104"/>
            <a:ext cx="1828800" cy="274320"/>
          </a:xfrm>
          <a:prstGeom prst="rect">
            <a:avLst/>
          </a:prstGeom>
          <a:noFill/>
          <a:ln/>
        </p:spPr>
        <p:txBody>
          <a:bodyPr wrap="square" lIns="0" tIns="0" rIns="0" bIns="0" rtlCol="0" anchor="ctr"/>
          <a:lstStyle/>
          <a:p>
            <a:pPr algn="ctr" indent="0" marL="0">
              <a:buNone/>
            </a:pPr>
            <a:r>
              <a:rPr lang="en-US" sz="1100" b="1" dirty="0">
                <a:solidFill>
                  <a:srgbClr val="2F5D8A"/>
                </a:solidFill>
                <a:latin typeface="Yu Gothic" pitchFamily="34" charset="0"/>
                <a:ea typeface="Yu Gothic" pitchFamily="34" charset="-122"/>
                <a:cs typeface="Yu Gothic" pitchFamily="34" charset="-120"/>
              </a:rPr>
              <a:t>AI</a:t>
            </a:r>
            <a:endParaRPr lang="en-US" sz="1100" dirty="0"/>
          </a:p>
        </p:txBody>
      </p:sp>
      <p:sp>
        <p:nvSpPr>
          <p:cNvPr id="12" name="Text 10"/>
          <p:cNvSpPr txBox="1"/>
          <p:nvPr/>
        </p:nvSpPr>
        <p:spPr>
          <a:xfrm>
            <a:off x="2907792" y="2249424"/>
            <a:ext cx="1682496" cy="548640"/>
          </a:xfrm>
          <a:prstGeom prst="rect">
            <a:avLst/>
          </a:prstGeom>
          <a:noFill/>
          <a:ln/>
        </p:spPr>
        <p:txBody>
          <a:bodyPr wrap="square" lIns="0" tIns="0" rIns="0" bIns="0" rtlCol="0" anchor="t"/>
          <a:lstStyle/>
          <a:p>
            <a:pPr algn="ctr" indent="0" marL="0">
              <a:buNone/>
            </a:pPr>
            <a:r>
              <a:rPr lang="en-US" sz="1100" dirty="0">
                <a:solidFill>
                  <a:srgbClr val="1F1E1D"/>
                </a:solidFill>
                <a:latin typeface="Yu Gothic" pitchFamily="34" charset="0"/>
                <a:ea typeface="Yu Gothic" pitchFamily="34" charset="-122"/>
                <a:cs typeface="Yu Gothic" pitchFamily="34" charset="-120"/>
              </a:rPr>
              <a:t>実装＋自動テスト</a:t>
            </a:r>
            <a:endParaRPr lang="en-US" sz="1100" dirty="0"/>
          </a:p>
        </p:txBody>
      </p:sp>
      <p:sp>
        <p:nvSpPr>
          <p:cNvPr id="13" name="Shape 11"/>
          <p:cNvSpPr/>
          <p:nvPr/>
        </p:nvSpPr>
        <p:spPr>
          <a:xfrm>
            <a:off x="4681728" y="2240280"/>
            <a:ext cx="182880" cy="310896"/>
          </a:xfrm>
          <a:prstGeom prst="rightArrow">
            <a:avLst/>
          </a:prstGeom>
          <a:solidFill>
            <a:srgbClr val="D9CFC2"/>
          </a:solidFill>
          <a:ln w="12700">
            <a:solidFill>
              <a:srgbClr val="D9CFC2"/>
            </a:solidFill>
            <a:prstDash val="solid"/>
          </a:ln>
        </p:spPr>
      </p:sp>
      <p:sp>
        <p:nvSpPr>
          <p:cNvPr id="14" name="Shape 12"/>
          <p:cNvSpPr/>
          <p:nvPr/>
        </p:nvSpPr>
        <p:spPr>
          <a:xfrm>
            <a:off x="4892040" y="1920240"/>
            <a:ext cx="1828800" cy="914400"/>
          </a:xfrm>
          <a:prstGeom prst="roundRect">
            <a:avLst>
              <a:gd name="adj" fmla="val 10000"/>
            </a:avLst>
          </a:prstGeom>
          <a:solidFill>
            <a:srgbClr val="EEF3FB"/>
          </a:solidFill>
          <a:ln w="12700">
            <a:solidFill>
              <a:srgbClr val="EEF3FB"/>
            </a:solidFill>
            <a:prstDash val="solid"/>
          </a:ln>
        </p:spPr>
      </p:sp>
      <p:sp>
        <p:nvSpPr>
          <p:cNvPr id="15" name="Text 13"/>
          <p:cNvSpPr txBox="1"/>
          <p:nvPr/>
        </p:nvSpPr>
        <p:spPr>
          <a:xfrm>
            <a:off x="4892040" y="1975104"/>
            <a:ext cx="1828800" cy="274320"/>
          </a:xfrm>
          <a:prstGeom prst="rect">
            <a:avLst/>
          </a:prstGeom>
          <a:noFill/>
          <a:ln/>
        </p:spPr>
        <p:txBody>
          <a:bodyPr wrap="square" lIns="0" tIns="0" rIns="0" bIns="0" rtlCol="0" anchor="ctr"/>
          <a:lstStyle/>
          <a:p>
            <a:pPr algn="ctr" indent="0" marL="0">
              <a:buNone/>
            </a:pPr>
            <a:r>
              <a:rPr lang="en-US" sz="1100" b="1" dirty="0">
                <a:solidFill>
                  <a:srgbClr val="2F5D8A"/>
                </a:solidFill>
                <a:latin typeface="Yu Gothic" pitchFamily="34" charset="0"/>
                <a:ea typeface="Yu Gothic" pitchFamily="34" charset="-122"/>
                <a:cs typeface="Yu Gothic" pitchFamily="34" charset="-120"/>
              </a:rPr>
              <a:t>AI</a:t>
            </a:r>
            <a:endParaRPr lang="en-US" sz="1100" dirty="0"/>
          </a:p>
        </p:txBody>
      </p:sp>
      <p:sp>
        <p:nvSpPr>
          <p:cNvPr id="16" name="Text 14"/>
          <p:cNvSpPr txBox="1"/>
          <p:nvPr/>
        </p:nvSpPr>
        <p:spPr>
          <a:xfrm>
            <a:off x="4965192" y="2249424"/>
            <a:ext cx="1682496" cy="548640"/>
          </a:xfrm>
          <a:prstGeom prst="rect">
            <a:avLst/>
          </a:prstGeom>
          <a:noFill/>
          <a:ln/>
        </p:spPr>
        <p:txBody>
          <a:bodyPr wrap="square" lIns="0" tIns="0" rIns="0" bIns="0" rtlCol="0" anchor="t"/>
          <a:lstStyle/>
          <a:p>
            <a:pPr algn="ctr" indent="0" marL="0">
              <a:buNone/>
            </a:pPr>
            <a:r>
              <a:rPr lang="en-US" sz="1100" dirty="0">
                <a:solidFill>
                  <a:srgbClr val="1F1E1D"/>
                </a:solidFill>
                <a:latin typeface="Yu Gothic" pitchFamily="34" charset="0"/>
                <a:ea typeface="Yu Gothic" pitchFamily="34" charset="-122"/>
                <a:cs typeface="Yu Gothic" pitchFamily="34" charset="-120"/>
              </a:rPr>
              <a:t>コミット＆本番デプロイ</a:t>
            </a:r>
            <a:endParaRPr lang="en-US" sz="1100" dirty="0"/>
          </a:p>
        </p:txBody>
      </p:sp>
      <p:sp>
        <p:nvSpPr>
          <p:cNvPr id="17" name="Shape 15"/>
          <p:cNvSpPr/>
          <p:nvPr/>
        </p:nvSpPr>
        <p:spPr>
          <a:xfrm>
            <a:off x="6739128" y="2240280"/>
            <a:ext cx="182880" cy="310896"/>
          </a:xfrm>
          <a:prstGeom prst="rightArrow">
            <a:avLst/>
          </a:prstGeom>
          <a:solidFill>
            <a:srgbClr val="D9CFC2"/>
          </a:solidFill>
          <a:ln w="12700">
            <a:solidFill>
              <a:srgbClr val="D9CFC2"/>
            </a:solidFill>
            <a:prstDash val="solid"/>
          </a:ln>
        </p:spPr>
      </p:sp>
      <p:sp>
        <p:nvSpPr>
          <p:cNvPr id="18" name="Shape 16"/>
          <p:cNvSpPr/>
          <p:nvPr/>
        </p:nvSpPr>
        <p:spPr>
          <a:xfrm>
            <a:off x="6949440" y="1920240"/>
            <a:ext cx="1828800" cy="914400"/>
          </a:xfrm>
          <a:prstGeom prst="roundRect">
            <a:avLst>
              <a:gd name="adj" fmla="val 10000"/>
            </a:avLst>
          </a:prstGeom>
          <a:solidFill>
            <a:srgbClr val="FBEFE9"/>
          </a:solidFill>
          <a:ln w="12700">
            <a:solidFill>
              <a:srgbClr val="FBEFE9"/>
            </a:solidFill>
            <a:prstDash val="solid"/>
          </a:ln>
        </p:spPr>
      </p:sp>
      <p:sp>
        <p:nvSpPr>
          <p:cNvPr id="19" name="Text 17"/>
          <p:cNvSpPr txBox="1"/>
          <p:nvPr/>
        </p:nvSpPr>
        <p:spPr>
          <a:xfrm>
            <a:off x="6949440" y="1975104"/>
            <a:ext cx="1828800" cy="274320"/>
          </a:xfrm>
          <a:prstGeom prst="rect">
            <a:avLst/>
          </a:prstGeom>
          <a:noFill/>
          <a:ln/>
        </p:spPr>
        <p:txBody>
          <a:bodyPr wrap="square" lIns="0" tIns="0" rIns="0" bIns="0" rtlCol="0" anchor="ctr"/>
          <a:lstStyle/>
          <a:p>
            <a:pPr algn="ctr" indent="0" marL="0">
              <a:buNone/>
            </a:pPr>
            <a:r>
              <a:rPr lang="en-US" sz="1100" b="1" dirty="0">
                <a:solidFill>
                  <a:srgbClr val="C6613F"/>
                </a:solidFill>
                <a:latin typeface="Yu Gothic" pitchFamily="34" charset="0"/>
                <a:ea typeface="Yu Gothic" pitchFamily="34" charset="-122"/>
                <a:cs typeface="Yu Gothic" pitchFamily="34" charset="-120"/>
              </a:rPr>
              <a:t>人</a:t>
            </a:r>
            <a:endParaRPr lang="en-US" sz="1100" dirty="0"/>
          </a:p>
        </p:txBody>
      </p:sp>
      <p:sp>
        <p:nvSpPr>
          <p:cNvPr id="20" name="Text 18"/>
          <p:cNvSpPr txBox="1"/>
          <p:nvPr/>
        </p:nvSpPr>
        <p:spPr>
          <a:xfrm>
            <a:off x="7022592" y="2249424"/>
            <a:ext cx="1682496" cy="548640"/>
          </a:xfrm>
          <a:prstGeom prst="rect">
            <a:avLst/>
          </a:prstGeom>
          <a:noFill/>
          <a:ln/>
        </p:spPr>
        <p:txBody>
          <a:bodyPr wrap="square" lIns="0" tIns="0" rIns="0" bIns="0" rtlCol="0" anchor="t"/>
          <a:lstStyle/>
          <a:p>
            <a:pPr algn="ctr" indent="0" marL="0">
              <a:buNone/>
            </a:pPr>
            <a:r>
              <a:rPr lang="en-US" sz="1100" dirty="0">
                <a:solidFill>
                  <a:srgbClr val="1F1E1D"/>
                </a:solidFill>
                <a:latin typeface="Yu Gothic" pitchFamily="34" charset="0"/>
                <a:ea typeface="Yu Gothic" pitchFamily="34" charset="-122"/>
                <a:cs typeface="Yu Gothic" pitchFamily="34" charset="-120"/>
              </a:rPr>
              <a:t>実機で検証→採否を決める</a:t>
            </a:r>
            <a:endParaRPr lang="en-US" sz="1100" dirty="0"/>
          </a:p>
        </p:txBody>
      </p:sp>
      <p:sp>
        <p:nvSpPr>
          <p:cNvPr id="21" name="Text 19"/>
          <p:cNvSpPr txBox="1"/>
          <p:nvPr/>
        </p:nvSpPr>
        <p:spPr>
          <a:xfrm>
            <a:off x="9006840" y="1554480"/>
            <a:ext cx="1600200" cy="914400"/>
          </a:xfrm>
          <a:prstGeom prst="rect">
            <a:avLst/>
          </a:prstGeom>
          <a:noFill/>
          <a:ln/>
        </p:spPr>
        <p:txBody>
          <a:bodyPr wrap="square" lIns="0" tIns="0" rIns="0" bIns="0" rtlCol="0" anchor="ctr"/>
          <a:lstStyle/>
          <a:p>
            <a:pPr algn="r" indent="0" marL="0">
              <a:buNone/>
            </a:pPr>
            <a:r>
              <a:rPr lang="en-US" sz="5400" b="1" dirty="0">
                <a:solidFill>
                  <a:srgbClr val="C6613F"/>
                </a:solidFill>
                <a:latin typeface="Yu Gothic" pitchFamily="34" charset="0"/>
                <a:ea typeface="Yu Gothic" pitchFamily="34" charset="-122"/>
                <a:cs typeface="Yu Gothic" pitchFamily="34" charset="-120"/>
              </a:rPr>
              <a:t>295</a:t>
            </a:r>
            <a:endParaRPr lang="en-US" sz="5400" dirty="0"/>
          </a:p>
        </p:txBody>
      </p:sp>
      <p:sp>
        <p:nvSpPr>
          <p:cNvPr id="22" name="Text 20"/>
          <p:cNvSpPr txBox="1"/>
          <p:nvPr/>
        </p:nvSpPr>
        <p:spPr>
          <a:xfrm>
            <a:off x="10625328" y="1783080"/>
            <a:ext cx="822960" cy="548640"/>
          </a:xfrm>
          <a:prstGeom prst="rect">
            <a:avLst/>
          </a:prstGeom>
          <a:noFill/>
          <a:ln/>
        </p:spPr>
        <p:txBody>
          <a:bodyPr wrap="square" lIns="0" tIns="0" rIns="0" bIns="0" rtlCol="0" anchor="ctr"/>
          <a:lstStyle/>
          <a:p>
            <a:pPr indent="0" marL="0">
              <a:buNone/>
            </a:pPr>
            <a:r>
              <a:rPr lang="en-US" sz="2000" b="1" dirty="0">
                <a:solidFill>
                  <a:srgbClr val="C6613F"/>
                </a:solidFill>
                <a:latin typeface="Yu Gothic" pitchFamily="34" charset="0"/>
                <a:ea typeface="Yu Gothic" pitchFamily="34" charset="-122"/>
                <a:cs typeface="Yu Gothic" pitchFamily="34" charset="-120"/>
              </a:rPr>
              <a:t>回転</a:t>
            </a:r>
            <a:endParaRPr lang="en-US" sz="2000" dirty="0"/>
          </a:p>
        </p:txBody>
      </p:sp>
      <p:sp>
        <p:nvSpPr>
          <p:cNvPr id="23" name="Text 21"/>
          <p:cNvSpPr txBox="1"/>
          <p:nvPr/>
        </p:nvSpPr>
        <p:spPr>
          <a:xfrm>
            <a:off x="9006840" y="2468880"/>
            <a:ext cx="2468880" cy="548640"/>
          </a:xfrm>
          <a:prstGeom prst="rect">
            <a:avLst/>
          </a:prstGeom>
          <a:noFill/>
          <a:ln/>
        </p:spPr>
        <p:txBody>
          <a:bodyPr wrap="square" lIns="0" tIns="0" rIns="0" bIns="0" rtlCol="0" anchor="ctr"/>
          <a:lstStyle/>
          <a:p>
            <a:pPr algn="r" indent="0" marL="0">
              <a:buNone/>
            </a:pPr>
            <a:r>
              <a:rPr lang="en-US" sz="1000" dirty="0">
                <a:solidFill>
                  <a:srgbClr val="6E6960"/>
                </a:solidFill>
                <a:latin typeface="Yu Gothic" pitchFamily="34" charset="0"/>
                <a:ea typeface="Yu Gothic" pitchFamily="34" charset="-122"/>
                <a:cs typeface="Yu Gothic" pitchFamily="34" charset="-120"/>
              </a:rPr>
              <a:t>コードは全量AI実装（Claude Code）</a:t>
            </a:r>
            <a:endParaRPr lang="en-US" sz="1000" dirty="0"/>
          </a:p>
          <a:p>
            <a:pPr algn="r" indent="0" marL="0">
              <a:buNone/>
            </a:pPr>
            <a:r>
              <a:rPr lang="en-US" sz="1000" dirty="0">
                <a:solidFill>
                  <a:srgbClr val="6E6960"/>
                </a:solidFill>
                <a:latin typeface="Yu Gothic" pitchFamily="34" charset="0"/>
                <a:ea typeface="Yu Gothic" pitchFamily="34" charset="-122"/>
                <a:cs typeface="Yu Gothic" pitchFamily="34" charset="-120"/>
              </a:rPr>
              <a:t>人は要望・検証・採否だけ</a:t>
            </a:r>
            <a:endParaRPr lang="en-US" sz="1000" dirty="0"/>
          </a:p>
        </p:txBody>
      </p:sp>
      <p:sp>
        <p:nvSpPr>
          <p:cNvPr id="24" name="Shape 22"/>
          <p:cNvSpPr/>
          <p:nvPr/>
        </p:nvSpPr>
        <p:spPr>
          <a:xfrm>
            <a:off x="548640" y="3246120"/>
            <a:ext cx="3566160" cy="2697480"/>
          </a:xfrm>
          <a:prstGeom prst="roundRect">
            <a:avLst>
              <a:gd name="adj" fmla="val 4068"/>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749808" y="3429000"/>
            <a:ext cx="365760" cy="365760"/>
          </a:xfrm>
          <a:prstGeom prst="ellipse">
            <a:avLst/>
          </a:prstGeom>
          <a:solidFill>
            <a:srgbClr val="C6613F"/>
          </a:solidFill>
          <a:ln w="12700">
            <a:solidFill>
              <a:srgbClr val="C6613F"/>
            </a:solidFill>
            <a:prstDash val="solid"/>
          </a:ln>
        </p:spPr>
      </p:sp>
      <p:sp>
        <p:nvSpPr>
          <p:cNvPr id="26" name="Text 24"/>
          <p:cNvSpPr txBox="1"/>
          <p:nvPr/>
        </p:nvSpPr>
        <p:spPr>
          <a:xfrm>
            <a:off x="749808" y="34290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①</a:t>
            </a:r>
            <a:endParaRPr lang="en-US" sz="1300" dirty="0"/>
          </a:p>
        </p:txBody>
      </p:sp>
      <p:sp>
        <p:nvSpPr>
          <p:cNvPr id="27" name="Text 25"/>
          <p:cNvSpPr txBox="1"/>
          <p:nvPr/>
        </p:nvSpPr>
        <p:spPr>
          <a:xfrm>
            <a:off x="1207008" y="3410712"/>
            <a:ext cx="2743200" cy="402336"/>
          </a:xfrm>
          <a:prstGeom prst="rect">
            <a:avLst/>
          </a:prstGeom>
          <a:noFill/>
          <a:ln/>
        </p:spPr>
        <p:txBody>
          <a:bodyPr wrap="square" lIns="0" tIns="0" rIns="0" bIns="0" rtlCol="0" anchor="ctr"/>
          <a:lstStyle/>
          <a:p>
            <a:pPr indent="0" marL="0">
              <a:buNone/>
            </a:pPr>
            <a:r>
              <a:rPr lang="en-US" sz="1600" b="1" dirty="0">
                <a:solidFill>
                  <a:srgbClr val="1F1E1D"/>
                </a:solidFill>
                <a:latin typeface="Yu Gothic" pitchFamily="34" charset="0"/>
                <a:ea typeface="Yu Gothic" pitchFamily="34" charset="-122"/>
                <a:cs typeface="Yu Gothic" pitchFamily="34" charset="-120"/>
              </a:rPr>
              <a:t>目的と方法</a:t>
            </a:r>
            <a:endParaRPr lang="en-US" sz="1600" dirty="0"/>
          </a:p>
        </p:txBody>
      </p:sp>
      <p:sp>
        <p:nvSpPr>
          <p:cNvPr id="28" name="Text 26"/>
          <p:cNvSpPr txBox="1"/>
          <p:nvPr/>
        </p:nvSpPr>
        <p:spPr>
          <a:xfrm>
            <a:off x="749808" y="3931920"/>
            <a:ext cx="3200400" cy="19202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実装はAIに全量任せ、人は「判断の回数」を最大化する</a:t>
            </a:r>
            <a:endParaRPr lang="en-US" sz="1200" dirty="0"/>
          </a:p>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アプリ内：料理写真を Claude API で 70+ ジャンルに自動判定</a:t>
            </a:r>
            <a:endParaRPr lang="en-US" sz="1200" dirty="0"/>
          </a:p>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迷ったら空欄にして人が選ぶ。キー未設定でも地図タグ推定で動く</a:t>
            </a:r>
            <a:endParaRPr lang="en-US" sz="1200" dirty="0"/>
          </a:p>
        </p:txBody>
      </p:sp>
      <p:sp>
        <p:nvSpPr>
          <p:cNvPr id="29" name="Shape 27"/>
          <p:cNvSpPr/>
          <p:nvPr/>
        </p:nvSpPr>
        <p:spPr>
          <a:xfrm>
            <a:off x="4315968" y="3246120"/>
            <a:ext cx="3566160" cy="2697480"/>
          </a:xfrm>
          <a:prstGeom prst="roundRect">
            <a:avLst>
              <a:gd name="adj" fmla="val 4068"/>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30" name="Shape 28"/>
          <p:cNvSpPr/>
          <p:nvPr/>
        </p:nvSpPr>
        <p:spPr>
          <a:xfrm>
            <a:off x="4517136" y="3429000"/>
            <a:ext cx="365760" cy="365760"/>
          </a:xfrm>
          <a:prstGeom prst="ellipse">
            <a:avLst/>
          </a:prstGeom>
          <a:solidFill>
            <a:srgbClr val="C6613F"/>
          </a:solidFill>
          <a:ln w="12700">
            <a:solidFill>
              <a:srgbClr val="C6613F"/>
            </a:solidFill>
            <a:prstDash val="solid"/>
          </a:ln>
        </p:spPr>
      </p:sp>
      <p:sp>
        <p:nvSpPr>
          <p:cNvPr id="31" name="Text 29"/>
          <p:cNvSpPr txBox="1"/>
          <p:nvPr/>
        </p:nvSpPr>
        <p:spPr>
          <a:xfrm>
            <a:off x="4517136" y="34290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②</a:t>
            </a:r>
            <a:endParaRPr lang="en-US" sz="1300" dirty="0"/>
          </a:p>
        </p:txBody>
      </p:sp>
      <p:sp>
        <p:nvSpPr>
          <p:cNvPr id="32" name="Text 30"/>
          <p:cNvSpPr txBox="1"/>
          <p:nvPr/>
        </p:nvSpPr>
        <p:spPr>
          <a:xfrm>
            <a:off x="4974336" y="3410712"/>
            <a:ext cx="2743200" cy="402336"/>
          </a:xfrm>
          <a:prstGeom prst="rect">
            <a:avLst/>
          </a:prstGeom>
          <a:noFill/>
          <a:ln/>
        </p:spPr>
        <p:txBody>
          <a:bodyPr wrap="square" lIns="0" tIns="0" rIns="0" bIns="0" rtlCol="0" anchor="ctr"/>
          <a:lstStyle/>
          <a:p>
            <a:pPr indent="0" marL="0">
              <a:buNone/>
            </a:pPr>
            <a:r>
              <a:rPr lang="en-US" sz="1600" b="1" dirty="0">
                <a:solidFill>
                  <a:srgbClr val="1F1E1D"/>
                </a:solidFill>
                <a:latin typeface="Yu Gothic" pitchFamily="34" charset="0"/>
                <a:ea typeface="Yu Gothic" pitchFamily="34" charset="-122"/>
                <a:cs typeface="Yu Gothic" pitchFamily="34" charset="-120"/>
              </a:rPr>
              <a:t>プロンプト設計</a:t>
            </a:r>
            <a:endParaRPr lang="en-US" sz="1600" dirty="0"/>
          </a:p>
        </p:txBody>
      </p:sp>
      <p:sp>
        <p:nvSpPr>
          <p:cNvPr id="33" name="Text 31"/>
          <p:cNvSpPr txBox="1"/>
          <p:nvPr/>
        </p:nvSpPr>
        <p:spPr>
          <a:xfrm>
            <a:off x="4517136" y="3931920"/>
            <a:ext cx="3200400" cy="19202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守るルールは CLAUDE.md に明文化し、全会話で共有（版番号4箇所・共通部品・日付非表示）</a:t>
            </a:r>
            <a:endParaRPr lang="en-US" sz="1200" dirty="0"/>
          </a:p>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要望は「現象」で伝える：「タップすると少し前の投稿が出る」。原因特定はAIに任せる</a:t>
            </a:r>
            <a:endParaRPr lang="en-US" sz="1200" dirty="0"/>
          </a:p>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アプリ内の分類器は enum 一覧・confident フラグ・JSON Schema で縛り、幻覚を出さない</a:t>
            </a:r>
            <a:endParaRPr lang="en-US" sz="1200" dirty="0"/>
          </a:p>
        </p:txBody>
      </p:sp>
      <p:sp>
        <p:nvSpPr>
          <p:cNvPr id="34" name="Shape 32"/>
          <p:cNvSpPr/>
          <p:nvPr/>
        </p:nvSpPr>
        <p:spPr>
          <a:xfrm>
            <a:off x="8083296" y="3246120"/>
            <a:ext cx="3566160" cy="2697480"/>
          </a:xfrm>
          <a:prstGeom prst="roundRect">
            <a:avLst>
              <a:gd name="adj" fmla="val 4068"/>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35" name="Shape 33"/>
          <p:cNvSpPr/>
          <p:nvPr/>
        </p:nvSpPr>
        <p:spPr>
          <a:xfrm>
            <a:off x="8284464" y="3429000"/>
            <a:ext cx="365760" cy="365760"/>
          </a:xfrm>
          <a:prstGeom prst="ellipse">
            <a:avLst/>
          </a:prstGeom>
          <a:solidFill>
            <a:srgbClr val="C6613F"/>
          </a:solidFill>
          <a:ln w="12700">
            <a:solidFill>
              <a:srgbClr val="C6613F"/>
            </a:solidFill>
            <a:prstDash val="solid"/>
          </a:ln>
        </p:spPr>
      </p:sp>
      <p:sp>
        <p:nvSpPr>
          <p:cNvPr id="36" name="Text 34"/>
          <p:cNvSpPr txBox="1"/>
          <p:nvPr/>
        </p:nvSpPr>
        <p:spPr>
          <a:xfrm>
            <a:off x="8284464" y="34290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③</a:t>
            </a:r>
            <a:endParaRPr lang="en-US" sz="1300" dirty="0"/>
          </a:p>
        </p:txBody>
      </p:sp>
      <p:sp>
        <p:nvSpPr>
          <p:cNvPr id="37" name="Text 35"/>
          <p:cNvSpPr txBox="1"/>
          <p:nvPr/>
        </p:nvSpPr>
        <p:spPr>
          <a:xfrm>
            <a:off x="8741664" y="3410712"/>
            <a:ext cx="2743200" cy="402336"/>
          </a:xfrm>
          <a:prstGeom prst="rect">
            <a:avLst/>
          </a:prstGeom>
          <a:noFill/>
          <a:ln/>
        </p:spPr>
        <p:txBody>
          <a:bodyPr wrap="square" lIns="0" tIns="0" rIns="0" bIns="0" rtlCol="0" anchor="ctr"/>
          <a:lstStyle/>
          <a:p>
            <a:pPr indent="0" marL="0">
              <a:buNone/>
            </a:pPr>
            <a:r>
              <a:rPr lang="en-US" sz="1600" b="1" dirty="0">
                <a:solidFill>
                  <a:srgbClr val="1F1E1D"/>
                </a:solidFill>
                <a:latin typeface="Yu Gothic" pitchFamily="34" charset="0"/>
                <a:ea typeface="Yu Gothic" pitchFamily="34" charset="-122"/>
                <a:cs typeface="Yu Gothic" pitchFamily="34" charset="-120"/>
              </a:rPr>
              <a:t>人の判断・修正</a:t>
            </a:r>
            <a:endParaRPr lang="en-US" sz="1600" dirty="0"/>
          </a:p>
        </p:txBody>
      </p:sp>
      <p:sp>
        <p:nvSpPr>
          <p:cNvPr id="38" name="Text 36"/>
          <p:cNvSpPr txBox="1"/>
          <p:nvPr/>
        </p:nvSpPr>
        <p:spPr>
          <a:xfrm>
            <a:off x="8284464" y="3931920"/>
            <a:ext cx="3200400" cy="19202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写真一覧の2列化：実機で「一覧性が落ちた」→ 3版分を差し戻し</a:t>
            </a:r>
            <a:endParaRPr lang="en-US" sz="1200" dirty="0"/>
          </a:p>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味覚一致率：偶然の一致を防ぐ「共通5件未満は非表示」を人が定義</a:t>
            </a:r>
            <a:endParaRPr lang="en-US" sz="1200" dirty="0"/>
          </a:p>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AIの「直りました」を実機で差し戻し、計測で本当の原因を特定させた（次ページ）</a:t>
            </a:r>
            <a:endParaRPr lang="en-US" sz="1200" dirty="0"/>
          </a:p>
        </p:txBody>
      </p:sp>
      <p:sp>
        <p:nvSpPr>
          <p:cNvPr id="39" name="Text 37"/>
          <p:cNvSpPr txBox="1"/>
          <p:nvPr/>
        </p:nvSpPr>
        <p:spPr>
          <a:xfrm>
            <a:off x="548640" y="6053328"/>
            <a:ext cx="11064240" cy="292608"/>
          </a:xfrm>
          <a:prstGeom prst="rect">
            <a:avLst/>
          </a:prstGeom>
          <a:noFill/>
          <a:ln/>
        </p:spPr>
        <p:txBody>
          <a:bodyPr wrap="square" lIns="0" tIns="0" rIns="0" bIns="0" rtlCol="0" anchor="ctr"/>
          <a:lstStyle/>
          <a:p>
            <a:pPr algn="r" indent="0" marL="0">
              <a:buNone/>
            </a:pPr>
            <a:r>
              <a:rPr lang="en-US" sz="1100" b="1" dirty="0">
                <a:solidFill>
                  <a:srgbClr val="C6613F"/>
                </a:solidFill>
                <a:latin typeface="Yu Gothic" pitchFamily="34" charset="0"/>
                <a:ea typeface="Yu Gothic" pitchFamily="34" charset="-122"/>
                <a:cs typeface="Yu Gothic" pitchFamily="34" charset="-120"/>
              </a:rPr>
              <a:t>原則：AIの出力は「提案」。採否は必ず実機で触って決める</a:t>
            </a:r>
            <a:endParaRPr lang="en-US" sz="1100" dirty="0"/>
          </a:p>
        </p:txBody>
      </p:sp>
      <p:sp>
        <p:nvSpPr>
          <p:cNvPr id="40" name="Text 3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41" name="Text 39"/>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予選後の改良 ｜ 実利用で見つけた課題を、同じループで</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AIは「直った」と言った。人が触ると、直っていなかった。</a:t>
            </a:r>
            <a:endParaRPr lang="en-US" sz="3000" dirty="0"/>
          </a:p>
        </p:txBody>
      </p:sp>
      <p:sp>
        <p:nvSpPr>
          <p:cNvPr id="4" name="Shape 2"/>
          <p:cNvSpPr/>
          <p:nvPr/>
        </p:nvSpPr>
        <p:spPr>
          <a:xfrm>
            <a:off x="548640" y="1463040"/>
            <a:ext cx="11091672" cy="1691640"/>
          </a:xfrm>
          <a:prstGeom prst="roundRect">
            <a:avLst>
              <a:gd name="adj" fmla="val 6486"/>
            </a:avLst>
          </a:prstGeom>
          <a:solidFill>
            <a:srgbClr val="2B2825"/>
          </a:solidFill>
          <a:ln w="12700">
            <a:solidFill>
              <a:srgbClr val="2B2825"/>
            </a:solidFill>
            <a:prstDash val="solid"/>
          </a:ln>
        </p:spPr>
      </p:sp>
      <p:sp>
        <p:nvSpPr>
          <p:cNvPr id="5" name="Text 3"/>
          <p:cNvSpPr txBox="1"/>
          <p:nvPr/>
        </p:nvSpPr>
        <p:spPr>
          <a:xfrm>
            <a:off x="777240" y="1554480"/>
            <a:ext cx="5486400" cy="320040"/>
          </a:xfrm>
          <a:prstGeom prst="rect">
            <a:avLst/>
          </a:prstGeom>
          <a:noFill/>
          <a:ln/>
        </p:spPr>
        <p:txBody>
          <a:bodyPr wrap="square" lIns="0" tIns="0" rIns="0" bIns="0" rtlCol="0" anchor="ctr"/>
          <a:lstStyle/>
          <a:p>
            <a:pPr indent="0" marL="0">
              <a:buNone/>
            </a:pPr>
            <a:r>
              <a:rPr lang="en-US" sz="1200" b="1" dirty="0">
                <a:solidFill>
                  <a:srgbClr val="FFD75E"/>
                </a:solidFill>
                <a:latin typeface="Yu Gothic" pitchFamily="34" charset="0"/>
                <a:ea typeface="Yu Gothic" pitchFamily="34" charset="-122"/>
                <a:cs typeface="Yu Gothic" pitchFamily="34" charset="-120"/>
              </a:rPr>
              <a:t>投稿詳細のスクロールが、途中で止まる</a:t>
            </a:r>
            <a:endParaRPr lang="en-US" sz="1200" dirty="0"/>
          </a:p>
        </p:txBody>
      </p:sp>
      <p:sp>
        <p:nvSpPr>
          <p:cNvPr id="6" name="Shape 4"/>
          <p:cNvSpPr/>
          <p:nvPr/>
        </p:nvSpPr>
        <p:spPr>
          <a:xfrm>
            <a:off x="777240" y="1965960"/>
            <a:ext cx="2468880" cy="1051560"/>
          </a:xfrm>
          <a:prstGeom prst="roundRect">
            <a:avLst>
              <a:gd name="adj" fmla="val 8696"/>
            </a:avLst>
          </a:prstGeom>
          <a:solidFill>
            <a:srgbClr val="EEF3FB"/>
          </a:solidFill>
          <a:ln w="12700">
            <a:solidFill>
              <a:srgbClr val="EEF3FB"/>
            </a:solidFill>
            <a:prstDash val="solid"/>
          </a:ln>
        </p:spPr>
      </p:sp>
      <p:sp>
        <p:nvSpPr>
          <p:cNvPr id="7" name="Text 5"/>
          <p:cNvSpPr txBox="1"/>
          <p:nvPr/>
        </p:nvSpPr>
        <p:spPr>
          <a:xfrm>
            <a:off x="868680" y="2011680"/>
            <a:ext cx="411480" cy="274320"/>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AI</a:t>
            </a:r>
            <a:endParaRPr lang="en-US" sz="1050" dirty="0"/>
          </a:p>
        </p:txBody>
      </p:sp>
      <p:sp>
        <p:nvSpPr>
          <p:cNvPr id="8" name="Text 6"/>
          <p:cNvSpPr txBox="1"/>
          <p:nvPr/>
        </p:nvSpPr>
        <p:spPr>
          <a:xfrm>
            <a:off x="886968" y="2286000"/>
            <a:ext cx="2286000" cy="713232"/>
          </a:xfrm>
          <a:prstGeom prst="rect">
            <a:avLst/>
          </a:prstGeom>
          <a:noFill/>
          <a:ln/>
        </p:spPr>
        <p:txBody>
          <a:bodyPr wrap="square" lIns="0" tIns="0" rIns="0" bIns="0" rtlCol="0" anchor="t"/>
          <a:lstStyle/>
          <a:p>
            <a:pPr indent="0" marL="0">
              <a:buNone/>
            </a:pPr>
            <a:r>
              <a:rPr lang="en-US" sz="1100" dirty="0">
                <a:solidFill>
                  <a:srgbClr val="1F1E1D"/>
                </a:solidFill>
                <a:latin typeface="Yu Gothic" pitchFamily="34" charset="0"/>
                <a:ea typeface="Yu Gothic" pitchFamily="34" charset="-122"/>
                <a:cs typeface="Yu Gothic" pitchFamily="34" charset="-120"/>
              </a:rPr>
              <a:t>1回目の修正</a:t>
            </a:r>
            <a:endParaRPr lang="en-US" sz="1100" dirty="0"/>
          </a:p>
          <a:p>
            <a:pPr indent="0" marL="0">
              <a:buNone/>
            </a:pPr>
            <a:r>
              <a:rPr lang="en-US" sz="1100" dirty="0">
                <a:solidFill>
                  <a:srgbClr val="1F1E1D"/>
                </a:solidFill>
                <a:latin typeface="Yu Gothic" pitchFamily="34" charset="0"/>
                <a:ea typeface="Yu Gothic" pitchFamily="34" charset="-122"/>
                <a:cs typeface="Yu Gothic" pitchFamily="34" charset="-120"/>
              </a:rPr>
              <a:t>「直りました」</a:t>
            </a:r>
            <a:endParaRPr lang="en-US" sz="1100" dirty="0"/>
          </a:p>
        </p:txBody>
      </p:sp>
      <p:sp>
        <p:nvSpPr>
          <p:cNvPr id="9" name="Text 7"/>
          <p:cNvSpPr txBox="1"/>
          <p:nvPr/>
        </p:nvSpPr>
        <p:spPr>
          <a:xfrm>
            <a:off x="3264408" y="2331720"/>
            <a:ext cx="256032" cy="320040"/>
          </a:xfrm>
          <a:prstGeom prst="rect">
            <a:avLst/>
          </a:prstGeom>
          <a:noFill/>
          <a:ln/>
        </p:spPr>
        <p:txBody>
          <a:bodyPr wrap="square" lIns="0" tIns="0" rIns="0" bIns="0" rtlCol="0" anchor="ctr"/>
          <a:lstStyle/>
          <a:p>
            <a:pPr algn="ctr" indent="0" marL="0">
              <a:buNone/>
            </a:pPr>
            <a:r>
              <a:rPr lang="en-US" sz="1200" dirty="0">
                <a:solidFill>
                  <a:srgbClr val="FFD75E"/>
                </a:solidFill>
              </a:rPr>
              <a:t>▶</a:t>
            </a:r>
            <a:endParaRPr lang="en-US" sz="1200" dirty="0"/>
          </a:p>
        </p:txBody>
      </p:sp>
      <p:sp>
        <p:nvSpPr>
          <p:cNvPr id="10" name="Shape 8"/>
          <p:cNvSpPr/>
          <p:nvPr/>
        </p:nvSpPr>
        <p:spPr>
          <a:xfrm>
            <a:off x="3520440" y="1965960"/>
            <a:ext cx="2468880" cy="1051560"/>
          </a:xfrm>
          <a:prstGeom prst="roundRect">
            <a:avLst>
              <a:gd name="adj" fmla="val 8696"/>
            </a:avLst>
          </a:prstGeom>
          <a:solidFill>
            <a:srgbClr val="FBEFE9"/>
          </a:solidFill>
          <a:ln w="12700">
            <a:solidFill>
              <a:srgbClr val="FBEFE9"/>
            </a:solidFill>
            <a:prstDash val="solid"/>
          </a:ln>
        </p:spPr>
      </p:sp>
      <p:sp>
        <p:nvSpPr>
          <p:cNvPr id="11" name="Text 9"/>
          <p:cNvSpPr txBox="1"/>
          <p:nvPr/>
        </p:nvSpPr>
        <p:spPr>
          <a:xfrm>
            <a:off x="3611880" y="2011680"/>
            <a:ext cx="411480" cy="274320"/>
          </a:xfrm>
          <a:prstGeom prst="rect">
            <a:avLst/>
          </a:prstGeom>
          <a:noFill/>
          <a:ln/>
        </p:spPr>
        <p:txBody>
          <a:bodyPr wrap="square" lIns="0" tIns="0" rIns="0" bIns="0" rtlCol="0" anchor="ctr"/>
          <a:lstStyle/>
          <a:p>
            <a:pPr indent="0" marL="0">
              <a:buNone/>
            </a:pPr>
            <a:r>
              <a:rPr lang="en-US" sz="1050" b="1" dirty="0">
                <a:solidFill>
                  <a:srgbClr val="C6613F"/>
                </a:solidFill>
                <a:latin typeface="Yu Gothic" pitchFamily="34" charset="0"/>
                <a:ea typeface="Yu Gothic" pitchFamily="34" charset="-122"/>
                <a:cs typeface="Yu Gothic" pitchFamily="34" charset="-120"/>
              </a:rPr>
              <a:t>人</a:t>
            </a:r>
            <a:endParaRPr lang="en-US" sz="1050" dirty="0"/>
          </a:p>
        </p:txBody>
      </p:sp>
      <p:sp>
        <p:nvSpPr>
          <p:cNvPr id="12" name="Text 10"/>
          <p:cNvSpPr txBox="1"/>
          <p:nvPr/>
        </p:nvSpPr>
        <p:spPr>
          <a:xfrm>
            <a:off x="3630168" y="2286000"/>
            <a:ext cx="2286000" cy="713232"/>
          </a:xfrm>
          <a:prstGeom prst="rect">
            <a:avLst/>
          </a:prstGeom>
          <a:noFill/>
          <a:ln/>
        </p:spPr>
        <p:txBody>
          <a:bodyPr wrap="square" lIns="0" tIns="0" rIns="0" bIns="0" rtlCol="0" anchor="t"/>
          <a:lstStyle/>
          <a:p>
            <a:pPr indent="0" marL="0">
              <a:buNone/>
            </a:pPr>
            <a:r>
              <a:rPr lang="en-US" sz="1100" dirty="0">
                <a:solidFill>
                  <a:srgbClr val="1F1E1D"/>
                </a:solidFill>
                <a:latin typeface="Yu Gothic" pitchFamily="34" charset="0"/>
                <a:ea typeface="Yu Gothic" pitchFamily="34" charset="-122"/>
                <a:cs typeface="Yu Gothic" pitchFamily="34" charset="-120"/>
              </a:rPr>
              <a:t>実機で確認</a:t>
            </a:r>
            <a:endParaRPr lang="en-US" sz="1100" dirty="0"/>
          </a:p>
          <a:p>
            <a:pPr indent="0" marL="0">
              <a:buNone/>
            </a:pPr>
            <a:r>
              <a:rPr lang="en-US" sz="1100" dirty="0">
                <a:solidFill>
                  <a:srgbClr val="1F1E1D"/>
                </a:solidFill>
                <a:latin typeface="Yu Gothic" pitchFamily="34" charset="0"/>
                <a:ea typeface="Yu Gothic" pitchFamily="34" charset="-122"/>
                <a:cs typeface="Yu Gothic" pitchFamily="34" charset="-120"/>
              </a:rPr>
              <a:t>「まだ滑らかでない」→差し戻し</a:t>
            </a:r>
            <a:endParaRPr lang="en-US" sz="1100" dirty="0"/>
          </a:p>
        </p:txBody>
      </p:sp>
      <p:sp>
        <p:nvSpPr>
          <p:cNvPr id="13" name="Text 11"/>
          <p:cNvSpPr txBox="1"/>
          <p:nvPr/>
        </p:nvSpPr>
        <p:spPr>
          <a:xfrm>
            <a:off x="6007608" y="2331720"/>
            <a:ext cx="256032" cy="320040"/>
          </a:xfrm>
          <a:prstGeom prst="rect">
            <a:avLst/>
          </a:prstGeom>
          <a:noFill/>
          <a:ln/>
        </p:spPr>
        <p:txBody>
          <a:bodyPr wrap="square" lIns="0" tIns="0" rIns="0" bIns="0" rtlCol="0" anchor="ctr"/>
          <a:lstStyle/>
          <a:p>
            <a:pPr algn="ctr" indent="0" marL="0">
              <a:buNone/>
            </a:pPr>
            <a:r>
              <a:rPr lang="en-US" sz="1200" dirty="0">
                <a:solidFill>
                  <a:srgbClr val="FFD75E"/>
                </a:solidFill>
              </a:rPr>
              <a:t>▶</a:t>
            </a:r>
            <a:endParaRPr lang="en-US" sz="1200" dirty="0"/>
          </a:p>
        </p:txBody>
      </p:sp>
      <p:sp>
        <p:nvSpPr>
          <p:cNvPr id="14" name="Shape 12"/>
          <p:cNvSpPr/>
          <p:nvPr/>
        </p:nvSpPr>
        <p:spPr>
          <a:xfrm>
            <a:off x="6263640" y="1965960"/>
            <a:ext cx="2468880" cy="1051560"/>
          </a:xfrm>
          <a:prstGeom prst="roundRect">
            <a:avLst>
              <a:gd name="adj" fmla="val 8696"/>
            </a:avLst>
          </a:prstGeom>
          <a:solidFill>
            <a:srgbClr val="EEF3FB"/>
          </a:solidFill>
          <a:ln w="12700">
            <a:solidFill>
              <a:srgbClr val="EEF3FB"/>
            </a:solidFill>
            <a:prstDash val="solid"/>
          </a:ln>
        </p:spPr>
      </p:sp>
      <p:sp>
        <p:nvSpPr>
          <p:cNvPr id="15" name="Text 13"/>
          <p:cNvSpPr txBox="1"/>
          <p:nvPr/>
        </p:nvSpPr>
        <p:spPr>
          <a:xfrm>
            <a:off x="6355080" y="2011680"/>
            <a:ext cx="411480" cy="274320"/>
          </a:xfrm>
          <a:prstGeom prst="rect">
            <a:avLst/>
          </a:prstGeom>
          <a:noFill/>
          <a:ln/>
        </p:spPr>
        <p:txBody>
          <a:bodyPr wrap="square" lIns="0" tIns="0" rIns="0" bIns="0" rtlCol="0" anchor="ctr"/>
          <a:lstStyle/>
          <a:p>
            <a:pPr indent="0" marL="0">
              <a:buNone/>
            </a:pPr>
            <a:r>
              <a:rPr lang="en-US" sz="1050" b="1" dirty="0">
                <a:solidFill>
                  <a:srgbClr val="2F5D8A"/>
                </a:solidFill>
                <a:latin typeface="Yu Gothic" pitchFamily="34" charset="0"/>
                <a:ea typeface="Yu Gothic" pitchFamily="34" charset="-122"/>
                <a:cs typeface="Yu Gothic" pitchFamily="34" charset="-120"/>
              </a:rPr>
              <a:t>AI</a:t>
            </a:r>
            <a:endParaRPr lang="en-US" sz="1050" dirty="0"/>
          </a:p>
        </p:txBody>
      </p:sp>
      <p:sp>
        <p:nvSpPr>
          <p:cNvPr id="16" name="Text 14"/>
          <p:cNvSpPr txBox="1"/>
          <p:nvPr/>
        </p:nvSpPr>
        <p:spPr>
          <a:xfrm>
            <a:off x="6373368" y="2286000"/>
            <a:ext cx="2286000" cy="713232"/>
          </a:xfrm>
          <a:prstGeom prst="rect">
            <a:avLst/>
          </a:prstGeom>
          <a:noFill/>
          <a:ln/>
        </p:spPr>
        <p:txBody>
          <a:bodyPr wrap="square" lIns="0" tIns="0" rIns="0" bIns="0" rtlCol="0" anchor="t"/>
          <a:lstStyle/>
          <a:p>
            <a:pPr indent="0" marL="0">
              <a:buNone/>
            </a:pPr>
            <a:r>
              <a:rPr lang="en-US" sz="1100" dirty="0">
                <a:solidFill>
                  <a:srgbClr val="1F1E1D"/>
                </a:solidFill>
                <a:latin typeface="Yu Gothic" pitchFamily="34" charset="0"/>
                <a:ea typeface="Yu Gothic" pitchFamily="34" charset="-122"/>
                <a:cs typeface="Yu Gothic" pitchFamily="34" charset="-120"/>
              </a:rPr>
              <a:t>計測させて原因を特定</a:t>
            </a:r>
            <a:endParaRPr lang="en-US" sz="1100" dirty="0"/>
          </a:p>
          <a:p>
            <a:pPr indent="0" marL="0">
              <a:buNone/>
            </a:pPr>
            <a:r>
              <a:rPr lang="en-US" sz="1100" dirty="0">
                <a:solidFill>
                  <a:srgbClr val="1F1E1D"/>
                </a:solidFill>
                <a:latin typeface="Yu Gothic" pitchFamily="34" charset="0"/>
                <a:ea typeface="Yu Gothic" pitchFamily="34" charset="-122"/>
                <a:cs typeface="Yu Gothic" pitchFamily="34" charset="-120"/>
              </a:rPr>
              <a:t>（位置補正の切り詰め）</a:t>
            </a:r>
            <a:endParaRPr lang="en-US" sz="1100" dirty="0"/>
          </a:p>
        </p:txBody>
      </p:sp>
      <p:sp>
        <p:nvSpPr>
          <p:cNvPr id="17" name="Text 15"/>
          <p:cNvSpPr txBox="1"/>
          <p:nvPr/>
        </p:nvSpPr>
        <p:spPr>
          <a:xfrm>
            <a:off x="8750808" y="2331720"/>
            <a:ext cx="256032" cy="320040"/>
          </a:xfrm>
          <a:prstGeom prst="rect">
            <a:avLst/>
          </a:prstGeom>
          <a:noFill/>
          <a:ln/>
        </p:spPr>
        <p:txBody>
          <a:bodyPr wrap="square" lIns="0" tIns="0" rIns="0" bIns="0" rtlCol="0" anchor="ctr"/>
          <a:lstStyle/>
          <a:p>
            <a:pPr algn="ctr" indent="0" marL="0">
              <a:buNone/>
            </a:pPr>
            <a:r>
              <a:rPr lang="en-US" sz="1200" dirty="0">
                <a:solidFill>
                  <a:srgbClr val="FFD75E"/>
                </a:solidFill>
              </a:rPr>
              <a:t>▶</a:t>
            </a:r>
            <a:endParaRPr lang="en-US" sz="1200" dirty="0"/>
          </a:p>
        </p:txBody>
      </p:sp>
      <p:sp>
        <p:nvSpPr>
          <p:cNvPr id="18" name="Shape 16"/>
          <p:cNvSpPr/>
          <p:nvPr/>
        </p:nvSpPr>
        <p:spPr>
          <a:xfrm>
            <a:off x="9006840" y="1965960"/>
            <a:ext cx="2468880" cy="1051560"/>
          </a:xfrm>
          <a:prstGeom prst="roundRect">
            <a:avLst>
              <a:gd name="adj" fmla="val 8696"/>
            </a:avLst>
          </a:prstGeom>
          <a:solidFill>
            <a:srgbClr val="FBEFE9"/>
          </a:solidFill>
          <a:ln w="12700">
            <a:solidFill>
              <a:srgbClr val="FBEFE9"/>
            </a:solidFill>
            <a:prstDash val="solid"/>
          </a:ln>
        </p:spPr>
      </p:sp>
      <p:sp>
        <p:nvSpPr>
          <p:cNvPr id="19" name="Text 17"/>
          <p:cNvSpPr txBox="1"/>
          <p:nvPr/>
        </p:nvSpPr>
        <p:spPr>
          <a:xfrm>
            <a:off x="9098280" y="2011680"/>
            <a:ext cx="411480" cy="274320"/>
          </a:xfrm>
          <a:prstGeom prst="rect">
            <a:avLst/>
          </a:prstGeom>
          <a:noFill/>
          <a:ln/>
        </p:spPr>
        <p:txBody>
          <a:bodyPr wrap="square" lIns="0" tIns="0" rIns="0" bIns="0" rtlCol="0" anchor="ctr"/>
          <a:lstStyle/>
          <a:p>
            <a:pPr indent="0" marL="0">
              <a:buNone/>
            </a:pPr>
            <a:r>
              <a:rPr lang="en-US" sz="1050" b="1" dirty="0">
                <a:solidFill>
                  <a:srgbClr val="C6613F"/>
                </a:solidFill>
                <a:latin typeface="Yu Gothic" pitchFamily="34" charset="0"/>
                <a:ea typeface="Yu Gothic" pitchFamily="34" charset="-122"/>
                <a:cs typeface="Yu Gothic" pitchFamily="34" charset="-120"/>
              </a:rPr>
              <a:t>人</a:t>
            </a:r>
            <a:endParaRPr lang="en-US" sz="1050" dirty="0"/>
          </a:p>
        </p:txBody>
      </p:sp>
      <p:sp>
        <p:nvSpPr>
          <p:cNvPr id="20" name="Text 18"/>
          <p:cNvSpPr txBox="1"/>
          <p:nvPr/>
        </p:nvSpPr>
        <p:spPr>
          <a:xfrm>
            <a:off x="9116568" y="2286000"/>
            <a:ext cx="2286000" cy="713232"/>
          </a:xfrm>
          <a:prstGeom prst="rect">
            <a:avLst/>
          </a:prstGeom>
          <a:noFill/>
          <a:ln/>
        </p:spPr>
        <p:txBody>
          <a:bodyPr wrap="square" lIns="0" tIns="0" rIns="0" bIns="0" rtlCol="0" anchor="t"/>
          <a:lstStyle/>
          <a:p>
            <a:pPr indent="0" marL="0">
              <a:buNone/>
            </a:pPr>
            <a:r>
              <a:rPr lang="en-US" sz="1100" dirty="0">
                <a:solidFill>
                  <a:srgbClr val="1F1E1D"/>
                </a:solidFill>
                <a:latin typeface="Yu Gothic" pitchFamily="34" charset="0"/>
                <a:ea typeface="Yu Gothic" pitchFamily="34" charset="-122"/>
                <a:cs typeface="Yu Gothic" pitchFamily="34" charset="-120"/>
              </a:rPr>
              <a:t>方式変更を実機で検証</a:t>
            </a:r>
            <a:endParaRPr lang="en-US" sz="1100" dirty="0"/>
          </a:p>
          <a:p>
            <a:pPr indent="0" marL="0">
              <a:buNone/>
            </a:pPr>
            <a:r>
              <a:rPr lang="en-US" sz="1100" dirty="0">
                <a:solidFill>
                  <a:srgbClr val="1F1E1D"/>
                </a:solidFill>
                <a:latin typeface="Yu Gothic" pitchFamily="34" charset="0"/>
                <a:ea typeface="Yu Gothic" pitchFamily="34" charset="-122"/>
                <a:cs typeface="Yu Gothic" pitchFamily="34" charset="-120"/>
              </a:rPr>
              <a:t>→ 採用</a:t>
            </a:r>
            <a:endParaRPr lang="en-US" sz="1100" dirty="0"/>
          </a:p>
        </p:txBody>
      </p:sp>
      <p:sp>
        <p:nvSpPr>
          <p:cNvPr id="21" name="Text 19"/>
          <p:cNvSpPr txBox="1"/>
          <p:nvPr/>
        </p:nvSpPr>
        <p:spPr>
          <a:xfrm>
            <a:off x="6309360" y="1554480"/>
            <a:ext cx="5120640" cy="320040"/>
          </a:xfrm>
          <a:prstGeom prst="rect">
            <a:avLst/>
          </a:prstGeom>
          <a:noFill/>
          <a:ln/>
        </p:spPr>
        <p:txBody>
          <a:bodyPr wrap="square" lIns="0" tIns="0" rIns="0" bIns="0" rtlCol="0" anchor="ctr"/>
          <a:lstStyle/>
          <a:p>
            <a:pPr algn="r" indent="0" marL="0">
              <a:buNone/>
            </a:pPr>
            <a:r>
              <a:rPr lang="en-US" sz="1050" dirty="0">
                <a:solidFill>
                  <a:srgbClr val="F4EFE8"/>
                </a:solidFill>
                <a:latin typeface="Yu Gothic" pitchFamily="34" charset="0"/>
                <a:ea typeface="Yu Gothic" pitchFamily="34" charset="-122"/>
                <a:cs typeface="Yu Gothic" pitchFamily="34" charset="-120"/>
              </a:rPr>
              <a:t>AIの報告を鵜呑みにせず、実機で触って判断する</a:t>
            </a:r>
            <a:endParaRPr lang="en-US" sz="1050" dirty="0"/>
          </a:p>
        </p:txBody>
      </p:sp>
      <p:sp>
        <p:nvSpPr>
          <p:cNvPr id="22" name="Text 20"/>
          <p:cNvSpPr txBox="1"/>
          <p:nvPr/>
        </p:nvSpPr>
        <p:spPr>
          <a:xfrm>
            <a:off x="548640" y="3310128"/>
            <a:ext cx="5120640" cy="320040"/>
          </a:xfrm>
          <a:prstGeom prst="rect">
            <a:avLst/>
          </a:prstGeom>
          <a:noFill/>
          <a:ln/>
        </p:spPr>
        <p:txBody>
          <a:bodyPr wrap="square" lIns="0" tIns="0" rIns="0" bIns="0" rtlCol="0" anchor="ctr"/>
          <a:lstStyle/>
          <a:p>
            <a:pPr indent="0" marL="0">
              <a:buNone/>
            </a:pPr>
            <a:r>
              <a:rPr lang="en-US" sz="1300" b="1" dirty="0">
                <a:solidFill>
                  <a:srgbClr val="8A857D"/>
                </a:solidFill>
                <a:latin typeface="Yu Gothic" pitchFamily="34" charset="0"/>
                <a:ea typeface="Yu Gothic" pitchFamily="34" charset="-122"/>
                <a:cs typeface="Yu Gothic" pitchFamily="34" charset="-120"/>
              </a:rPr>
              <a:t>Before ― 予選のとき</a:t>
            </a:r>
            <a:endParaRPr lang="en-US" sz="1300" dirty="0"/>
          </a:p>
        </p:txBody>
      </p:sp>
      <p:sp>
        <p:nvSpPr>
          <p:cNvPr id="23" name="Text 21"/>
          <p:cNvSpPr txBox="1"/>
          <p:nvPr/>
        </p:nvSpPr>
        <p:spPr>
          <a:xfrm>
            <a:off x="6492240" y="3310128"/>
            <a:ext cx="5120640" cy="320040"/>
          </a:xfrm>
          <a:prstGeom prst="rect">
            <a:avLst/>
          </a:prstGeom>
          <a:noFill/>
          <a:ln/>
        </p:spPr>
        <p:txBody>
          <a:bodyPr wrap="square" lIns="0" tIns="0" rIns="0" bIns="0" rtlCol="0" anchor="ctr"/>
          <a:lstStyle/>
          <a:p>
            <a:pPr indent="0" marL="0">
              <a:buNone/>
            </a:pPr>
            <a:r>
              <a:rPr lang="en-US" sz="1300" b="1" dirty="0">
                <a:solidFill>
                  <a:srgbClr val="C6613F"/>
                </a:solidFill>
                <a:latin typeface="Yu Gothic" pitchFamily="34" charset="0"/>
                <a:ea typeface="Yu Gothic" pitchFamily="34" charset="-122"/>
                <a:cs typeface="Yu Gothic" pitchFamily="34" charset="-120"/>
              </a:rPr>
              <a:t>After ― 決勝のいま</a:t>
            </a:r>
            <a:endParaRPr lang="en-US" sz="1300" dirty="0"/>
          </a:p>
        </p:txBody>
      </p:sp>
      <p:sp>
        <p:nvSpPr>
          <p:cNvPr id="24" name="Shape 22"/>
          <p:cNvSpPr/>
          <p:nvPr/>
        </p:nvSpPr>
        <p:spPr>
          <a:xfrm>
            <a:off x="548640" y="3694176"/>
            <a:ext cx="5120640" cy="438912"/>
          </a:xfrm>
          <a:prstGeom prst="roundRect">
            <a:avLst>
              <a:gd name="adj" fmla="val 16667"/>
            </a:avLst>
          </a:prstGeom>
          <a:solidFill>
            <a:srgbClr val="F3F1EC"/>
          </a:solidFill>
          <a:ln w="12700">
            <a:solidFill>
              <a:srgbClr val="F3F1EC"/>
            </a:solidFill>
            <a:prstDash val="solid"/>
          </a:ln>
        </p:spPr>
      </p:sp>
      <p:sp>
        <p:nvSpPr>
          <p:cNvPr id="25" name="Text 23"/>
          <p:cNvSpPr txBox="1"/>
          <p:nvPr/>
        </p:nvSpPr>
        <p:spPr>
          <a:xfrm>
            <a:off x="685800" y="3694176"/>
            <a:ext cx="4892040" cy="438912"/>
          </a:xfrm>
          <a:prstGeom prst="rect">
            <a:avLst/>
          </a:prstGeom>
          <a:noFill/>
          <a:ln/>
        </p:spPr>
        <p:txBody>
          <a:bodyPr wrap="square" lIns="0" tIns="0" rIns="0" bIns="0" rtlCol="0" anchor="ctr"/>
          <a:lstStyle/>
          <a:p>
            <a:pPr indent="0" marL="0">
              <a:buNone/>
            </a:pPr>
            <a:r>
              <a:rPr lang="en-US" sz="1100" dirty="0">
                <a:solidFill>
                  <a:srgbClr val="6E6960"/>
                </a:solidFill>
                <a:latin typeface="Yu Gothic" pitchFamily="34" charset="0"/>
                <a:ea typeface="Yu Gothic" pitchFamily="34" charset="-122"/>
                <a:cs typeface="Yu Gothic" pitchFamily="34" charset="-120"/>
              </a:rPr>
              <a:t>検索の写真一覧をタップすると「少し前の投稿」が開く</a:t>
            </a:r>
            <a:endParaRPr lang="en-US" sz="1100" dirty="0"/>
          </a:p>
        </p:txBody>
      </p:sp>
      <p:sp>
        <p:nvSpPr>
          <p:cNvPr id="26" name="Shape 24"/>
          <p:cNvSpPr/>
          <p:nvPr/>
        </p:nvSpPr>
        <p:spPr>
          <a:xfrm>
            <a:off x="5852160" y="3767328"/>
            <a:ext cx="457200" cy="310896"/>
          </a:xfrm>
          <a:prstGeom prst="rightArrow">
            <a:avLst/>
          </a:prstGeom>
          <a:solidFill>
            <a:srgbClr val="D9CFC2"/>
          </a:solidFill>
          <a:ln w="12700">
            <a:solidFill>
              <a:srgbClr val="D9CFC2"/>
            </a:solidFill>
            <a:prstDash val="solid"/>
          </a:ln>
        </p:spPr>
      </p:sp>
      <p:sp>
        <p:nvSpPr>
          <p:cNvPr id="27" name="Shape 25"/>
          <p:cNvSpPr/>
          <p:nvPr/>
        </p:nvSpPr>
        <p:spPr>
          <a:xfrm>
            <a:off x="6492240" y="3694176"/>
            <a:ext cx="5148072" cy="438912"/>
          </a:xfrm>
          <a:prstGeom prst="roundRect">
            <a:avLst>
              <a:gd name="adj" fmla="val 16667"/>
            </a:avLst>
          </a:prstGeom>
          <a:solidFill>
            <a:srgbClr val="FBEFE9"/>
          </a:solidFill>
          <a:ln w="9525">
            <a:solidFill>
              <a:srgbClr val="EFD3C6"/>
            </a:solidFill>
            <a:prstDash val="solid"/>
          </a:ln>
        </p:spPr>
      </p:sp>
      <p:sp>
        <p:nvSpPr>
          <p:cNvPr id="28" name="Text 26"/>
          <p:cNvSpPr txBox="1"/>
          <p:nvPr/>
        </p:nvSpPr>
        <p:spPr>
          <a:xfrm>
            <a:off x="6629400" y="3694176"/>
            <a:ext cx="4919472" cy="438912"/>
          </a:xfrm>
          <a:prstGeom prst="rect">
            <a:avLst/>
          </a:prstGeom>
          <a:noFill/>
          <a:ln/>
        </p:spPr>
        <p:txBody>
          <a:bodyPr wrap="square" lIns="0" tIns="0" rIns="0" bIns="0" rtlCol="0" anchor="ctr"/>
          <a:lstStyle/>
          <a:p>
            <a:pPr indent="0" marL="0">
              <a:buNone/>
            </a:pPr>
            <a:r>
              <a:rPr lang="en-US" sz="1100" dirty="0">
                <a:solidFill>
                  <a:srgbClr val="1F1E1D"/>
                </a:solidFill>
                <a:latin typeface="Yu Gothic" pitchFamily="34" charset="0"/>
                <a:ea typeface="Yu Gothic" pitchFamily="34" charset="-122"/>
                <a:cs typeface="Yu Gothic" pitchFamily="34" charset="-120"/>
              </a:rPr>
              <a:t>基準の投稿を画面上端に固定し、写真の高さが後から伸びてもズレない</a:t>
            </a:r>
            <a:endParaRPr lang="en-US" sz="1100" dirty="0"/>
          </a:p>
        </p:txBody>
      </p:sp>
      <p:sp>
        <p:nvSpPr>
          <p:cNvPr id="29" name="Shape 27"/>
          <p:cNvSpPr/>
          <p:nvPr/>
        </p:nvSpPr>
        <p:spPr>
          <a:xfrm>
            <a:off x="548640" y="4224528"/>
            <a:ext cx="5120640" cy="438912"/>
          </a:xfrm>
          <a:prstGeom prst="roundRect">
            <a:avLst>
              <a:gd name="adj" fmla="val 16667"/>
            </a:avLst>
          </a:prstGeom>
          <a:solidFill>
            <a:srgbClr val="F3F1EC"/>
          </a:solidFill>
          <a:ln w="12700">
            <a:solidFill>
              <a:srgbClr val="F3F1EC"/>
            </a:solidFill>
            <a:prstDash val="solid"/>
          </a:ln>
        </p:spPr>
      </p:sp>
      <p:sp>
        <p:nvSpPr>
          <p:cNvPr id="30" name="Text 28"/>
          <p:cNvSpPr txBox="1"/>
          <p:nvPr/>
        </p:nvSpPr>
        <p:spPr>
          <a:xfrm>
            <a:off x="685800" y="4224528"/>
            <a:ext cx="4892040" cy="438912"/>
          </a:xfrm>
          <a:prstGeom prst="rect">
            <a:avLst/>
          </a:prstGeom>
          <a:noFill/>
          <a:ln/>
        </p:spPr>
        <p:txBody>
          <a:bodyPr wrap="square" lIns="0" tIns="0" rIns="0" bIns="0" rtlCol="0" anchor="ctr"/>
          <a:lstStyle/>
          <a:p>
            <a:pPr indent="0" marL="0">
              <a:buNone/>
            </a:pPr>
            <a:r>
              <a:rPr lang="en-US" sz="1100" dirty="0">
                <a:solidFill>
                  <a:srgbClr val="6E6960"/>
                </a:solidFill>
                <a:latin typeface="Yu Gothic" pitchFamily="34" charset="0"/>
                <a:ea typeface="Yu Gothic" pitchFamily="34" charset="-122"/>
                <a:cs typeface="Yu Gothic" pitchFamily="34" charset="-120"/>
              </a:rPr>
              <a:t>投稿詳細のスクロールが途中で止まる</a:t>
            </a:r>
            <a:endParaRPr lang="en-US" sz="1100" dirty="0"/>
          </a:p>
        </p:txBody>
      </p:sp>
      <p:sp>
        <p:nvSpPr>
          <p:cNvPr id="31" name="Shape 29"/>
          <p:cNvSpPr/>
          <p:nvPr/>
        </p:nvSpPr>
        <p:spPr>
          <a:xfrm>
            <a:off x="5852160" y="4297680"/>
            <a:ext cx="457200" cy="310896"/>
          </a:xfrm>
          <a:prstGeom prst="rightArrow">
            <a:avLst/>
          </a:prstGeom>
          <a:solidFill>
            <a:srgbClr val="D9CFC2"/>
          </a:solidFill>
          <a:ln w="12700">
            <a:solidFill>
              <a:srgbClr val="D9CFC2"/>
            </a:solidFill>
            <a:prstDash val="solid"/>
          </a:ln>
        </p:spPr>
      </p:sp>
      <p:sp>
        <p:nvSpPr>
          <p:cNvPr id="32" name="Shape 30"/>
          <p:cNvSpPr/>
          <p:nvPr/>
        </p:nvSpPr>
        <p:spPr>
          <a:xfrm>
            <a:off x="6492240" y="4224528"/>
            <a:ext cx="5148072" cy="438912"/>
          </a:xfrm>
          <a:prstGeom prst="roundRect">
            <a:avLst>
              <a:gd name="adj" fmla="val 16667"/>
            </a:avLst>
          </a:prstGeom>
          <a:solidFill>
            <a:srgbClr val="FBEFE9"/>
          </a:solidFill>
          <a:ln w="9525">
            <a:solidFill>
              <a:srgbClr val="EFD3C6"/>
            </a:solidFill>
            <a:prstDash val="solid"/>
          </a:ln>
        </p:spPr>
      </p:sp>
      <p:sp>
        <p:nvSpPr>
          <p:cNvPr id="33" name="Text 31"/>
          <p:cNvSpPr txBox="1"/>
          <p:nvPr/>
        </p:nvSpPr>
        <p:spPr>
          <a:xfrm>
            <a:off x="6629400" y="4224528"/>
            <a:ext cx="4919472" cy="438912"/>
          </a:xfrm>
          <a:prstGeom prst="rect">
            <a:avLst/>
          </a:prstGeom>
          <a:noFill/>
          <a:ln/>
        </p:spPr>
        <p:txBody>
          <a:bodyPr wrap="square" lIns="0" tIns="0" rIns="0" bIns="0" rtlCol="0" anchor="ctr"/>
          <a:lstStyle/>
          <a:p>
            <a:pPr indent="0" marL="0">
              <a:buNone/>
            </a:pPr>
            <a:r>
              <a:rPr lang="en-US" sz="1100" dirty="0">
                <a:solidFill>
                  <a:srgbClr val="1F1E1D"/>
                </a:solidFill>
                <a:latin typeface="Yu Gothic" pitchFamily="34" charset="0"/>
                <a:ea typeface="Yu Gothic" pitchFamily="34" charset="-122"/>
                <a:cs typeface="Yu Gothic" pitchFamily="34" charset="-120"/>
              </a:rPr>
              <a:t>写真の高さが確定してから継ぎ足し、操作中は補正しない</a:t>
            </a:r>
            <a:endParaRPr lang="en-US" sz="1100" dirty="0"/>
          </a:p>
        </p:txBody>
      </p:sp>
      <p:sp>
        <p:nvSpPr>
          <p:cNvPr id="34" name="Shape 32"/>
          <p:cNvSpPr/>
          <p:nvPr/>
        </p:nvSpPr>
        <p:spPr>
          <a:xfrm>
            <a:off x="548640" y="4754880"/>
            <a:ext cx="5120640" cy="438912"/>
          </a:xfrm>
          <a:prstGeom prst="roundRect">
            <a:avLst>
              <a:gd name="adj" fmla="val 16667"/>
            </a:avLst>
          </a:prstGeom>
          <a:solidFill>
            <a:srgbClr val="F3F1EC"/>
          </a:solidFill>
          <a:ln w="12700">
            <a:solidFill>
              <a:srgbClr val="F3F1EC"/>
            </a:solidFill>
            <a:prstDash val="solid"/>
          </a:ln>
        </p:spPr>
      </p:sp>
      <p:sp>
        <p:nvSpPr>
          <p:cNvPr id="35" name="Text 33"/>
          <p:cNvSpPr txBox="1"/>
          <p:nvPr/>
        </p:nvSpPr>
        <p:spPr>
          <a:xfrm>
            <a:off x="685800" y="4754880"/>
            <a:ext cx="4892040" cy="438912"/>
          </a:xfrm>
          <a:prstGeom prst="rect">
            <a:avLst/>
          </a:prstGeom>
          <a:noFill/>
          <a:ln/>
        </p:spPr>
        <p:txBody>
          <a:bodyPr wrap="square" lIns="0" tIns="0" rIns="0" bIns="0" rtlCol="0" anchor="ctr"/>
          <a:lstStyle/>
          <a:p>
            <a:pPr indent="0" marL="0">
              <a:buNone/>
            </a:pPr>
            <a:r>
              <a:rPr lang="en-US" sz="1100" dirty="0">
                <a:solidFill>
                  <a:srgbClr val="6E6960"/>
                </a:solidFill>
                <a:latin typeface="Yu Gothic" pitchFamily="34" charset="0"/>
                <a:ea typeface="Yu Gothic" pitchFamily="34" charset="-122"/>
                <a:cs typeface="Yu Gothic" pitchFamily="34" charset="-120"/>
              </a:rPr>
              <a:t>★0.5刻みの入力が、小さな星ではスマホで狙えない</a:t>
            </a:r>
            <a:endParaRPr lang="en-US" sz="1100" dirty="0"/>
          </a:p>
        </p:txBody>
      </p:sp>
      <p:sp>
        <p:nvSpPr>
          <p:cNvPr id="36" name="Shape 34"/>
          <p:cNvSpPr/>
          <p:nvPr/>
        </p:nvSpPr>
        <p:spPr>
          <a:xfrm>
            <a:off x="5852160" y="4828032"/>
            <a:ext cx="457200" cy="310896"/>
          </a:xfrm>
          <a:prstGeom prst="rightArrow">
            <a:avLst/>
          </a:prstGeom>
          <a:solidFill>
            <a:srgbClr val="D9CFC2"/>
          </a:solidFill>
          <a:ln w="12700">
            <a:solidFill>
              <a:srgbClr val="D9CFC2"/>
            </a:solidFill>
            <a:prstDash val="solid"/>
          </a:ln>
        </p:spPr>
      </p:sp>
      <p:sp>
        <p:nvSpPr>
          <p:cNvPr id="37" name="Shape 35"/>
          <p:cNvSpPr/>
          <p:nvPr/>
        </p:nvSpPr>
        <p:spPr>
          <a:xfrm>
            <a:off x="6492240" y="4754880"/>
            <a:ext cx="5148072" cy="438912"/>
          </a:xfrm>
          <a:prstGeom prst="roundRect">
            <a:avLst>
              <a:gd name="adj" fmla="val 16667"/>
            </a:avLst>
          </a:prstGeom>
          <a:solidFill>
            <a:srgbClr val="FBEFE9"/>
          </a:solidFill>
          <a:ln w="9525">
            <a:solidFill>
              <a:srgbClr val="EFD3C6"/>
            </a:solidFill>
            <a:prstDash val="solid"/>
          </a:ln>
        </p:spPr>
      </p:sp>
      <p:sp>
        <p:nvSpPr>
          <p:cNvPr id="38" name="Text 36"/>
          <p:cNvSpPr txBox="1"/>
          <p:nvPr/>
        </p:nvSpPr>
        <p:spPr>
          <a:xfrm>
            <a:off x="6629400" y="4754880"/>
            <a:ext cx="4919472" cy="438912"/>
          </a:xfrm>
          <a:prstGeom prst="rect">
            <a:avLst/>
          </a:prstGeom>
          <a:noFill/>
          <a:ln/>
        </p:spPr>
        <p:txBody>
          <a:bodyPr wrap="square" lIns="0" tIns="0" rIns="0" bIns="0" rtlCol="0" anchor="ctr"/>
          <a:lstStyle/>
          <a:p>
            <a:pPr indent="0" marL="0">
              <a:buNone/>
            </a:pPr>
            <a:r>
              <a:rPr lang="en-US" sz="1100" dirty="0">
                <a:solidFill>
                  <a:srgbClr val="1F1E1D"/>
                </a:solidFill>
                <a:latin typeface="Yu Gothic" pitchFamily="34" charset="0"/>
                <a:ea typeface="Yu Gothic" pitchFamily="34" charset="-122"/>
                <a:cs typeface="Yu Gothic" pitchFamily="34" charset="-120"/>
              </a:rPr>
              <a:t>星を36pxに拡大。なぞって選択、同じ星の再タップで .5、数値表示</a:t>
            </a:r>
            <a:endParaRPr lang="en-US" sz="1100" dirty="0"/>
          </a:p>
        </p:txBody>
      </p:sp>
      <p:sp>
        <p:nvSpPr>
          <p:cNvPr id="39" name="Shape 37"/>
          <p:cNvSpPr/>
          <p:nvPr/>
        </p:nvSpPr>
        <p:spPr>
          <a:xfrm>
            <a:off x="548640" y="5285232"/>
            <a:ext cx="5120640" cy="438912"/>
          </a:xfrm>
          <a:prstGeom prst="roundRect">
            <a:avLst>
              <a:gd name="adj" fmla="val 16667"/>
            </a:avLst>
          </a:prstGeom>
          <a:solidFill>
            <a:srgbClr val="F3F1EC"/>
          </a:solidFill>
          <a:ln w="12700">
            <a:solidFill>
              <a:srgbClr val="F3F1EC"/>
            </a:solidFill>
            <a:prstDash val="solid"/>
          </a:ln>
        </p:spPr>
      </p:sp>
      <p:sp>
        <p:nvSpPr>
          <p:cNvPr id="40" name="Text 38"/>
          <p:cNvSpPr txBox="1"/>
          <p:nvPr/>
        </p:nvSpPr>
        <p:spPr>
          <a:xfrm>
            <a:off x="685800" y="5285232"/>
            <a:ext cx="4892040" cy="438912"/>
          </a:xfrm>
          <a:prstGeom prst="rect">
            <a:avLst/>
          </a:prstGeom>
          <a:noFill/>
          <a:ln/>
        </p:spPr>
        <p:txBody>
          <a:bodyPr wrap="square" lIns="0" tIns="0" rIns="0" bIns="0" rtlCol="0" anchor="ctr"/>
          <a:lstStyle/>
          <a:p>
            <a:pPr indent="0" marL="0">
              <a:buNone/>
            </a:pPr>
            <a:r>
              <a:rPr lang="en-US" sz="1100" dirty="0">
                <a:solidFill>
                  <a:srgbClr val="6E6960"/>
                </a:solidFill>
                <a:latin typeface="Yu Gothic" pitchFamily="34" charset="0"/>
                <a:ea typeface="Yu Gothic" pitchFamily="34" charset="-122"/>
                <a:cs typeface="Yu Gothic" pitchFamily="34" charset="-120"/>
              </a:rPr>
              <a:t>他人の投稿の日付が、一部の画面に残っていた</a:t>
            </a:r>
            <a:endParaRPr lang="en-US" sz="1100" dirty="0"/>
          </a:p>
        </p:txBody>
      </p:sp>
      <p:sp>
        <p:nvSpPr>
          <p:cNvPr id="41" name="Shape 39"/>
          <p:cNvSpPr/>
          <p:nvPr/>
        </p:nvSpPr>
        <p:spPr>
          <a:xfrm>
            <a:off x="5852160" y="5358384"/>
            <a:ext cx="457200" cy="310896"/>
          </a:xfrm>
          <a:prstGeom prst="rightArrow">
            <a:avLst/>
          </a:prstGeom>
          <a:solidFill>
            <a:srgbClr val="D9CFC2"/>
          </a:solidFill>
          <a:ln w="12700">
            <a:solidFill>
              <a:srgbClr val="D9CFC2"/>
            </a:solidFill>
            <a:prstDash val="solid"/>
          </a:ln>
        </p:spPr>
      </p:sp>
      <p:sp>
        <p:nvSpPr>
          <p:cNvPr id="42" name="Shape 40"/>
          <p:cNvSpPr/>
          <p:nvPr/>
        </p:nvSpPr>
        <p:spPr>
          <a:xfrm>
            <a:off x="6492240" y="5285232"/>
            <a:ext cx="5148072" cy="438912"/>
          </a:xfrm>
          <a:prstGeom prst="roundRect">
            <a:avLst>
              <a:gd name="adj" fmla="val 16667"/>
            </a:avLst>
          </a:prstGeom>
          <a:solidFill>
            <a:srgbClr val="FBEFE9"/>
          </a:solidFill>
          <a:ln w="9525">
            <a:solidFill>
              <a:srgbClr val="EFD3C6"/>
            </a:solidFill>
            <a:prstDash val="solid"/>
          </a:ln>
        </p:spPr>
      </p:sp>
      <p:sp>
        <p:nvSpPr>
          <p:cNvPr id="43" name="Text 41"/>
          <p:cNvSpPr txBox="1"/>
          <p:nvPr/>
        </p:nvSpPr>
        <p:spPr>
          <a:xfrm>
            <a:off x="6629400" y="5285232"/>
            <a:ext cx="4919472" cy="438912"/>
          </a:xfrm>
          <a:prstGeom prst="rect">
            <a:avLst/>
          </a:prstGeom>
          <a:noFill/>
          <a:ln/>
        </p:spPr>
        <p:txBody>
          <a:bodyPr wrap="square" lIns="0" tIns="0" rIns="0" bIns="0" rtlCol="0" anchor="ctr"/>
          <a:lstStyle/>
          <a:p>
            <a:pPr indent="0" marL="0">
              <a:buNone/>
            </a:pPr>
            <a:r>
              <a:rPr lang="en-US" sz="1100" dirty="0">
                <a:solidFill>
                  <a:srgbClr val="1F1E1D"/>
                </a:solidFill>
                <a:latin typeface="Yu Gothic" pitchFamily="34" charset="0"/>
                <a:ea typeface="Yu Gothic" pitchFamily="34" charset="-122"/>
                <a:cs typeface="Yu Gothic" pitchFamily="34" charset="-120"/>
              </a:rPr>
              <a:t>全画面で非表示に統一（プライバシー配慮）</a:t>
            </a:r>
            <a:endParaRPr lang="en-US" sz="1100" dirty="0"/>
          </a:p>
        </p:txBody>
      </p:sp>
      <p:sp>
        <p:nvSpPr>
          <p:cNvPr id="44" name="Shape 42"/>
          <p:cNvSpPr/>
          <p:nvPr/>
        </p:nvSpPr>
        <p:spPr>
          <a:xfrm>
            <a:off x="548640" y="5815584"/>
            <a:ext cx="5120640" cy="438912"/>
          </a:xfrm>
          <a:prstGeom prst="roundRect">
            <a:avLst>
              <a:gd name="adj" fmla="val 16667"/>
            </a:avLst>
          </a:prstGeom>
          <a:solidFill>
            <a:srgbClr val="F3F1EC"/>
          </a:solidFill>
          <a:ln w="12700">
            <a:solidFill>
              <a:srgbClr val="F3F1EC"/>
            </a:solidFill>
            <a:prstDash val="solid"/>
          </a:ln>
        </p:spPr>
      </p:sp>
      <p:sp>
        <p:nvSpPr>
          <p:cNvPr id="45" name="Text 43"/>
          <p:cNvSpPr txBox="1"/>
          <p:nvPr/>
        </p:nvSpPr>
        <p:spPr>
          <a:xfrm>
            <a:off x="685800" y="5815584"/>
            <a:ext cx="4892040" cy="438912"/>
          </a:xfrm>
          <a:prstGeom prst="rect">
            <a:avLst/>
          </a:prstGeom>
          <a:noFill/>
          <a:ln/>
        </p:spPr>
        <p:txBody>
          <a:bodyPr wrap="square" lIns="0" tIns="0" rIns="0" bIns="0" rtlCol="0" anchor="ctr"/>
          <a:lstStyle/>
          <a:p>
            <a:pPr indent="0" marL="0">
              <a:buNone/>
            </a:pPr>
            <a:r>
              <a:rPr lang="en-US" sz="1100" dirty="0">
                <a:solidFill>
                  <a:srgbClr val="6E6960"/>
                </a:solidFill>
                <a:latin typeface="Yu Gothic" pitchFamily="34" charset="0"/>
                <a:ea typeface="Yu Gothic" pitchFamily="34" charset="-122"/>
                <a:cs typeface="Yu Gothic" pitchFamily="34" charset="-120"/>
              </a:rPr>
              <a:t>写真はクラウドにしかなく、端末バックアップに含まれない</a:t>
            </a:r>
            <a:endParaRPr lang="en-US" sz="1100" dirty="0"/>
          </a:p>
        </p:txBody>
      </p:sp>
      <p:sp>
        <p:nvSpPr>
          <p:cNvPr id="46" name="Shape 44"/>
          <p:cNvSpPr/>
          <p:nvPr/>
        </p:nvSpPr>
        <p:spPr>
          <a:xfrm>
            <a:off x="5852160" y="5888736"/>
            <a:ext cx="457200" cy="310896"/>
          </a:xfrm>
          <a:prstGeom prst="rightArrow">
            <a:avLst/>
          </a:prstGeom>
          <a:solidFill>
            <a:srgbClr val="D9CFC2"/>
          </a:solidFill>
          <a:ln w="12700">
            <a:solidFill>
              <a:srgbClr val="D9CFC2"/>
            </a:solidFill>
            <a:prstDash val="solid"/>
          </a:ln>
        </p:spPr>
      </p:sp>
      <p:sp>
        <p:nvSpPr>
          <p:cNvPr id="47" name="Shape 45"/>
          <p:cNvSpPr/>
          <p:nvPr/>
        </p:nvSpPr>
        <p:spPr>
          <a:xfrm>
            <a:off x="6492240" y="5815584"/>
            <a:ext cx="5148072" cy="438912"/>
          </a:xfrm>
          <a:prstGeom prst="roundRect">
            <a:avLst>
              <a:gd name="adj" fmla="val 16667"/>
            </a:avLst>
          </a:prstGeom>
          <a:solidFill>
            <a:srgbClr val="FBEFE9"/>
          </a:solidFill>
          <a:ln w="9525">
            <a:solidFill>
              <a:srgbClr val="EFD3C6"/>
            </a:solidFill>
            <a:prstDash val="solid"/>
          </a:ln>
        </p:spPr>
      </p:sp>
      <p:sp>
        <p:nvSpPr>
          <p:cNvPr id="48" name="Text 46"/>
          <p:cNvSpPr txBox="1"/>
          <p:nvPr/>
        </p:nvSpPr>
        <p:spPr>
          <a:xfrm>
            <a:off x="6629400" y="5815584"/>
            <a:ext cx="4919472" cy="438912"/>
          </a:xfrm>
          <a:prstGeom prst="rect">
            <a:avLst/>
          </a:prstGeom>
          <a:noFill/>
          <a:ln/>
        </p:spPr>
        <p:txBody>
          <a:bodyPr wrap="square" lIns="0" tIns="0" rIns="0" bIns="0" rtlCol="0" anchor="ctr"/>
          <a:lstStyle/>
          <a:p>
            <a:pPr indent="0" marL="0">
              <a:buNone/>
            </a:pPr>
            <a:r>
              <a:rPr lang="en-US" sz="1100" dirty="0">
                <a:solidFill>
                  <a:srgbClr val="1F1E1D"/>
                </a:solidFill>
                <a:latin typeface="Yu Gothic" pitchFamily="34" charset="0"/>
                <a:ea typeface="Yu Gothic" pitchFamily="34" charset="-122"/>
                <a:cs typeface="Yu Gothic" pitchFamily="34" charset="-120"/>
              </a:rPr>
              <a:t>写真込みで書き出し・別端末で復元（本日のデモ用の実データ再現にも使用）</a:t>
            </a:r>
            <a:endParaRPr lang="en-US" sz="1100" dirty="0"/>
          </a:p>
        </p:txBody>
      </p:sp>
      <p:sp>
        <p:nvSpPr>
          <p:cNvPr id="49" name="Text 4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50" name="Text 48"/>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成果</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成果 ― 毎日の食日記として、実運用中</a:t>
            </a:r>
            <a:endParaRPr lang="en-US" sz="3000" dirty="0"/>
          </a:p>
        </p:txBody>
      </p:sp>
      <p:sp>
        <p:nvSpPr>
          <p:cNvPr id="4" name="Shape 2"/>
          <p:cNvSpPr/>
          <p:nvPr/>
        </p:nvSpPr>
        <p:spPr>
          <a:xfrm>
            <a:off x="548640" y="1508760"/>
            <a:ext cx="4846320" cy="1874520"/>
          </a:xfrm>
          <a:prstGeom prst="roundRect">
            <a:avLst>
              <a:gd name="adj" fmla="val 5854"/>
            </a:avLst>
          </a:prstGeom>
          <a:solidFill>
            <a:srgbClr val="FBEFE9"/>
          </a:solidFill>
          <a:ln w="12700">
            <a:solidFill>
              <a:srgbClr val="EFD3C6"/>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31520" y="1554480"/>
            <a:ext cx="2377440" cy="1188720"/>
          </a:xfrm>
          <a:prstGeom prst="rect">
            <a:avLst/>
          </a:prstGeom>
          <a:noFill/>
          <a:ln/>
        </p:spPr>
        <p:txBody>
          <a:bodyPr wrap="square" lIns="0" tIns="0" rIns="0" bIns="0" rtlCol="0" anchor="ctr"/>
          <a:lstStyle/>
          <a:p>
            <a:pPr indent="0" marL="0">
              <a:buNone/>
            </a:pPr>
            <a:r>
              <a:rPr lang="en-US" sz="6600" b="1" dirty="0">
                <a:solidFill>
                  <a:srgbClr val="C6613F"/>
                </a:solidFill>
                <a:latin typeface="Yu Gothic" pitchFamily="34" charset="0"/>
                <a:ea typeface="Yu Gothic" pitchFamily="34" charset="-122"/>
                <a:cs typeface="Yu Gothic" pitchFamily="34" charset="-120"/>
              </a:rPr>
              <a:t>208</a:t>
            </a:r>
            <a:endParaRPr lang="en-US" sz="6600" dirty="0"/>
          </a:p>
        </p:txBody>
      </p:sp>
      <p:sp>
        <p:nvSpPr>
          <p:cNvPr id="6" name="Text 4"/>
          <p:cNvSpPr txBox="1"/>
          <p:nvPr/>
        </p:nvSpPr>
        <p:spPr>
          <a:xfrm>
            <a:off x="3063240" y="1965960"/>
            <a:ext cx="914400" cy="548640"/>
          </a:xfrm>
          <a:prstGeom prst="rect">
            <a:avLst/>
          </a:prstGeom>
          <a:noFill/>
          <a:ln/>
        </p:spPr>
        <p:txBody>
          <a:bodyPr wrap="square" lIns="0" tIns="0" rIns="0" bIns="0" rtlCol="0" anchor="ctr"/>
          <a:lstStyle/>
          <a:p>
            <a:pPr indent="0" marL="0">
              <a:buNone/>
            </a:pPr>
            <a:r>
              <a:rPr lang="en-US" sz="2200" b="1" dirty="0">
                <a:solidFill>
                  <a:srgbClr val="C6613F"/>
                </a:solidFill>
                <a:latin typeface="Yu Gothic" pitchFamily="34" charset="0"/>
                <a:ea typeface="Yu Gothic" pitchFamily="34" charset="-122"/>
                <a:cs typeface="Yu Gothic" pitchFamily="34" charset="-120"/>
              </a:rPr>
              <a:t>店舗</a:t>
            </a:r>
            <a:endParaRPr lang="en-US" sz="2200" dirty="0"/>
          </a:p>
        </p:txBody>
      </p:sp>
      <p:sp>
        <p:nvSpPr>
          <p:cNvPr id="7" name="Text 5"/>
          <p:cNvSpPr txBox="1"/>
          <p:nvPr/>
        </p:nvSpPr>
        <p:spPr>
          <a:xfrm>
            <a:off x="731520" y="2697480"/>
            <a:ext cx="4480560" cy="640080"/>
          </a:xfrm>
          <a:prstGeom prst="rect">
            <a:avLst/>
          </a:prstGeom>
          <a:noFill/>
          <a:ln/>
        </p:spPr>
        <p:txBody>
          <a:bodyPr wrap="square" lIns="0" tIns="0" rIns="0" bIns="0" rtlCol="0" anchor="ctr"/>
          <a:lstStyle/>
          <a:p>
            <a:pPr indent="0" marL="0">
              <a:buNone/>
            </a:pPr>
            <a:r>
              <a:rPr lang="en-US" sz="1050" dirty="0">
                <a:solidFill>
                  <a:srgbClr val="1F1E1D"/>
                </a:solidFill>
                <a:latin typeface="Yu Gothic" pitchFamily="34" charset="0"/>
                <a:ea typeface="Yu Gothic" pitchFamily="34" charset="-122"/>
                <a:cs typeface="Yu Gothic" pitchFamily="34" charset="-120"/>
              </a:rPr>
              <a:t>制作者自身が本番アプリに登録した実データ（訪問251回・写真242枚）。</a:t>
            </a:r>
            <a:endParaRPr lang="en-US" sz="1050" dirty="0"/>
          </a:p>
          <a:p>
            <a:pPr indent="0" marL="0">
              <a:buNone/>
            </a:pPr>
            <a:r>
              <a:rPr lang="en-US" sz="1050" dirty="0">
                <a:solidFill>
                  <a:srgbClr val="1F1E1D"/>
                </a:solidFill>
                <a:latin typeface="Yu Gothic" pitchFamily="34" charset="0"/>
                <a:ea typeface="Yu Gothic" pitchFamily="34" charset="-122"/>
                <a:cs typeface="Yu Gothic" pitchFamily="34" charset="-120"/>
              </a:rPr>
              <a:t>本番公開済み（PWA・URLを開くだけ）。毎日の外食を記録する食日記として使っている</a:t>
            </a:r>
            <a:endParaRPr lang="en-US" sz="1050" dirty="0"/>
          </a:p>
        </p:txBody>
      </p:sp>
      <p:sp>
        <p:nvSpPr>
          <p:cNvPr id="8" name="Shape 6"/>
          <p:cNvSpPr/>
          <p:nvPr/>
        </p:nvSpPr>
        <p:spPr>
          <a:xfrm>
            <a:off x="5577840" y="1508760"/>
            <a:ext cx="1371600" cy="1874520"/>
          </a:xfrm>
          <a:prstGeom prst="roundRect">
            <a:avLst>
              <a:gd name="adj" fmla="val 8000"/>
            </a:avLst>
          </a:prstGeom>
          <a:solidFill>
            <a:srgbClr val="FBF8F3"/>
          </a:solidFill>
          <a:ln w="12700">
            <a:solidFill>
              <a:srgbClr val="EAE3D8"/>
            </a:solidFill>
            <a:prstDash val="solid"/>
          </a:ln>
        </p:spPr>
      </p:sp>
      <p:sp>
        <p:nvSpPr>
          <p:cNvPr id="9" name="Text 7"/>
          <p:cNvSpPr txBox="1"/>
          <p:nvPr/>
        </p:nvSpPr>
        <p:spPr>
          <a:xfrm>
            <a:off x="5577840" y="1645920"/>
            <a:ext cx="1371600" cy="731520"/>
          </a:xfrm>
          <a:prstGeom prst="rect">
            <a:avLst/>
          </a:prstGeom>
          <a:noFill/>
          <a:ln/>
        </p:spPr>
        <p:txBody>
          <a:bodyPr wrap="square" lIns="0" tIns="0" rIns="0" bIns="0" rtlCol="0" anchor="ctr"/>
          <a:lstStyle/>
          <a:p>
            <a:pPr algn="ctr" indent="0" marL="0">
              <a:buNone/>
            </a:pPr>
            <a:r>
              <a:rPr lang="en-US" sz="2800" b="1" dirty="0">
                <a:solidFill>
                  <a:srgbClr val="C6613F"/>
                </a:solidFill>
                <a:latin typeface="Yu Gothic" pitchFamily="34" charset="0"/>
                <a:ea typeface="Yu Gothic" pitchFamily="34" charset="-122"/>
                <a:cs typeface="Yu Gothic" pitchFamily="34" charset="-120"/>
              </a:rPr>
              <a:t>70+</a:t>
            </a:r>
            <a:endParaRPr lang="en-US" sz="2800" dirty="0"/>
          </a:p>
        </p:txBody>
      </p:sp>
      <p:sp>
        <p:nvSpPr>
          <p:cNvPr id="10" name="Text 8"/>
          <p:cNvSpPr txBox="1"/>
          <p:nvPr/>
        </p:nvSpPr>
        <p:spPr>
          <a:xfrm>
            <a:off x="5577840" y="2423160"/>
            <a:ext cx="1371600" cy="731520"/>
          </a:xfrm>
          <a:prstGeom prst="rect">
            <a:avLst/>
          </a:prstGeom>
          <a:noFill/>
          <a:ln/>
        </p:spPr>
        <p:txBody>
          <a:bodyPr wrap="square" lIns="0" tIns="0" rIns="0" bIns="0" rtlCol="0" anchor="ctr"/>
          <a:lstStyle/>
          <a:p>
            <a:pPr algn="ctr" indent="0" marL="0">
              <a:buNone/>
            </a:pPr>
            <a:r>
              <a:rPr lang="en-US" sz="950" dirty="0">
                <a:solidFill>
                  <a:srgbClr val="6E6960"/>
                </a:solidFill>
                <a:latin typeface="Yu Gothic" pitchFamily="34" charset="0"/>
                <a:ea typeface="Yu Gothic" pitchFamily="34" charset="-122"/>
                <a:cs typeface="Yu Gothic" pitchFamily="34" charset="-120"/>
              </a:rPr>
              <a:t>AI判定に対応する</a:t>
            </a:r>
            <a:endParaRPr lang="en-US" sz="950" dirty="0"/>
          </a:p>
          <a:p>
            <a:pPr algn="ctr" indent="0" marL="0">
              <a:buNone/>
            </a:pPr>
            <a:r>
              <a:rPr lang="en-US" sz="950" dirty="0">
                <a:solidFill>
                  <a:srgbClr val="6E6960"/>
                </a:solidFill>
                <a:latin typeface="Yu Gothic" pitchFamily="34" charset="0"/>
                <a:ea typeface="Yu Gothic" pitchFamily="34" charset="-122"/>
                <a:cs typeface="Yu Gothic" pitchFamily="34" charset="-120"/>
              </a:rPr>
              <a:t>料理ジャンル</a:t>
            </a:r>
            <a:endParaRPr lang="en-US" sz="950" dirty="0"/>
          </a:p>
        </p:txBody>
      </p:sp>
      <p:sp>
        <p:nvSpPr>
          <p:cNvPr id="11" name="Shape 9"/>
          <p:cNvSpPr/>
          <p:nvPr/>
        </p:nvSpPr>
        <p:spPr>
          <a:xfrm>
            <a:off x="7040880" y="1508760"/>
            <a:ext cx="1371600" cy="1874520"/>
          </a:xfrm>
          <a:prstGeom prst="roundRect">
            <a:avLst>
              <a:gd name="adj" fmla="val 8000"/>
            </a:avLst>
          </a:prstGeom>
          <a:solidFill>
            <a:srgbClr val="FBF8F3"/>
          </a:solidFill>
          <a:ln w="12700">
            <a:solidFill>
              <a:srgbClr val="EAE3D8"/>
            </a:solidFill>
            <a:prstDash val="solid"/>
          </a:ln>
        </p:spPr>
      </p:sp>
      <p:sp>
        <p:nvSpPr>
          <p:cNvPr id="12" name="Text 10"/>
          <p:cNvSpPr txBox="1"/>
          <p:nvPr/>
        </p:nvSpPr>
        <p:spPr>
          <a:xfrm>
            <a:off x="7040880" y="1645920"/>
            <a:ext cx="1371600" cy="731520"/>
          </a:xfrm>
          <a:prstGeom prst="rect">
            <a:avLst/>
          </a:prstGeom>
          <a:noFill/>
          <a:ln/>
        </p:spPr>
        <p:txBody>
          <a:bodyPr wrap="square" lIns="0" tIns="0" rIns="0" bIns="0" rtlCol="0" anchor="ctr"/>
          <a:lstStyle/>
          <a:p>
            <a:pPr algn="ctr" indent="0" marL="0">
              <a:buNone/>
            </a:pPr>
            <a:r>
              <a:rPr lang="en-US" sz="2800" b="1" dirty="0">
                <a:solidFill>
                  <a:srgbClr val="C6613F"/>
                </a:solidFill>
                <a:latin typeface="Yu Gothic" pitchFamily="34" charset="0"/>
                <a:ea typeface="Yu Gothic" pitchFamily="34" charset="-122"/>
                <a:cs typeface="Yu Gothic" pitchFamily="34" charset="-120"/>
              </a:rPr>
              <a:t>約1分</a:t>
            </a:r>
            <a:endParaRPr lang="en-US" sz="2800" dirty="0"/>
          </a:p>
        </p:txBody>
      </p:sp>
      <p:sp>
        <p:nvSpPr>
          <p:cNvPr id="13" name="Text 11"/>
          <p:cNvSpPr txBox="1"/>
          <p:nvPr/>
        </p:nvSpPr>
        <p:spPr>
          <a:xfrm>
            <a:off x="7040880" y="2423160"/>
            <a:ext cx="1371600" cy="731520"/>
          </a:xfrm>
          <a:prstGeom prst="rect">
            <a:avLst/>
          </a:prstGeom>
          <a:noFill/>
          <a:ln/>
        </p:spPr>
        <p:txBody>
          <a:bodyPr wrap="square" lIns="0" tIns="0" rIns="0" bIns="0" rtlCol="0" anchor="ctr"/>
          <a:lstStyle/>
          <a:p>
            <a:pPr algn="ctr" indent="0" marL="0">
              <a:buNone/>
            </a:pPr>
            <a:r>
              <a:rPr lang="en-US" sz="950" dirty="0">
                <a:solidFill>
                  <a:srgbClr val="6E6960"/>
                </a:solidFill>
                <a:latin typeface="Yu Gothic" pitchFamily="34" charset="0"/>
                <a:ea typeface="Yu Gothic" pitchFamily="34" charset="-122"/>
                <a:cs typeface="Yu Gothic" pitchFamily="34" charset="-120"/>
              </a:rPr>
              <a:t>1回の記録に</a:t>
            </a:r>
            <a:endParaRPr lang="en-US" sz="950" dirty="0"/>
          </a:p>
          <a:p>
            <a:pPr algn="ctr" indent="0" marL="0">
              <a:buNone/>
            </a:pPr>
            <a:r>
              <a:rPr lang="en-US" sz="950" dirty="0">
                <a:solidFill>
                  <a:srgbClr val="6E6960"/>
                </a:solidFill>
                <a:latin typeface="Yu Gothic" pitchFamily="34" charset="0"/>
                <a:ea typeface="Yu Gothic" pitchFamily="34" charset="-122"/>
                <a:cs typeface="Yu Gothic" pitchFamily="34" charset="-120"/>
              </a:rPr>
              <a:t>かかる時間</a:t>
            </a:r>
            <a:endParaRPr lang="en-US" sz="950" dirty="0"/>
          </a:p>
        </p:txBody>
      </p:sp>
      <p:sp>
        <p:nvSpPr>
          <p:cNvPr id="14" name="Shape 12"/>
          <p:cNvSpPr/>
          <p:nvPr/>
        </p:nvSpPr>
        <p:spPr>
          <a:xfrm>
            <a:off x="548640" y="3611880"/>
            <a:ext cx="7863840" cy="2697480"/>
          </a:xfrm>
          <a:prstGeom prst="roundRect">
            <a:avLst>
              <a:gd name="adj" fmla="val 4068"/>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777240" y="3721608"/>
            <a:ext cx="5486400" cy="320040"/>
          </a:xfrm>
          <a:prstGeom prst="rect">
            <a:avLst/>
          </a:prstGeom>
          <a:noFill/>
          <a:ln/>
        </p:spPr>
        <p:txBody>
          <a:bodyPr wrap="square" lIns="0" tIns="0" rIns="0" bIns="0" rtlCol="0" anchor="ctr"/>
          <a:lstStyle/>
          <a:p>
            <a:pPr indent="0" marL="0">
              <a:buNone/>
            </a:pPr>
            <a:r>
              <a:rPr lang="en-US" sz="1300" b="1" dirty="0">
                <a:solidFill>
                  <a:srgbClr val="1F1E1D"/>
                </a:solidFill>
                <a:latin typeface="Yu Gothic" pitchFamily="34" charset="0"/>
                <a:ea typeface="Yu Gothic" pitchFamily="34" charset="-122"/>
                <a:cs typeface="Yu Gothic" pitchFamily="34" charset="-120"/>
              </a:rPr>
              <a:t>記録の手間 ― Before / After</a:t>
            </a:r>
            <a:endParaRPr lang="en-US" sz="1300" dirty="0"/>
          </a:p>
        </p:txBody>
      </p:sp>
      <p:sp>
        <p:nvSpPr>
          <p:cNvPr id="16" name="Text 14"/>
          <p:cNvSpPr txBox="1"/>
          <p:nvPr/>
        </p:nvSpPr>
        <p:spPr>
          <a:xfrm>
            <a:off x="777240" y="4114800"/>
            <a:ext cx="3474720" cy="274320"/>
          </a:xfrm>
          <a:prstGeom prst="rect">
            <a:avLst/>
          </a:prstGeom>
          <a:noFill/>
          <a:ln/>
        </p:spPr>
        <p:txBody>
          <a:bodyPr wrap="square" lIns="0" tIns="0" rIns="0" bIns="0" rtlCol="0" anchor="ctr"/>
          <a:lstStyle/>
          <a:p>
            <a:pPr indent="0" marL="0">
              <a:buNone/>
            </a:pPr>
            <a:r>
              <a:rPr lang="en-US" sz="1100" b="1" dirty="0">
                <a:solidFill>
                  <a:srgbClr val="8A857D"/>
                </a:solidFill>
                <a:latin typeface="Yu Gothic" pitchFamily="34" charset="0"/>
                <a:ea typeface="Yu Gothic" pitchFamily="34" charset="-122"/>
                <a:cs typeface="Yu Gothic" pitchFamily="34" charset="-120"/>
              </a:rPr>
              <a:t>従来の記録アプリ</a:t>
            </a:r>
            <a:endParaRPr lang="en-US" sz="1100" dirty="0"/>
          </a:p>
        </p:txBody>
      </p:sp>
      <p:sp>
        <p:nvSpPr>
          <p:cNvPr id="17" name="Shape 15"/>
          <p:cNvSpPr/>
          <p:nvPr/>
        </p:nvSpPr>
        <p:spPr>
          <a:xfrm>
            <a:off x="777240" y="4434840"/>
            <a:ext cx="777240" cy="347472"/>
          </a:xfrm>
          <a:prstGeom prst="roundRect">
            <a:avLst>
              <a:gd name="adj" fmla="val 50000"/>
            </a:avLst>
          </a:prstGeom>
          <a:solidFill>
            <a:srgbClr val="F3F1EC"/>
          </a:solidFill>
          <a:ln w="9525">
            <a:solidFill>
              <a:srgbClr val="DDD6CB"/>
            </a:solidFill>
            <a:prstDash val="solid"/>
          </a:ln>
        </p:spPr>
      </p:sp>
      <p:sp>
        <p:nvSpPr>
          <p:cNvPr id="18" name="Text 16"/>
          <p:cNvSpPr txBox="1"/>
          <p:nvPr/>
        </p:nvSpPr>
        <p:spPr>
          <a:xfrm>
            <a:off x="777240" y="4434840"/>
            <a:ext cx="777240" cy="347472"/>
          </a:xfrm>
          <a:prstGeom prst="rect">
            <a:avLst/>
          </a:prstGeom>
          <a:noFill/>
          <a:ln/>
        </p:spPr>
        <p:txBody>
          <a:bodyPr wrap="square" lIns="0" tIns="0" rIns="0" bIns="0" rtlCol="0" anchor="ctr"/>
          <a:lstStyle/>
          <a:p>
            <a:pPr algn="ctr" indent="0" marL="0">
              <a:buNone/>
            </a:pPr>
            <a:r>
              <a:rPr lang="en-US" sz="1050" dirty="0">
                <a:solidFill>
                  <a:srgbClr val="6E6960"/>
                </a:solidFill>
                <a:latin typeface="Yu Gothic" pitchFamily="34" charset="0"/>
                <a:ea typeface="Yu Gothic" pitchFamily="34" charset="-122"/>
                <a:cs typeface="Yu Gothic" pitchFamily="34" charset="-120"/>
              </a:rPr>
              <a:t>店名</a:t>
            </a:r>
            <a:endParaRPr lang="en-US" sz="1050" dirty="0"/>
          </a:p>
        </p:txBody>
      </p:sp>
      <p:sp>
        <p:nvSpPr>
          <p:cNvPr id="19" name="Shape 17"/>
          <p:cNvSpPr/>
          <p:nvPr/>
        </p:nvSpPr>
        <p:spPr>
          <a:xfrm>
            <a:off x="1645920" y="4434840"/>
            <a:ext cx="777240" cy="347472"/>
          </a:xfrm>
          <a:prstGeom prst="roundRect">
            <a:avLst>
              <a:gd name="adj" fmla="val 50000"/>
            </a:avLst>
          </a:prstGeom>
          <a:solidFill>
            <a:srgbClr val="F3F1EC"/>
          </a:solidFill>
          <a:ln w="9525">
            <a:solidFill>
              <a:srgbClr val="DDD6CB"/>
            </a:solidFill>
            <a:prstDash val="solid"/>
          </a:ln>
        </p:spPr>
      </p:sp>
      <p:sp>
        <p:nvSpPr>
          <p:cNvPr id="20" name="Text 18"/>
          <p:cNvSpPr txBox="1"/>
          <p:nvPr/>
        </p:nvSpPr>
        <p:spPr>
          <a:xfrm>
            <a:off x="1645920" y="4434840"/>
            <a:ext cx="777240" cy="347472"/>
          </a:xfrm>
          <a:prstGeom prst="rect">
            <a:avLst/>
          </a:prstGeom>
          <a:noFill/>
          <a:ln/>
        </p:spPr>
        <p:txBody>
          <a:bodyPr wrap="square" lIns="0" tIns="0" rIns="0" bIns="0" rtlCol="0" anchor="ctr"/>
          <a:lstStyle/>
          <a:p>
            <a:pPr algn="ctr" indent="0" marL="0">
              <a:buNone/>
            </a:pPr>
            <a:r>
              <a:rPr lang="en-US" sz="1050" dirty="0">
                <a:solidFill>
                  <a:srgbClr val="6E6960"/>
                </a:solidFill>
                <a:latin typeface="Yu Gothic" pitchFamily="34" charset="0"/>
                <a:ea typeface="Yu Gothic" pitchFamily="34" charset="-122"/>
                <a:cs typeface="Yu Gothic" pitchFamily="34" charset="-120"/>
              </a:rPr>
              <a:t>住所</a:t>
            </a:r>
            <a:endParaRPr lang="en-US" sz="1050" dirty="0"/>
          </a:p>
        </p:txBody>
      </p:sp>
      <p:sp>
        <p:nvSpPr>
          <p:cNvPr id="21" name="Shape 19"/>
          <p:cNvSpPr/>
          <p:nvPr/>
        </p:nvSpPr>
        <p:spPr>
          <a:xfrm>
            <a:off x="2514600" y="4434840"/>
            <a:ext cx="777240" cy="347472"/>
          </a:xfrm>
          <a:prstGeom prst="roundRect">
            <a:avLst>
              <a:gd name="adj" fmla="val 50000"/>
            </a:avLst>
          </a:prstGeom>
          <a:solidFill>
            <a:srgbClr val="F3F1EC"/>
          </a:solidFill>
          <a:ln w="9525">
            <a:solidFill>
              <a:srgbClr val="DDD6CB"/>
            </a:solidFill>
            <a:prstDash val="solid"/>
          </a:ln>
        </p:spPr>
      </p:sp>
      <p:sp>
        <p:nvSpPr>
          <p:cNvPr id="22" name="Text 20"/>
          <p:cNvSpPr txBox="1"/>
          <p:nvPr/>
        </p:nvSpPr>
        <p:spPr>
          <a:xfrm>
            <a:off x="2514600" y="4434840"/>
            <a:ext cx="777240" cy="347472"/>
          </a:xfrm>
          <a:prstGeom prst="rect">
            <a:avLst/>
          </a:prstGeom>
          <a:noFill/>
          <a:ln/>
        </p:spPr>
        <p:txBody>
          <a:bodyPr wrap="square" lIns="0" tIns="0" rIns="0" bIns="0" rtlCol="0" anchor="ctr"/>
          <a:lstStyle/>
          <a:p>
            <a:pPr algn="ctr" indent="0" marL="0">
              <a:buNone/>
            </a:pPr>
            <a:r>
              <a:rPr lang="en-US" sz="1050" dirty="0">
                <a:solidFill>
                  <a:srgbClr val="6E6960"/>
                </a:solidFill>
                <a:latin typeface="Yu Gothic" pitchFamily="34" charset="0"/>
                <a:ea typeface="Yu Gothic" pitchFamily="34" charset="-122"/>
                <a:cs typeface="Yu Gothic" pitchFamily="34" charset="-120"/>
              </a:rPr>
              <a:t>ジャンル</a:t>
            </a:r>
            <a:endParaRPr lang="en-US" sz="1050" dirty="0"/>
          </a:p>
        </p:txBody>
      </p:sp>
      <p:sp>
        <p:nvSpPr>
          <p:cNvPr id="23" name="Shape 21"/>
          <p:cNvSpPr/>
          <p:nvPr/>
        </p:nvSpPr>
        <p:spPr>
          <a:xfrm>
            <a:off x="3383280" y="4434840"/>
            <a:ext cx="777240" cy="347472"/>
          </a:xfrm>
          <a:prstGeom prst="roundRect">
            <a:avLst>
              <a:gd name="adj" fmla="val 50000"/>
            </a:avLst>
          </a:prstGeom>
          <a:solidFill>
            <a:srgbClr val="F3F1EC"/>
          </a:solidFill>
          <a:ln w="9525">
            <a:solidFill>
              <a:srgbClr val="DDD6CB"/>
            </a:solidFill>
            <a:prstDash val="solid"/>
          </a:ln>
        </p:spPr>
      </p:sp>
      <p:sp>
        <p:nvSpPr>
          <p:cNvPr id="24" name="Text 22"/>
          <p:cNvSpPr txBox="1"/>
          <p:nvPr/>
        </p:nvSpPr>
        <p:spPr>
          <a:xfrm>
            <a:off x="3383280" y="4434840"/>
            <a:ext cx="777240" cy="347472"/>
          </a:xfrm>
          <a:prstGeom prst="rect">
            <a:avLst/>
          </a:prstGeom>
          <a:noFill/>
          <a:ln/>
        </p:spPr>
        <p:txBody>
          <a:bodyPr wrap="square" lIns="0" tIns="0" rIns="0" bIns="0" rtlCol="0" anchor="ctr"/>
          <a:lstStyle/>
          <a:p>
            <a:pPr algn="ctr" indent="0" marL="0">
              <a:buNone/>
            </a:pPr>
            <a:r>
              <a:rPr lang="en-US" sz="1050" dirty="0">
                <a:solidFill>
                  <a:srgbClr val="6E6960"/>
                </a:solidFill>
                <a:latin typeface="Yu Gothic" pitchFamily="34" charset="0"/>
                <a:ea typeface="Yu Gothic" pitchFamily="34" charset="-122"/>
                <a:cs typeface="Yu Gothic" pitchFamily="34" charset="-120"/>
              </a:rPr>
              <a:t>料理</a:t>
            </a:r>
            <a:endParaRPr lang="en-US" sz="1050" dirty="0"/>
          </a:p>
        </p:txBody>
      </p:sp>
      <p:sp>
        <p:nvSpPr>
          <p:cNvPr id="25" name="Shape 23"/>
          <p:cNvSpPr/>
          <p:nvPr/>
        </p:nvSpPr>
        <p:spPr>
          <a:xfrm>
            <a:off x="777240" y="4892040"/>
            <a:ext cx="777240" cy="347472"/>
          </a:xfrm>
          <a:prstGeom prst="roundRect">
            <a:avLst>
              <a:gd name="adj" fmla="val 50000"/>
            </a:avLst>
          </a:prstGeom>
          <a:solidFill>
            <a:srgbClr val="F3F1EC"/>
          </a:solidFill>
          <a:ln w="9525">
            <a:solidFill>
              <a:srgbClr val="DDD6CB"/>
            </a:solidFill>
            <a:prstDash val="solid"/>
          </a:ln>
        </p:spPr>
      </p:sp>
      <p:sp>
        <p:nvSpPr>
          <p:cNvPr id="26" name="Text 24"/>
          <p:cNvSpPr txBox="1"/>
          <p:nvPr/>
        </p:nvSpPr>
        <p:spPr>
          <a:xfrm>
            <a:off x="777240" y="4892040"/>
            <a:ext cx="777240" cy="347472"/>
          </a:xfrm>
          <a:prstGeom prst="rect">
            <a:avLst/>
          </a:prstGeom>
          <a:noFill/>
          <a:ln/>
        </p:spPr>
        <p:txBody>
          <a:bodyPr wrap="square" lIns="0" tIns="0" rIns="0" bIns="0" rtlCol="0" anchor="ctr"/>
          <a:lstStyle/>
          <a:p>
            <a:pPr algn="ctr" indent="0" marL="0">
              <a:buNone/>
            </a:pPr>
            <a:r>
              <a:rPr lang="en-US" sz="1050" dirty="0">
                <a:solidFill>
                  <a:srgbClr val="6E6960"/>
                </a:solidFill>
                <a:latin typeface="Yu Gothic" pitchFamily="34" charset="0"/>
                <a:ea typeface="Yu Gothic" pitchFamily="34" charset="-122"/>
                <a:cs typeface="Yu Gothic" pitchFamily="34" charset="-120"/>
              </a:rPr>
              <a:t>日時</a:t>
            </a:r>
            <a:endParaRPr lang="en-US" sz="1050" dirty="0"/>
          </a:p>
        </p:txBody>
      </p:sp>
      <p:sp>
        <p:nvSpPr>
          <p:cNvPr id="27" name="Shape 25"/>
          <p:cNvSpPr/>
          <p:nvPr/>
        </p:nvSpPr>
        <p:spPr>
          <a:xfrm>
            <a:off x="1645920" y="4892040"/>
            <a:ext cx="777240" cy="347472"/>
          </a:xfrm>
          <a:prstGeom prst="roundRect">
            <a:avLst>
              <a:gd name="adj" fmla="val 50000"/>
            </a:avLst>
          </a:prstGeom>
          <a:solidFill>
            <a:srgbClr val="F3F1EC"/>
          </a:solidFill>
          <a:ln w="9525">
            <a:solidFill>
              <a:srgbClr val="DDD6CB"/>
            </a:solidFill>
            <a:prstDash val="solid"/>
          </a:ln>
        </p:spPr>
      </p:sp>
      <p:sp>
        <p:nvSpPr>
          <p:cNvPr id="28" name="Text 26"/>
          <p:cNvSpPr txBox="1"/>
          <p:nvPr/>
        </p:nvSpPr>
        <p:spPr>
          <a:xfrm>
            <a:off x="1645920" y="4892040"/>
            <a:ext cx="777240" cy="347472"/>
          </a:xfrm>
          <a:prstGeom prst="rect">
            <a:avLst/>
          </a:prstGeom>
          <a:noFill/>
          <a:ln/>
        </p:spPr>
        <p:txBody>
          <a:bodyPr wrap="square" lIns="0" tIns="0" rIns="0" bIns="0" rtlCol="0" anchor="ctr"/>
          <a:lstStyle/>
          <a:p>
            <a:pPr algn="ctr" indent="0" marL="0">
              <a:buNone/>
            </a:pPr>
            <a:r>
              <a:rPr lang="en-US" sz="1050" dirty="0">
                <a:solidFill>
                  <a:srgbClr val="6E6960"/>
                </a:solidFill>
                <a:latin typeface="Yu Gothic" pitchFamily="34" charset="0"/>
                <a:ea typeface="Yu Gothic" pitchFamily="34" charset="-122"/>
                <a:cs typeface="Yu Gothic" pitchFamily="34" charset="-120"/>
              </a:rPr>
              <a:t>写真</a:t>
            </a:r>
            <a:endParaRPr lang="en-US" sz="1050" dirty="0"/>
          </a:p>
        </p:txBody>
      </p:sp>
      <p:sp>
        <p:nvSpPr>
          <p:cNvPr id="29" name="Shape 27"/>
          <p:cNvSpPr/>
          <p:nvPr/>
        </p:nvSpPr>
        <p:spPr>
          <a:xfrm>
            <a:off x="2514600" y="4892040"/>
            <a:ext cx="777240" cy="347472"/>
          </a:xfrm>
          <a:prstGeom prst="roundRect">
            <a:avLst>
              <a:gd name="adj" fmla="val 50000"/>
            </a:avLst>
          </a:prstGeom>
          <a:solidFill>
            <a:srgbClr val="F3F1EC"/>
          </a:solidFill>
          <a:ln w="9525">
            <a:solidFill>
              <a:srgbClr val="DDD6CB"/>
            </a:solidFill>
            <a:prstDash val="solid"/>
          </a:ln>
        </p:spPr>
      </p:sp>
      <p:sp>
        <p:nvSpPr>
          <p:cNvPr id="30" name="Text 28"/>
          <p:cNvSpPr txBox="1"/>
          <p:nvPr/>
        </p:nvSpPr>
        <p:spPr>
          <a:xfrm>
            <a:off x="2514600" y="4892040"/>
            <a:ext cx="777240" cy="347472"/>
          </a:xfrm>
          <a:prstGeom prst="rect">
            <a:avLst/>
          </a:prstGeom>
          <a:noFill/>
          <a:ln/>
        </p:spPr>
        <p:txBody>
          <a:bodyPr wrap="square" lIns="0" tIns="0" rIns="0" bIns="0" rtlCol="0" anchor="ctr"/>
          <a:lstStyle/>
          <a:p>
            <a:pPr algn="ctr" indent="0" marL="0">
              <a:buNone/>
            </a:pPr>
            <a:r>
              <a:rPr lang="en-US" sz="1050" dirty="0">
                <a:solidFill>
                  <a:srgbClr val="6E6960"/>
                </a:solidFill>
                <a:latin typeface="Yu Gothic" pitchFamily="34" charset="0"/>
                <a:ea typeface="Yu Gothic" pitchFamily="34" charset="-122"/>
                <a:cs typeface="Yu Gothic" pitchFamily="34" charset="-120"/>
              </a:rPr>
              <a:t>評価</a:t>
            </a:r>
            <a:endParaRPr lang="en-US" sz="1050" dirty="0"/>
          </a:p>
        </p:txBody>
      </p:sp>
      <p:sp>
        <p:nvSpPr>
          <p:cNvPr id="31" name="Text 29"/>
          <p:cNvSpPr txBox="1"/>
          <p:nvPr/>
        </p:nvSpPr>
        <p:spPr>
          <a:xfrm>
            <a:off x="777240" y="5440680"/>
            <a:ext cx="3474720" cy="320040"/>
          </a:xfrm>
          <a:prstGeom prst="rect">
            <a:avLst/>
          </a:prstGeom>
          <a:noFill/>
          <a:ln/>
        </p:spPr>
        <p:txBody>
          <a:bodyPr wrap="square" lIns="0" tIns="0" rIns="0" bIns="0" rtlCol="0" anchor="ctr"/>
          <a:lstStyle/>
          <a:p>
            <a:pPr indent="0" marL="0">
              <a:buNone/>
            </a:pPr>
            <a:r>
              <a:rPr lang="en-US" sz="1150" b="1" dirty="0">
                <a:solidFill>
                  <a:srgbClr val="8A857D"/>
                </a:solidFill>
                <a:latin typeface="Yu Gothic" pitchFamily="34" charset="0"/>
                <a:ea typeface="Yu Gothic" pitchFamily="34" charset="-122"/>
                <a:cs typeface="Yu Gothic" pitchFamily="34" charset="-120"/>
              </a:rPr>
              <a:t>7項目を手入力 → 続かない</a:t>
            </a:r>
            <a:endParaRPr lang="en-US" sz="1150" dirty="0"/>
          </a:p>
        </p:txBody>
      </p:sp>
      <p:sp>
        <p:nvSpPr>
          <p:cNvPr id="32" name="Shape 30"/>
          <p:cNvSpPr/>
          <p:nvPr/>
        </p:nvSpPr>
        <p:spPr>
          <a:xfrm>
            <a:off x="4343400" y="4617720"/>
            <a:ext cx="502920" cy="310896"/>
          </a:xfrm>
          <a:prstGeom prst="rightArrow">
            <a:avLst/>
          </a:prstGeom>
          <a:solidFill>
            <a:srgbClr val="D9CFC2"/>
          </a:solidFill>
          <a:ln w="12700">
            <a:solidFill>
              <a:srgbClr val="D9CFC2"/>
            </a:solidFill>
            <a:prstDash val="solid"/>
          </a:ln>
        </p:spPr>
      </p:sp>
      <p:sp>
        <p:nvSpPr>
          <p:cNvPr id="33" name="Text 31"/>
          <p:cNvSpPr txBox="1"/>
          <p:nvPr/>
        </p:nvSpPr>
        <p:spPr>
          <a:xfrm>
            <a:off x="5029200" y="4114800"/>
            <a:ext cx="3200400" cy="274320"/>
          </a:xfrm>
          <a:prstGeom prst="rect">
            <a:avLst/>
          </a:prstGeom>
          <a:noFill/>
          <a:ln/>
        </p:spPr>
        <p:txBody>
          <a:bodyPr wrap="square" lIns="0" tIns="0" rIns="0" bIns="0" rtlCol="0" anchor="ctr"/>
          <a:lstStyle/>
          <a:p>
            <a:pPr indent="0" marL="0">
              <a:buNone/>
            </a:pPr>
            <a:r>
              <a:rPr lang="en-US" sz="1100" b="1" dirty="0">
                <a:solidFill>
                  <a:srgbClr val="C6613F"/>
                </a:solidFill>
                <a:latin typeface="Yu Gothic" pitchFamily="34" charset="0"/>
                <a:ea typeface="Yu Gothic" pitchFamily="34" charset="-122"/>
                <a:cs typeface="Yu Gothic" pitchFamily="34" charset="-120"/>
              </a:rPr>
              <a:t>BITEMAP</a:t>
            </a:r>
            <a:endParaRPr lang="en-US" sz="1100" dirty="0"/>
          </a:p>
        </p:txBody>
      </p:sp>
      <p:sp>
        <p:nvSpPr>
          <p:cNvPr id="34" name="Shape 32"/>
          <p:cNvSpPr/>
          <p:nvPr/>
        </p:nvSpPr>
        <p:spPr>
          <a:xfrm>
            <a:off x="5029200" y="4434840"/>
            <a:ext cx="1234440" cy="804672"/>
          </a:xfrm>
          <a:prstGeom prst="roundRect">
            <a:avLst>
              <a:gd name="adj" fmla="val 13636"/>
            </a:avLst>
          </a:prstGeom>
          <a:solidFill>
            <a:srgbClr val="FBEFE9"/>
          </a:solidFill>
          <a:ln w="9525">
            <a:solidFill>
              <a:srgbClr val="EFD3C6"/>
            </a:solidFill>
            <a:prstDash val="solid"/>
          </a:ln>
        </p:spPr>
      </p:sp>
      <p:sp>
        <p:nvSpPr>
          <p:cNvPr id="35" name="Text 33"/>
          <p:cNvSpPr txBox="1"/>
          <p:nvPr/>
        </p:nvSpPr>
        <p:spPr>
          <a:xfrm>
            <a:off x="5029200" y="4434840"/>
            <a:ext cx="1234440" cy="804672"/>
          </a:xfrm>
          <a:prstGeom prst="rect">
            <a:avLst/>
          </a:prstGeom>
          <a:noFill/>
          <a:ln/>
        </p:spPr>
        <p:txBody>
          <a:bodyPr wrap="square" lIns="0" tIns="0" rIns="0" bIns="0" rtlCol="0" anchor="ctr"/>
          <a:lstStyle/>
          <a:p>
            <a:pPr algn="ctr" indent="0" marL="0">
              <a:buNone/>
            </a:pPr>
            <a:r>
              <a:rPr lang="en-US" sz="1400" b="1" dirty="0">
                <a:solidFill>
                  <a:srgbClr val="B4552F"/>
                </a:solidFill>
                <a:latin typeface="Yu Gothic" pitchFamily="34" charset="0"/>
                <a:ea typeface="Yu Gothic" pitchFamily="34" charset="-122"/>
                <a:cs typeface="Yu Gothic" pitchFamily="34" charset="-120"/>
              </a:rPr>
              <a:t>📷 写真</a:t>
            </a:r>
            <a:endParaRPr lang="en-US" sz="1400" dirty="0"/>
          </a:p>
        </p:txBody>
      </p:sp>
      <p:sp>
        <p:nvSpPr>
          <p:cNvPr id="36" name="Text 34"/>
          <p:cNvSpPr txBox="1"/>
          <p:nvPr/>
        </p:nvSpPr>
        <p:spPr>
          <a:xfrm>
            <a:off x="6263640" y="4434840"/>
            <a:ext cx="365760" cy="804672"/>
          </a:xfrm>
          <a:prstGeom prst="rect">
            <a:avLst/>
          </a:prstGeom>
          <a:noFill/>
          <a:ln/>
        </p:spPr>
        <p:txBody>
          <a:bodyPr wrap="square" lIns="0" tIns="0" rIns="0" bIns="0" rtlCol="0" anchor="ctr"/>
          <a:lstStyle/>
          <a:p>
            <a:pPr algn="ctr" indent="0" marL="0">
              <a:buNone/>
            </a:pPr>
            <a:r>
              <a:rPr lang="en-US" sz="1800" b="1" dirty="0">
                <a:solidFill>
                  <a:srgbClr val="C6613F"/>
                </a:solidFill>
                <a:latin typeface="Yu Gothic" pitchFamily="34" charset="0"/>
                <a:ea typeface="Yu Gothic" pitchFamily="34" charset="-122"/>
                <a:cs typeface="Yu Gothic" pitchFamily="34" charset="-120"/>
              </a:rPr>
              <a:t>＋</a:t>
            </a:r>
            <a:endParaRPr lang="en-US" sz="1800" dirty="0"/>
          </a:p>
        </p:txBody>
      </p:sp>
      <p:sp>
        <p:nvSpPr>
          <p:cNvPr id="37" name="Shape 35"/>
          <p:cNvSpPr/>
          <p:nvPr/>
        </p:nvSpPr>
        <p:spPr>
          <a:xfrm>
            <a:off x="6629400" y="4434840"/>
            <a:ext cx="1554480" cy="804672"/>
          </a:xfrm>
          <a:prstGeom prst="roundRect">
            <a:avLst>
              <a:gd name="adj" fmla="val 13636"/>
            </a:avLst>
          </a:prstGeom>
          <a:solidFill>
            <a:srgbClr val="FBEFE9"/>
          </a:solidFill>
          <a:ln w="9525">
            <a:solidFill>
              <a:srgbClr val="EFD3C6"/>
            </a:solidFill>
            <a:prstDash val="solid"/>
          </a:ln>
        </p:spPr>
      </p:sp>
      <p:sp>
        <p:nvSpPr>
          <p:cNvPr id="38" name="Text 36"/>
          <p:cNvSpPr txBox="1"/>
          <p:nvPr/>
        </p:nvSpPr>
        <p:spPr>
          <a:xfrm>
            <a:off x="6629400" y="4434840"/>
            <a:ext cx="1554480" cy="804672"/>
          </a:xfrm>
          <a:prstGeom prst="rect">
            <a:avLst/>
          </a:prstGeom>
          <a:noFill/>
          <a:ln/>
        </p:spPr>
        <p:txBody>
          <a:bodyPr wrap="square" lIns="0" tIns="0" rIns="0" bIns="0" rtlCol="0" anchor="ctr"/>
          <a:lstStyle/>
          <a:p>
            <a:pPr algn="ctr" indent="0" marL="0">
              <a:buNone/>
            </a:pPr>
            <a:r>
              <a:rPr lang="en-US" sz="1400" b="1" dirty="0">
                <a:solidFill>
                  <a:srgbClr val="B4552F"/>
                </a:solidFill>
                <a:latin typeface="Yu Gothic" pitchFamily="34" charset="0"/>
                <a:ea typeface="Yu Gothic" pitchFamily="34" charset="-122"/>
                <a:cs typeface="Yu Gothic" pitchFamily="34" charset="-120"/>
              </a:rPr>
              <a:t>★ 評価 ＋ 店名</a:t>
            </a:r>
            <a:endParaRPr lang="en-US" sz="1400" dirty="0"/>
          </a:p>
        </p:txBody>
      </p:sp>
      <p:sp>
        <p:nvSpPr>
          <p:cNvPr id="39" name="Text 37"/>
          <p:cNvSpPr txBox="1"/>
          <p:nvPr/>
        </p:nvSpPr>
        <p:spPr>
          <a:xfrm>
            <a:off x="5029200" y="5349240"/>
            <a:ext cx="3246120" cy="548640"/>
          </a:xfrm>
          <a:prstGeom prst="rect">
            <a:avLst/>
          </a:prstGeom>
          <a:noFill/>
          <a:ln/>
        </p:spPr>
        <p:txBody>
          <a:bodyPr wrap="square" lIns="0" tIns="0" rIns="0" bIns="0" rtlCol="0" anchor="ctr"/>
          <a:lstStyle/>
          <a:p>
            <a:pPr indent="0" marL="0">
              <a:buNone/>
            </a:pPr>
            <a:r>
              <a:rPr lang="en-US" sz="1050" b="1" dirty="0">
                <a:solidFill>
                  <a:srgbClr val="C6613F"/>
                </a:solidFill>
                <a:latin typeface="Yu Gothic" pitchFamily="34" charset="0"/>
                <a:ea typeface="Yu Gothic" pitchFamily="34" charset="-122"/>
                <a:cs typeface="Yu Gothic" pitchFamily="34" charset="-120"/>
              </a:rPr>
              <a:t>約1分。場所は写真の位置情報から、ジャンルはAIが判定、日時は写真から</a:t>
            </a:r>
            <a:endParaRPr lang="en-US" sz="1050" dirty="0"/>
          </a:p>
        </p:txBody>
      </p:sp>
      <p:sp>
        <p:nvSpPr>
          <p:cNvPr id="40" name="Text 38"/>
          <p:cNvSpPr txBox="1"/>
          <p:nvPr/>
        </p:nvSpPr>
        <p:spPr>
          <a:xfrm>
            <a:off x="777240" y="5897880"/>
            <a:ext cx="7406640" cy="365760"/>
          </a:xfrm>
          <a:prstGeom prst="rect">
            <a:avLst/>
          </a:prstGeom>
          <a:noFill/>
          <a:ln/>
        </p:spPr>
        <p:txBody>
          <a:bodyPr wrap="square" lIns="0" tIns="0" rIns="0" bIns="0" rtlCol="0" anchor="ctr"/>
          <a:lstStyle/>
          <a:p>
            <a:pPr indent="0" marL="0">
              <a:buNone/>
            </a:pPr>
            <a:r>
              <a:rPr lang="en-US" sz="950" dirty="0">
                <a:solidFill>
                  <a:srgbClr val="8A857D"/>
                </a:solidFill>
                <a:latin typeface="Yu Gothic" pitchFamily="34" charset="0"/>
                <a:ea typeface="Yu Gothic" pitchFamily="34" charset="-122"/>
                <a:cs typeface="Yu Gothic" pitchFamily="34" charset="-120"/>
              </a:rPr>
              <a:t>データは本人のアカウント領域のみに保存（Firebaseルール）／AI判定は利用者自身のキーで実行／オフライン起動・ダークモード・地図クラスタ</a:t>
            </a:r>
            <a:endParaRPr lang="en-US" sz="950" dirty="0"/>
          </a:p>
        </p:txBody>
      </p:sp>
      <p:sp>
        <p:nvSpPr>
          <p:cNvPr id="41" name="Shape 39"/>
          <p:cNvSpPr/>
          <p:nvPr/>
        </p:nvSpPr>
        <p:spPr>
          <a:xfrm>
            <a:off x="8677656" y="1453896"/>
            <a:ext cx="2306888" cy="4864608"/>
          </a:xfrm>
          <a:prstGeom prst="roundRect">
            <a:avLst>
              <a:gd name="adj" fmla="val 8720"/>
            </a:avLst>
          </a:prstGeom>
          <a:solidFill>
            <a:srgbClr val="1F1E1D"/>
          </a:solidFill>
          <a:ln w="12700">
            <a:solidFill>
              <a:srgbClr val="1F1E1D"/>
            </a:solidFill>
            <a:prstDash val="solid"/>
          </a:ln>
          <a:effectLst>
            <a:outerShdw sx="100000" sy="100000" kx="0" ky="0" algn="bl" rotWithShape="0" blurRad="76200" dist="25400" dir="5400000">
              <a:srgbClr val="000000">
                <a:alpha val="12000"/>
              </a:srgbClr>
            </a:outerShdw>
          </a:effectLst>
        </p:spPr>
      </p:sp>
      <p:pic>
        <p:nvPicPr>
          <p:cNvPr id="42" name="Image 0" descr="/tmp/claude-0/-home-user-gourmet-app/8edbdaa3-b81a-5c49-b452-bda755b7f07f/scratchpad/real/shots/stats.png">    </p:cNvPr>
          <p:cNvPicPr>
            <a:picLocks noChangeAspect="1"/>
          </p:cNvPicPr>
          <p:nvPr/>
        </p:nvPicPr>
        <p:blipFill>
          <a:blip r:embed="rId1"/>
          <a:stretch>
            <a:fillRect/>
          </a:stretch>
        </p:blipFill>
        <p:spPr>
          <a:xfrm>
            <a:off x="8732520" y="1508760"/>
            <a:ext cx="2197160" cy="4754880"/>
          </a:xfrm>
          <a:prstGeom prst="rect">
            <a:avLst/>
          </a:prstGeom>
        </p:spPr>
      </p:pic>
      <p:sp>
        <p:nvSpPr>
          <p:cNvPr id="43" name="Text 40"/>
          <p:cNvSpPr txBox="1"/>
          <p:nvPr/>
        </p:nvSpPr>
        <p:spPr>
          <a:xfrm>
            <a:off x="8138160" y="6309360"/>
            <a:ext cx="3017520" cy="274320"/>
          </a:xfrm>
          <a:prstGeom prst="rect">
            <a:avLst/>
          </a:prstGeom>
          <a:noFill/>
          <a:ln/>
        </p:spPr>
        <p:txBody>
          <a:bodyPr wrap="square" lIns="0" tIns="0" rIns="0" bIns="0" rtlCol="0" anchor="ctr"/>
          <a:lstStyle/>
          <a:p>
            <a:pPr algn="ctr" indent="0" marL="0">
              <a:buNone/>
            </a:pPr>
            <a:r>
              <a:rPr lang="en-US" sz="850" dirty="0">
                <a:solidFill>
                  <a:srgbClr val="8A857D"/>
                </a:solidFill>
                <a:latin typeface="Yu Gothic" pitchFamily="34" charset="0"/>
                <a:ea typeface="Yu Gothic" pitchFamily="34" charset="-122"/>
                <a:cs typeface="Yu Gothic" pitchFamily="34" charset="-120"/>
              </a:rPr>
              <a:t>ふりかえり画面（画面・動画は★3以上のみ：190店舗）</a:t>
            </a:r>
            <a:endParaRPr lang="en-US" sz="850" dirty="0"/>
          </a:p>
        </p:txBody>
      </p:sp>
      <p:sp>
        <p:nvSpPr>
          <p:cNvPr id="44" name="Text 4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45" name="Text 42"/>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オリジナリティ</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オリジナリティ ― 情報の流れを、逆にする</a:t>
            </a:r>
            <a:endParaRPr lang="en-US" sz="3000" dirty="0"/>
          </a:p>
        </p:txBody>
      </p:sp>
      <p:sp>
        <p:nvSpPr>
          <p:cNvPr id="4" name="Shape 2"/>
          <p:cNvSpPr/>
          <p:nvPr/>
        </p:nvSpPr>
        <p:spPr>
          <a:xfrm>
            <a:off x="548640" y="1508760"/>
            <a:ext cx="7680960" cy="2926080"/>
          </a:xfrm>
          <a:prstGeom prst="roundRect">
            <a:avLst>
              <a:gd name="adj" fmla="val 3750"/>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645920"/>
            <a:ext cx="3657600" cy="274320"/>
          </a:xfrm>
          <a:prstGeom prst="rect">
            <a:avLst/>
          </a:prstGeom>
          <a:noFill/>
          <a:ln/>
        </p:spPr>
        <p:txBody>
          <a:bodyPr wrap="square" lIns="0" tIns="0" rIns="0" bIns="0" rtlCol="0" anchor="ctr"/>
          <a:lstStyle/>
          <a:p>
            <a:pPr indent="0" marL="0">
              <a:buNone/>
            </a:pPr>
            <a:r>
              <a:rPr lang="en-US" sz="1100" b="1" dirty="0">
                <a:solidFill>
                  <a:srgbClr val="8A857D"/>
                </a:solidFill>
                <a:latin typeface="Yu Gothic" pitchFamily="34" charset="0"/>
                <a:ea typeface="Yu Gothic" pitchFamily="34" charset="-122"/>
                <a:cs typeface="Yu Gothic" pitchFamily="34" charset="-120"/>
              </a:rPr>
              <a:t>一般的なグルメサイト</a:t>
            </a:r>
            <a:endParaRPr lang="en-US" sz="1100" dirty="0"/>
          </a:p>
        </p:txBody>
      </p:sp>
      <p:sp>
        <p:nvSpPr>
          <p:cNvPr id="6" name="Shape 4"/>
          <p:cNvSpPr/>
          <p:nvPr/>
        </p:nvSpPr>
        <p:spPr>
          <a:xfrm>
            <a:off x="777240" y="1993392"/>
            <a:ext cx="1981200" cy="777240"/>
          </a:xfrm>
          <a:prstGeom prst="roundRect">
            <a:avLst>
              <a:gd name="adj" fmla="val 11765"/>
            </a:avLst>
          </a:prstGeom>
          <a:solidFill>
            <a:srgbClr val="F3F1EC"/>
          </a:solidFill>
          <a:ln w="12700">
            <a:solidFill>
              <a:srgbClr val="DDD6CB"/>
            </a:solidFill>
            <a:prstDash val="solid"/>
          </a:ln>
        </p:spPr>
      </p:sp>
      <p:sp>
        <p:nvSpPr>
          <p:cNvPr id="7" name="Text 5"/>
          <p:cNvSpPr txBox="1"/>
          <p:nvPr/>
        </p:nvSpPr>
        <p:spPr>
          <a:xfrm>
            <a:off x="822960" y="1993392"/>
            <a:ext cx="1889760" cy="777240"/>
          </a:xfrm>
          <a:prstGeom prst="rect">
            <a:avLst/>
          </a:prstGeom>
          <a:noFill/>
          <a:ln/>
        </p:spPr>
        <p:txBody>
          <a:bodyPr wrap="square" lIns="0" tIns="0" rIns="0" bIns="0" rtlCol="0" anchor="ctr"/>
          <a:lstStyle/>
          <a:p>
            <a:pPr algn="ctr" indent="0" marL="0">
              <a:buNone/>
            </a:pPr>
            <a:r>
              <a:rPr lang="en-US" sz="1200" b="1" dirty="0">
                <a:solidFill>
                  <a:srgbClr val="8A857D"/>
                </a:solidFill>
                <a:latin typeface="Yu Gothic" pitchFamily="34" charset="0"/>
                <a:ea typeface="Yu Gothic" pitchFamily="34" charset="-122"/>
                <a:cs typeface="Yu Gothic" pitchFamily="34" charset="-120"/>
              </a:rPr>
              <a:t>店</a:t>
            </a:r>
            <a:endParaRPr lang="en-US" sz="1200" dirty="0"/>
          </a:p>
        </p:txBody>
      </p:sp>
      <p:sp>
        <p:nvSpPr>
          <p:cNvPr id="8" name="Shape 6"/>
          <p:cNvSpPr/>
          <p:nvPr/>
        </p:nvSpPr>
        <p:spPr>
          <a:xfrm>
            <a:off x="2813304" y="2231136"/>
            <a:ext cx="301752" cy="292608"/>
          </a:xfrm>
          <a:prstGeom prst="rightArrow">
            <a:avLst/>
          </a:prstGeom>
          <a:solidFill>
            <a:srgbClr val="DDD6CB"/>
          </a:solidFill>
          <a:ln w="12700">
            <a:solidFill>
              <a:srgbClr val="DDD6CB"/>
            </a:solidFill>
            <a:prstDash val="solid"/>
          </a:ln>
        </p:spPr>
      </p:sp>
      <p:sp>
        <p:nvSpPr>
          <p:cNvPr id="9" name="Shape 7"/>
          <p:cNvSpPr/>
          <p:nvPr/>
        </p:nvSpPr>
        <p:spPr>
          <a:xfrm>
            <a:off x="3169920" y="1993392"/>
            <a:ext cx="1981200" cy="777240"/>
          </a:xfrm>
          <a:prstGeom prst="roundRect">
            <a:avLst>
              <a:gd name="adj" fmla="val 11765"/>
            </a:avLst>
          </a:prstGeom>
          <a:solidFill>
            <a:srgbClr val="F3F1EC"/>
          </a:solidFill>
          <a:ln w="12700">
            <a:solidFill>
              <a:srgbClr val="DDD6CB"/>
            </a:solidFill>
            <a:prstDash val="solid"/>
          </a:ln>
        </p:spPr>
      </p:sp>
      <p:sp>
        <p:nvSpPr>
          <p:cNvPr id="10" name="Text 8"/>
          <p:cNvSpPr txBox="1"/>
          <p:nvPr/>
        </p:nvSpPr>
        <p:spPr>
          <a:xfrm>
            <a:off x="3215640" y="1993392"/>
            <a:ext cx="1889760" cy="777240"/>
          </a:xfrm>
          <a:prstGeom prst="rect">
            <a:avLst/>
          </a:prstGeom>
          <a:noFill/>
          <a:ln/>
        </p:spPr>
        <p:txBody>
          <a:bodyPr wrap="square" lIns="0" tIns="0" rIns="0" bIns="0" rtlCol="0" anchor="ctr"/>
          <a:lstStyle/>
          <a:p>
            <a:pPr algn="ctr" indent="0" marL="0">
              <a:buNone/>
            </a:pPr>
            <a:r>
              <a:rPr lang="en-US" sz="1200" b="1" dirty="0">
                <a:solidFill>
                  <a:srgbClr val="8A857D"/>
                </a:solidFill>
                <a:latin typeface="Yu Gothic" pitchFamily="34" charset="0"/>
                <a:ea typeface="Yu Gothic" pitchFamily="34" charset="-122"/>
                <a:cs typeface="Yu Gothic" pitchFamily="34" charset="-120"/>
              </a:rPr>
              <a:t>評価（みんなの平均）</a:t>
            </a:r>
            <a:endParaRPr lang="en-US" sz="1200" dirty="0"/>
          </a:p>
        </p:txBody>
      </p:sp>
      <p:sp>
        <p:nvSpPr>
          <p:cNvPr id="11" name="Shape 9"/>
          <p:cNvSpPr/>
          <p:nvPr/>
        </p:nvSpPr>
        <p:spPr>
          <a:xfrm>
            <a:off x="5205984" y="2231136"/>
            <a:ext cx="301752" cy="292608"/>
          </a:xfrm>
          <a:prstGeom prst="rightArrow">
            <a:avLst/>
          </a:prstGeom>
          <a:solidFill>
            <a:srgbClr val="DDD6CB"/>
          </a:solidFill>
          <a:ln w="12700">
            <a:solidFill>
              <a:srgbClr val="DDD6CB"/>
            </a:solidFill>
            <a:prstDash val="solid"/>
          </a:ln>
        </p:spPr>
      </p:sp>
      <p:sp>
        <p:nvSpPr>
          <p:cNvPr id="12" name="Shape 10"/>
          <p:cNvSpPr/>
          <p:nvPr/>
        </p:nvSpPr>
        <p:spPr>
          <a:xfrm>
            <a:off x="5562600" y="1993392"/>
            <a:ext cx="1981200" cy="777240"/>
          </a:xfrm>
          <a:prstGeom prst="roundRect">
            <a:avLst>
              <a:gd name="adj" fmla="val 11765"/>
            </a:avLst>
          </a:prstGeom>
          <a:solidFill>
            <a:srgbClr val="F3F1EC"/>
          </a:solidFill>
          <a:ln w="12700">
            <a:solidFill>
              <a:srgbClr val="DDD6CB"/>
            </a:solidFill>
            <a:prstDash val="solid"/>
          </a:ln>
        </p:spPr>
      </p:sp>
      <p:sp>
        <p:nvSpPr>
          <p:cNvPr id="13" name="Text 11"/>
          <p:cNvSpPr txBox="1"/>
          <p:nvPr/>
        </p:nvSpPr>
        <p:spPr>
          <a:xfrm>
            <a:off x="5608320" y="1993392"/>
            <a:ext cx="1889760" cy="777240"/>
          </a:xfrm>
          <a:prstGeom prst="rect">
            <a:avLst/>
          </a:prstGeom>
          <a:noFill/>
          <a:ln/>
        </p:spPr>
        <p:txBody>
          <a:bodyPr wrap="square" lIns="0" tIns="0" rIns="0" bIns="0" rtlCol="0" anchor="ctr"/>
          <a:lstStyle/>
          <a:p>
            <a:pPr algn="ctr" indent="0" marL="0">
              <a:buNone/>
            </a:pPr>
            <a:r>
              <a:rPr lang="en-US" sz="1200" b="1" dirty="0">
                <a:solidFill>
                  <a:srgbClr val="8A857D"/>
                </a:solidFill>
                <a:latin typeface="Yu Gothic" pitchFamily="34" charset="0"/>
                <a:ea typeface="Yu Gothic" pitchFamily="34" charset="-122"/>
                <a:cs typeface="Yu Gothic" pitchFamily="34" charset="-120"/>
              </a:rPr>
              <a:t>あなた</a:t>
            </a:r>
            <a:endParaRPr lang="en-US" sz="1200" dirty="0"/>
          </a:p>
        </p:txBody>
      </p:sp>
      <p:sp>
        <p:nvSpPr>
          <p:cNvPr id="14" name="Text 12"/>
          <p:cNvSpPr txBox="1"/>
          <p:nvPr/>
        </p:nvSpPr>
        <p:spPr>
          <a:xfrm>
            <a:off x="777240" y="2926080"/>
            <a:ext cx="3657600" cy="274320"/>
          </a:xfrm>
          <a:prstGeom prst="rect">
            <a:avLst/>
          </a:prstGeom>
          <a:noFill/>
          <a:ln/>
        </p:spPr>
        <p:txBody>
          <a:bodyPr wrap="square" lIns="0" tIns="0" rIns="0" bIns="0" rtlCol="0" anchor="ctr"/>
          <a:lstStyle/>
          <a:p>
            <a:pPr indent="0" marL="0">
              <a:buNone/>
            </a:pPr>
            <a:r>
              <a:rPr lang="en-US" sz="1100" b="1" dirty="0">
                <a:solidFill>
                  <a:srgbClr val="B4552F"/>
                </a:solidFill>
                <a:latin typeface="Yu Gothic" pitchFamily="34" charset="0"/>
                <a:ea typeface="Yu Gothic" pitchFamily="34" charset="-122"/>
                <a:cs typeface="Yu Gothic" pitchFamily="34" charset="-120"/>
              </a:rPr>
              <a:t>BITEMAP</a:t>
            </a:r>
            <a:endParaRPr lang="en-US" sz="1100" dirty="0"/>
          </a:p>
        </p:txBody>
      </p:sp>
      <p:sp>
        <p:nvSpPr>
          <p:cNvPr id="15" name="Shape 13"/>
          <p:cNvSpPr/>
          <p:nvPr/>
        </p:nvSpPr>
        <p:spPr>
          <a:xfrm>
            <a:off x="777240" y="3273552"/>
            <a:ext cx="1383030" cy="777240"/>
          </a:xfrm>
          <a:prstGeom prst="roundRect">
            <a:avLst>
              <a:gd name="adj" fmla="val 11765"/>
            </a:avLst>
          </a:prstGeom>
          <a:solidFill>
            <a:srgbClr val="FBEFE9"/>
          </a:solidFill>
          <a:ln w="12700">
            <a:solidFill>
              <a:srgbClr val="C6613F"/>
            </a:solidFill>
            <a:prstDash val="solid"/>
          </a:ln>
        </p:spPr>
      </p:sp>
      <p:sp>
        <p:nvSpPr>
          <p:cNvPr id="16" name="Text 14"/>
          <p:cNvSpPr txBox="1"/>
          <p:nvPr/>
        </p:nvSpPr>
        <p:spPr>
          <a:xfrm>
            <a:off x="822960" y="3273552"/>
            <a:ext cx="1291590" cy="777240"/>
          </a:xfrm>
          <a:prstGeom prst="rect">
            <a:avLst/>
          </a:prstGeom>
          <a:noFill/>
          <a:ln/>
        </p:spPr>
        <p:txBody>
          <a:bodyPr wrap="square" lIns="0" tIns="0" rIns="0" bIns="0" rtlCol="0" anchor="ctr"/>
          <a:lstStyle/>
          <a:p>
            <a:pPr algn="ctr" indent="0" marL="0">
              <a:buNone/>
            </a:pPr>
            <a:r>
              <a:rPr lang="en-US" sz="1200" b="1" dirty="0">
                <a:solidFill>
                  <a:srgbClr val="B4552F"/>
                </a:solidFill>
                <a:latin typeface="Yu Gothic" pitchFamily="34" charset="0"/>
                <a:ea typeface="Yu Gothic" pitchFamily="34" charset="-122"/>
                <a:cs typeface="Yu Gothic" pitchFamily="34" charset="-120"/>
              </a:rPr>
              <a:t>あなたの評価</a:t>
            </a:r>
            <a:endParaRPr lang="en-US" sz="1200" dirty="0"/>
          </a:p>
        </p:txBody>
      </p:sp>
      <p:sp>
        <p:nvSpPr>
          <p:cNvPr id="17" name="Shape 15"/>
          <p:cNvSpPr/>
          <p:nvPr/>
        </p:nvSpPr>
        <p:spPr>
          <a:xfrm>
            <a:off x="2215134" y="3511296"/>
            <a:ext cx="301752" cy="292608"/>
          </a:xfrm>
          <a:prstGeom prst="rightArrow">
            <a:avLst/>
          </a:prstGeom>
          <a:solidFill>
            <a:srgbClr val="C6613F"/>
          </a:solidFill>
          <a:ln w="12700">
            <a:solidFill>
              <a:srgbClr val="C6613F"/>
            </a:solidFill>
            <a:prstDash val="solid"/>
          </a:ln>
        </p:spPr>
      </p:sp>
      <p:sp>
        <p:nvSpPr>
          <p:cNvPr id="18" name="Shape 16"/>
          <p:cNvSpPr/>
          <p:nvPr/>
        </p:nvSpPr>
        <p:spPr>
          <a:xfrm>
            <a:off x="2571750" y="3273552"/>
            <a:ext cx="1383030" cy="777240"/>
          </a:xfrm>
          <a:prstGeom prst="roundRect">
            <a:avLst>
              <a:gd name="adj" fmla="val 11765"/>
            </a:avLst>
          </a:prstGeom>
          <a:solidFill>
            <a:srgbClr val="FBEFE9"/>
          </a:solidFill>
          <a:ln w="12700">
            <a:solidFill>
              <a:srgbClr val="C6613F"/>
            </a:solidFill>
            <a:prstDash val="solid"/>
          </a:ln>
        </p:spPr>
      </p:sp>
      <p:sp>
        <p:nvSpPr>
          <p:cNvPr id="19" name="Text 17"/>
          <p:cNvSpPr txBox="1"/>
          <p:nvPr/>
        </p:nvSpPr>
        <p:spPr>
          <a:xfrm>
            <a:off x="2617470" y="3273552"/>
            <a:ext cx="1291590" cy="777240"/>
          </a:xfrm>
          <a:prstGeom prst="rect">
            <a:avLst/>
          </a:prstGeom>
          <a:noFill/>
          <a:ln/>
        </p:spPr>
        <p:txBody>
          <a:bodyPr wrap="square" lIns="0" tIns="0" rIns="0" bIns="0" rtlCol="0" anchor="ctr"/>
          <a:lstStyle/>
          <a:p>
            <a:pPr algn="ctr" indent="0" marL="0">
              <a:buNone/>
            </a:pPr>
            <a:r>
              <a:rPr lang="en-US" sz="1200" b="1" dirty="0">
                <a:solidFill>
                  <a:srgbClr val="B4552F"/>
                </a:solidFill>
                <a:latin typeface="Yu Gothic" pitchFamily="34" charset="0"/>
                <a:ea typeface="Yu Gothic" pitchFamily="34" charset="-122"/>
                <a:cs typeface="Yu Gothic" pitchFamily="34" charset="-120"/>
              </a:rPr>
              <a:t>味覚が近い人</a:t>
            </a:r>
            <a:endParaRPr lang="en-US" sz="1200" dirty="0"/>
          </a:p>
        </p:txBody>
      </p:sp>
      <p:sp>
        <p:nvSpPr>
          <p:cNvPr id="20" name="Shape 18"/>
          <p:cNvSpPr/>
          <p:nvPr/>
        </p:nvSpPr>
        <p:spPr>
          <a:xfrm>
            <a:off x="4009644" y="3511296"/>
            <a:ext cx="301752" cy="292608"/>
          </a:xfrm>
          <a:prstGeom prst="rightArrow">
            <a:avLst/>
          </a:prstGeom>
          <a:solidFill>
            <a:srgbClr val="C6613F"/>
          </a:solidFill>
          <a:ln w="12700">
            <a:solidFill>
              <a:srgbClr val="C6613F"/>
            </a:solidFill>
            <a:prstDash val="solid"/>
          </a:ln>
        </p:spPr>
      </p:sp>
      <p:sp>
        <p:nvSpPr>
          <p:cNvPr id="21" name="Shape 19"/>
          <p:cNvSpPr/>
          <p:nvPr/>
        </p:nvSpPr>
        <p:spPr>
          <a:xfrm>
            <a:off x="4366260" y="3273552"/>
            <a:ext cx="1383030" cy="777240"/>
          </a:xfrm>
          <a:prstGeom prst="roundRect">
            <a:avLst>
              <a:gd name="adj" fmla="val 11765"/>
            </a:avLst>
          </a:prstGeom>
          <a:solidFill>
            <a:srgbClr val="FBEFE9"/>
          </a:solidFill>
          <a:ln w="12700">
            <a:solidFill>
              <a:srgbClr val="C6613F"/>
            </a:solidFill>
            <a:prstDash val="solid"/>
          </a:ln>
        </p:spPr>
      </p:sp>
      <p:sp>
        <p:nvSpPr>
          <p:cNvPr id="22" name="Text 20"/>
          <p:cNvSpPr txBox="1"/>
          <p:nvPr/>
        </p:nvSpPr>
        <p:spPr>
          <a:xfrm>
            <a:off x="4411980" y="3273552"/>
            <a:ext cx="1291590" cy="777240"/>
          </a:xfrm>
          <a:prstGeom prst="rect">
            <a:avLst/>
          </a:prstGeom>
          <a:noFill/>
          <a:ln/>
        </p:spPr>
        <p:txBody>
          <a:bodyPr wrap="square" lIns="0" tIns="0" rIns="0" bIns="0" rtlCol="0" anchor="ctr"/>
          <a:lstStyle/>
          <a:p>
            <a:pPr algn="ctr" indent="0" marL="0">
              <a:buNone/>
            </a:pPr>
            <a:r>
              <a:rPr lang="en-US" sz="1200" b="1" dirty="0">
                <a:solidFill>
                  <a:srgbClr val="B4552F"/>
                </a:solidFill>
                <a:latin typeface="Yu Gothic" pitchFamily="34" charset="0"/>
                <a:ea typeface="Yu Gothic" pitchFamily="34" charset="-122"/>
                <a:cs typeface="Yu Gothic" pitchFamily="34" charset="-120"/>
              </a:rPr>
              <a:t>その人の評価</a:t>
            </a:r>
            <a:endParaRPr lang="en-US" sz="1200" dirty="0"/>
          </a:p>
        </p:txBody>
      </p:sp>
      <p:sp>
        <p:nvSpPr>
          <p:cNvPr id="23" name="Shape 21"/>
          <p:cNvSpPr/>
          <p:nvPr/>
        </p:nvSpPr>
        <p:spPr>
          <a:xfrm>
            <a:off x="5804154" y="3511296"/>
            <a:ext cx="301752" cy="292608"/>
          </a:xfrm>
          <a:prstGeom prst="rightArrow">
            <a:avLst/>
          </a:prstGeom>
          <a:solidFill>
            <a:srgbClr val="C6613F"/>
          </a:solidFill>
          <a:ln w="12700">
            <a:solidFill>
              <a:srgbClr val="C6613F"/>
            </a:solidFill>
            <a:prstDash val="solid"/>
          </a:ln>
        </p:spPr>
      </p:sp>
      <p:sp>
        <p:nvSpPr>
          <p:cNvPr id="24" name="Shape 22"/>
          <p:cNvSpPr/>
          <p:nvPr/>
        </p:nvSpPr>
        <p:spPr>
          <a:xfrm>
            <a:off x="6160770" y="3273552"/>
            <a:ext cx="1383030" cy="777240"/>
          </a:xfrm>
          <a:prstGeom prst="roundRect">
            <a:avLst>
              <a:gd name="adj" fmla="val 11765"/>
            </a:avLst>
          </a:prstGeom>
          <a:solidFill>
            <a:srgbClr val="FBEFE9"/>
          </a:solidFill>
          <a:ln w="12700">
            <a:solidFill>
              <a:srgbClr val="C6613F"/>
            </a:solidFill>
            <a:prstDash val="solid"/>
          </a:ln>
        </p:spPr>
      </p:sp>
      <p:sp>
        <p:nvSpPr>
          <p:cNvPr id="25" name="Text 23"/>
          <p:cNvSpPr txBox="1"/>
          <p:nvPr/>
        </p:nvSpPr>
        <p:spPr>
          <a:xfrm>
            <a:off x="6206490" y="3273552"/>
            <a:ext cx="1291590" cy="777240"/>
          </a:xfrm>
          <a:prstGeom prst="rect">
            <a:avLst/>
          </a:prstGeom>
          <a:noFill/>
          <a:ln/>
        </p:spPr>
        <p:txBody>
          <a:bodyPr wrap="square" lIns="0" tIns="0" rIns="0" bIns="0" rtlCol="0" anchor="ctr"/>
          <a:lstStyle/>
          <a:p>
            <a:pPr algn="ctr" indent="0" marL="0">
              <a:buNone/>
            </a:pPr>
            <a:r>
              <a:rPr lang="en-US" sz="1200" b="1" dirty="0">
                <a:solidFill>
                  <a:srgbClr val="B4552F"/>
                </a:solidFill>
                <a:latin typeface="Yu Gothic" pitchFamily="34" charset="0"/>
                <a:ea typeface="Yu Gothic" pitchFamily="34" charset="-122"/>
                <a:cs typeface="Yu Gothic" pitchFamily="34" charset="-120"/>
              </a:rPr>
              <a:t>まだ行っていない店</a:t>
            </a:r>
            <a:endParaRPr lang="en-US" sz="1200" dirty="0"/>
          </a:p>
        </p:txBody>
      </p:sp>
      <p:sp>
        <p:nvSpPr>
          <p:cNvPr id="26" name="Text 24"/>
          <p:cNvSpPr txBox="1"/>
          <p:nvPr/>
        </p:nvSpPr>
        <p:spPr>
          <a:xfrm>
            <a:off x="777240" y="4069080"/>
            <a:ext cx="7223760" cy="320040"/>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評価の主語が「みんな」から「あなた」に変わる。記録するほど、自分の地図が賢くなる</a:t>
            </a:r>
            <a:endParaRPr lang="en-US" sz="1150" dirty="0"/>
          </a:p>
        </p:txBody>
      </p:sp>
      <p:sp>
        <p:nvSpPr>
          <p:cNvPr id="27" name="Shape 25"/>
          <p:cNvSpPr/>
          <p:nvPr/>
        </p:nvSpPr>
        <p:spPr>
          <a:xfrm>
            <a:off x="548640" y="4617720"/>
            <a:ext cx="3749040" cy="1691640"/>
          </a:xfrm>
          <a:prstGeom prst="roundRect">
            <a:avLst>
              <a:gd name="adj" fmla="val 6486"/>
            </a:avLst>
          </a:prstGeom>
          <a:solidFill>
            <a:srgbClr val="FBF8F3"/>
          </a:solidFill>
          <a:ln w="12700">
            <a:solidFill>
              <a:srgbClr val="EAE3D8"/>
            </a:solidFill>
            <a:prstDash val="solid"/>
          </a:ln>
        </p:spPr>
      </p:sp>
      <p:sp>
        <p:nvSpPr>
          <p:cNvPr id="28" name="Text 26"/>
          <p:cNvSpPr txBox="1"/>
          <p:nvPr/>
        </p:nvSpPr>
        <p:spPr>
          <a:xfrm>
            <a:off x="749808" y="4727448"/>
            <a:ext cx="3383280" cy="320040"/>
          </a:xfrm>
          <a:prstGeom prst="rect">
            <a:avLst/>
          </a:prstGeom>
          <a:noFill/>
          <a:ln/>
        </p:spPr>
        <p:txBody>
          <a:bodyPr wrap="square" lIns="0" tIns="0" rIns="0" bIns="0" rtlCol="0" anchor="ctr"/>
          <a:lstStyle/>
          <a:p>
            <a:pPr indent="0" marL="0">
              <a:buNone/>
            </a:pPr>
            <a:r>
              <a:rPr lang="en-US" sz="1300" b="1" dirty="0">
                <a:solidFill>
                  <a:srgbClr val="1F1E1D"/>
                </a:solidFill>
                <a:latin typeface="Yu Gothic" pitchFamily="34" charset="0"/>
                <a:ea typeface="Yu Gothic" pitchFamily="34" charset="-122"/>
                <a:cs typeface="Yu Gothic" pitchFamily="34" charset="-120"/>
              </a:rPr>
              <a:t>評価の重み付けを個人化</a:t>
            </a:r>
            <a:endParaRPr lang="en-US" sz="1300" dirty="0"/>
          </a:p>
        </p:txBody>
      </p:sp>
      <p:sp>
        <p:nvSpPr>
          <p:cNvPr id="29" name="Text 27"/>
          <p:cNvSpPr txBox="1"/>
          <p:nvPr/>
        </p:nvSpPr>
        <p:spPr>
          <a:xfrm>
            <a:off x="749808" y="5074920"/>
            <a:ext cx="3383280" cy="1143000"/>
          </a:xfrm>
          <a:prstGeom prst="rect">
            <a:avLst/>
          </a:prstGeom>
          <a:noFill/>
          <a:ln/>
        </p:spPr>
        <p:txBody>
          <a:bodyPr wrap="square" lIns="0" tIns="0" rIns="0" bIns="0" rtlCol="0" anchor="t"/>
          <a:lstStyle/>
          <a:p>
            <a:pPr indent="0" marL="0">
              <a:buNone/>
            </a:pPr>
            <a:r>
              <a:rPr lang="en-US" sz="1200" dirty="0">
                <a:solidFill>
                  <a:srgbClr val="6E6960"/>
                </a:solidFill>
                <a:latin typeface="Yu Gothic" pitchFamily="34" charset="0"/>
                <a:ea typeface="Yu Gothic" pitchFamily="34" charset="-122"/>
                <a:cs typeface="Yu Gothic" pitchFamily="34" charset="-120"/>
              </a:rPr>
              <a:t>「平均点」ではなく、共通店の★の突き合わせから味覚一致率を出し、その値で評価を並び替える</a:t>
            </a:r>
            <a:endParaRPr lang="en-US" sz="1200" dirty="0"/>
          </a:p>
        </p:txBody>
      </p:sp>
      <p:sp>
        <p:nvSpPr>
          <p:cNvPr id="30" name="Shape 28"/>
          <p:cNvSpPr/>
          <p:nvPr/>
        </p:nvSpPr>
        <p:spPr>
          <a:xfrm>
            <a:off x="4480560" y="4617720"/>
            <a:ext cx="3749040" cy="1691640"/>
          </a:xfrm>
          <a:prstGeom prst="roundRect">
            <a:avLst>
              <a:gd name="adj" fmla="val 6486"/>
            </a:avLst>
          </a:prstGeom>
          <a:solidFill>
            <a:srgbClr val="FBF8F3"/>
          </a:solidFill>
          <a:ln w="12700">
            <a:solidFill>
              <a:srgbClr val="EAE3D8"/>
            </a:solidFill>
            <a:prstDash val="solid"/>
          </a:ln>
        </p:spPr>
      </p:sp>
      <p:sp>
        <p:nvSpPr>
          <p:cNvPr id="31" name="Text 29"/>
          <p:cNvSpPr txBox="1"/>
          <p:nvPr/>
        </p:nvSpPr>
        <p:spPr>
          <a:xfrm>
            <a:off x="4681728" y="4727448"/>
            <a:ext cx="3383280" cy="320040"/>
          </a:xfrm>
          <a:prstGeom prst="rect">
            <a:avLst/>
          </a:prstGeom>
          <a:noFill/>
          <a:ln/>
        </p:spPr>
        <p:txBody>
          <a:bodyPr wrap="square" lIns="0" tIns="0" rIns="0" bIns="0" rtlCol="0" anchor="ctr"/>
          <a:lstStyle/>
          <a:p>
            <a:pPr indent="0" marL="0">
              <a:buNone/>
            </a:pPr>
            <a:r>
              <a:rPr lang="en-US" sz="1300" b="1" dirty="0">
                <a:solidFill>
                  <a:srgbClr val="1F1E1D"/>
                </a:solidFill>
                <a:latin typeface="Yu Gothic" pitchFamily="34" charset="0"/>
                <a:ea typeface="Yu Gothic" pitchFamily="34" charset="-122"/>
                <a:cs typeface="Yu Gothic" pitchFamily="34" charset="-120"/>
              </a:rPr>
              <a:t>記録が自然にたまる設計</a:t>
            </a:r>
            <a:endParaRPr lang="en-US" sz="1300" dirty="0"/>
          </a:p>
        </p:txBody>
      </p:sp>
      <p:sp>
        <p:nvSpPr>
          <p:cNvPr id="32" name="Text 30"/>
          <p:cNvSpPr txBox="1"/>
          <p:nvPr/>
        </p:nvSpPr>
        <p:spPr>
          <a:xfrm>
            <a:off x="4681728" y="5074920"/>
            <a:ext cx="3383280" cy="1143000"/>
          </a:xfrm>
          <a:prstGeom prst="rect">
            <a:avLst/>
          </a:prstGeom>
          <a:noFill/>
          <a:ln/>
        </p:spPr>
        <p:txBody>
          <a:bodyPr wrap="square" lIns="0" tIns="0" rIns="0" bIns="0" rtlCol="0" anchor="t"/>
          <a:lstStyle/>
          <a:p>
            <a:pPr indent="0" marL="0">
              <a:buNone/>
            </a:pPr>
            <a:r>
              <a:rPr lang="en-US" sz="1200" dirty="0">
                <a:solidFill>
                  <a:srgbClr val="6E6960"/>
                </a:solidFill>
                <a:latin typeface="Yu Gothic" pitchFamily="34" charset="0"/>
                <a:ea typeface="Yu Gothic" pitchFamily="34" charset="-122"/>
                <a:cs typeface="Yu Gothic" pitchFamily="34" charset="-120"/>
              </a:rPr>
              <a:t>入力は写真と★だけ。場所・ジャンル・日時はAIと位置情報が埋める。食日記として毎日使うから、比較のためのデータが自然にたまる</a:t>
            </a:r>
            <a:endParaRPr lang="en-US" sz="1200" dirty="0"/>
          </a:p>
        </p:txBody>
      </p:sp>
      <p:sp>
        <p:nvSpPr>
          <p:cNvPr id="33" name="Shape 31"/>
          <p:cNvSpPr/>
          <p:nvPr/>
        </p:nvSpPr>
        <p:spPr>
          <a:xfrm>
            <a:off x="8458200" y="1508760"/>
            <a:ext cx="3182112" cy="4800600"/>
          </a:xfrm>
          <a:prstGeom prst="roundRect">
            <a:avLst>
              <a:gd name="adj" fmla="val 3448"/>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34" name="Shape 32"/>
          <p:cNvSpPr/>
          <p:nvPr/>
        </p:nvSpPr>
        <p:spPr>
          <a:xfrm>
            <a:off x="8686800" y="1737360"/>
            <a:ext cx="1828800" cy="384048"/>
          </a:xfrm>
          <a:prstGeom prst="roundRect">
            <a:avLst>
              <a:gd name="adj" fmla="val 50000"/>
            </a:avLst>
          </a:prstGeom>
          <a:solidFill>
            <a:srgbClr val="8A857D"/>
          </a:solidFill>
          <a:ln w="12700">
            <a:solidFill>
              <a:srgbClr val="8A857D"/>
            </a:solidFill>
            <a:prstDash val="solid"/>
          </a:ln>
        </p:spPr>
      </p:sp>
      <p:sp>
        <p:nvSpPr>
          <p:cNvPr id="35" name="Text 33"/>
          <p:cNvSpPr txBox="1"/>
          <p:nvPr/>
        </p:nvSpPr>
        <p:spPr>
          <a:xfrm>
            <a:off x="8686800" y="1737360"/>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課題（正直に）</a:t>
            </a:r>
            <a:endParaRPr lang="en-US" sz="1300" dirty="0"/>
          </a:p>
        </p:txBody>
      </p:sp>
      <p:sp>
        <p:nvSpPr>
          <p:cNvPr id="36" name="Text 34"/>
          <p:cNvSpPr txBox="1"/>
          <p:nvPr/>
        </p:nvSpPr>
        <p:spPr>
          <a:xfrm>
            <a:off x="8686800" y="2286000"/>
            <a:ext cx="2743200" cy="39319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F1E1D"/>
                </a:solidFill>
                <a:latin typeface="Yu Gothic" pitchFamily="34" charset="0"/>
                <a:ea typeface="Yu Gothic" pitchFamily="34" charset="-122"/>
                <a:cs typeface="Yu Gothic" pitchFamily="34" charset="-120"/>
              </a:rPr>
              <a:t>費用：Google の店舗検索とクラウドは利用量課金。無料の検索源（OSM・Yahoo!・ホットペッパー）を先に使い、Google は最後の手段にする設計へ変更（v297）。1万人規模では課金モデルが要る（次ページ）</a:t>
            </a:r>
            <a:endParaRPr lang="en-US" sz="1100" dirty="0"/>
          </a:p>
          <a:p>
            <a:pPr marL="342900" indent="-342900">
              <a:spcAft>
                <a:spcPts val="500"/>
              </a:spcAft>
              <a:buSzPct val="100000"/>
              <a:buChar char="•"/>
            </a:pPr>
            <a:r>
              <a:rPr lang="en-US" sz="1100" dirty="0">
                <a:solidFill>
                  <a:srgbClr val="1F1E1D"/>
                </a:solidFill>
                <a:latin typeface="Yu Gothic" pitchFamily="34" charset="0"/>
                <a:ea typeface="Yu Gothic" pitchFamily="34" charset="-122"/>
                <a:cs typeface="Yu Gothic" pitchFamily="34" charset="-120"/>
              </a:rPr>
              <a:t>初期の一致率：共通店が少ないうちは出せない。共通5件未満は非表示、自分の評価は一致率100%、一致率が出せない人の評価は弱く（0.15）反映し、1人でも食日記として成立する設計</a:t>
            </a:r>
            <a:endParaRPr lang="en-US" sz="1100" dirty="0"/>
          </a:p>
          <a:p>
            <a:pPr marL="342900" indent="-342900">
              <a:spcAft>
                <a:spcPts val="500"/>
              </a:spcAft>
              <a:buSzPct val="100000"/>
              <a:buChar char="•"/>
            </a:pPr>
            <a:r>
              <a:rPr lang="en-US" sz="1100" dirty="0">
                <a:solidFill>
                  <a:srgbClr val="1F1E1D"/>
                </a:solidFill>
                <a:latin typeface="Yu Gothic" pitchFamily="34" charset="0"/>
                <a:ea typeface="Yu Gothic" pitchFamily="34" charset="-122"/>
                <a:cs typeface="Yu Gothic" pitchFamily="34" charset="-120"/>
              </a:rPr>
              <a:t>AI判定の誤りの継続観測と、判定根拠の可視化</a:t>
            </a:r>
            <a:endParaRPr lang="en-US" sz="1100" dirty="0"/>
          </a:p>
        </p:txBody>
      </p:sp>
      <p:sp>
        <p:nvSpPr>
          <p:cNvPr id="37" name="Text 3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38" name="Text 36"/>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今後の展開</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これから ― 費用をかけずに、増える設計</a:t>
            </a:r>
            <a:endParaRPr lang="en-US" sz="3000" dirty="0"/>
          </a:p>
        </p:txBody>
      </p:sp>
      <p:sp>
        <p:nvSpPr>
          <p:cNvPr id="4" name="Shape 2"/>
          <p:cNvSpPr/>
          <p:nvPr/>
        </p:nvSpPr>
        <p:spPr>
          <a:xfrm>
            <a:off x="548640" y="1417320"/>
            <a:ext cx="11091672" cy="1143000"/>
          </a:xfrm>
          <a:prstGeom prst="roundRect">
            <a:avLst>
              <a:gd name="adj" fmla="val 9600"/>
            </a:avLst>
          </a:prstGeom>
          <a:solidFill>
            <a:srgbClr val="FBF8F3"/>
          </a:solidFill>
          <a:ln w="12700">
            <a:solidFill>
              <a:srgbClr val="EAE3D8"/>
            </a:solidFill>
            <a:prstDash val="solid"/>
          </a:ln>
        </p:spPr>
      </p:sp>
      <p:sp>
        <p:nvSpPr>
          <p:cNvPr id="5" name="Text 3"/>
          <p:cNvSpPr txBox="1"/>
          <p:nvPr/>
        </p:nvSpPr>
        <p:spPr>
          <a:xfrm>
            <a:off x="777240" y="1481328"/>
            <a:ext cx="3657600" cy="274320"/>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ここまで ― 295回のループ</a:t>
            </a:r>
            <a:endParaRPr lang="en-US" sz="1150" dirty="0"/>
          </a:p>
        </p:txBody>
      </p:sp>
      <p:sp>
        <p:nvSpPr>
          <p:cNvPr id="6" name="Shape 4"/>
          <p:cNvSpPr/>
          <p:nvPr/>
        </p:nvSpPr>
        <p:spPr>
          <a:xfrm>
            <a:off x="1188720" y="2103120"/>
            <a:ext cx="9784080" cy="0"/>
          </a:xfrm>
          <a:prstGeom prst="line">
            <a:avLst/>
          </a:prstGeom>
          <a:noFill/>
          <a:ln w="38100">
            <a:solidFill>
              <a:srgbClr val="D9CFC2"/>
            </a:solidFill>
            <a:prstDash val="solid"/>
          </a:ln>
        </p:spPr>
      </p:sp>
      <p:sp>
        <p:nvSpPr>
          <p:cNvPr id="7" name="Shape 5"/>
          <p:cNvSpPr/>
          <p:nvPr/>
        </p:nvSpPr>
        <p:spPr>
          <a:xfrm>
            <a:off x="1060704" y="1975104"/>
            <a:ext cx="256032" cy="256032"/>
          </a:xfrm>
          <a:prstGeom prst="ellipse">
            <a:avLst/>
          </a:prstGeom>
          <a:solidFill>
            <a:srgbClr val="FFFFFF"/>
          </a:solidFill>
          <a:ln w="25400">
            <a:solidFill>
              <a:srgbClr val="C6613F"/>
            </a:solidFill>
            <a:prstDash val="solid"/>
          </a:ln>
        </p:spPr>
      </p:sp>
      <p:sp>
        <p:nvSpPr>
          <p:cNvPr id="8" name="Text 6"/>
          <p:cNvSpPr txBox="1"/>
          <p:nvPr/>
        </p:nvSpPr>
        <p:spPr>
          <a:xfrm>
            <a:off x="457200" y="1719072"/>
            <a:ext cx="1463040" cy="237744"/>
          </a:xfrm>
          <a:prstGeom prst="rect">
            <a:avLst/>
          </a:prstGeom>
          <a:noFill/>
          <a:ln/>
        </p:spPr>
        <p:txBody>
          <a:bodyPr wrap="square" lIns="0" tIns="0" rIns="0" bIns="0" rtlCol="0" anchor="ctr"/>
          <a:lstStyle/>
          <a:p>
            <a:pPr algn="ctr" indent="0" marL="0">
              <a:buNone/>
            </a:pPr>
            <a:r>
              <a:rPr lang="en-US" sz="1050" b="1" dirty="0">
                <a:solidFill>
                  <a:srgbClr val="B4552F"/>
                </a:solidFill>
                <a:latin typeface="Yu Gothic" pitchFamily="34" charset="0"/>
                <a:ea typeface="Yu Gothic" pitchFamily="34" charset="-122"/>
                <a:cs typeface="Yu Gothic" pitchFamily="34" charset="-120"/>
              </a:rPr>
              <a:t>v1</a:t>
            </a:r>
            <a:endParaRPr lang="en-US" sz="1050" dirty="0"/>
          </a:p>
        </p:txBody>
      </p:sp>
      <p:sp>
        <p:nvSpPr>
          <p:cNvPr id="9" name="Text 7"/>
          <p:cNvSpPr txBox="1"/>
          <p:nvPr/>
        </p:nvSpPr>
        <p:spPr>
          <a:xfrm>
            <a:off x="91440" y="2267712"/>
            <a:ext cx="2194560" cy="256032"/>
          </a:xfrm>
          <a:prstGeom prst="rect">
            <a:avLst/>
          </a:prstGeom>
          <a:noFill/>
          <a:ln/>
        </p:spPr>
        <p:txBody>
          <a:bodyPr wrap="square" lIns="0" tIns="0" rIns="0" bIns="0" rtlCol="0" anchor="ctr"/>
          <a:lstStyle/>
          <a:p>
            <a:pPr algn="ctr" indent="0" marL="0">
              <a:buNone/>
            </a:pPr>
            <a:r>
              <a:rPr lang="en-US" sz="900" dirty="0">
                <a:solidFill>
                  <a:srgbClr val="6E6960"/>
                </a:solidFill>
                <a:latin typeface="Yu Gothic" pitchFamily="34" charset="0"/>
                <a:ea typeface="Yu Gothic" pitchFamily="34" charset="-122"/>
                <a:cs typeface="Yu Gothic" pitchFamily="34" charset="-120"/>
              </a:rPr>
              <a:t>2026/6 最初の記録機能</a:t>
            </a:r>
            <a:endParaRPr lang="en-US" sz="900" dirty="0"/>
          </a:p>
        </p:txBody>
      </p:sp>
      <p:sp>
        <p:nvSpPr>
          <p:cNvPr id="10" name="Shape 8"/>
          <p:cNvSpPr/>
          <p:nvPr/>
        </p:nvSpPr>
        <p:spPr>
          <a:xfrm>
            <a:off x="3506724" y="1975104"/>
            <a:ext cx="256032" cy="256032"/>
          </a:xfrm>
          <a:prstGeom prst="ellipse">
            <a:avLst/>
          </a:prstGeom>
          <a:solidFill>
            <a:srgbClr val="FFFFFF"/>
          </a:solidFill>
          <a:ln w="25400">
            <a:solidFill>
              <a:srgbClr val="C6613F"/>
            </a:solidFill>
            <a:prstDash val="solid"/>
          </a:ln>
        </p:spPr>
      </p:sp>
      <p:sp>
        <p:nvSpPr>
          <p:cNvPr id="11" name="Text 9"/>
          <p:cNvSpPr txBox="1"/>
          <p:nvPr/>
        </p:nvSpPr>
        <p:spPr>
          <a:xfrm>
            <a:off x="2903220" y="1719072"/>
            <a:ext cx="1463040" cy="237744"/>
          </a:xfrm>
          <a:prstGeom prst="rect">
            <a:avLst/>
          </a:prstGeom>
          <a:noFill/>
          <a:ln/>
        </p:spPr>
        <p:txBody>
          <a:bodyPr wrap="square" lIns="0" tIns="0" rIns="0" bIns="0" rtlCol="0" anchor="ctr"/>
          <a:lstStyle/>
          <a:p>
            <a:pPr algn="ctr" indent="0" marL="0">
              <a:buNone/>
            </a:pPr>
            <a:r>
              <a:rPr lang="en-US" sz="1050" b="1" dirty="0">
                <a:solidFill>
                  <a:srgbClr val="B4552F"/>
                </a:solidFill>
                <a:latin typeface="Yu Gothic" pitchFamily="34" charset="0"/>
                <a:ea typeface="Yu Gothic" pitchFamily="34" charset="-122"/>
                <a:cs typeface="Yu Gothic" pitchFamily="34" charset="-120"/>
              </a:rPr>
              <a:t>v100</a:t>
            </a:r>
            <a:endParaRPr lang="en-US" sz="1050" dirty="0"/>
          </a:p>
        </p:txBody>
      </p:sp>
      <p:sp>
        <p:nvSpPr>
          <p:cNvPr id="12" name="Text 10"/>
          <p:cNvSpPr txBox="1"/>
          <p:nvPr/>
        </p:nvSpPr>
        <p:spPr>
          <a:xfrm>
            <a:off x="2537460" y="2267712"/>
            <a:ext cx="2194560" cy="256032"/>
          </a:xfrm>
          <a:prstGeom prst="rect">
            <a:avLst/>
          </a:prstGeom>
          <a:noFill/>
          <a:ln/>
        </p:spPr>
        <p:txBody>
          <a:bodyPr wrap="square" lIns="0" tIns="0" rIns="0" bIns="0" rtlCol="0" anchor="ctr"/>
          <a:lstStyle/>
          <a:p>
            <a:pPr algn="ctr" indent="0" marL="0">
              <a:buNone/>
            </a:pPr>
            <a:r>
              <a:rPr lang="en-US" sz="900" dirty="0">
                <a:solidFill>
                  <a:srgbClr val="6E6960"/>
                </a:solidFill>
                <a:latin typeface="Yu Gothic" pitchFamily="34" charset="0"/>
                <a:ea typeface="Yu Gothic" pitchFamily="34" charset="-122"/>
                <a:cs typeface="Yu Gothic" pitchFamily="34" charset="-120"/>
              </a:rPr>
              <a:t>地図・アルバム・同期</a:t>
            </a:r>
            <a:endParaRPr lang="en-US" sz="900" dirty="0"/>
          </a:p>
        </p:txBody>
      </p:sp>
      <p:sp>
        <p:nvSpPr>
          <p:cNvPr id="13" name="Shape 11"/>
          <p:cNvSpPr/>
          <p:nvPr/>
        </p:nvSpPr>
        <p:spPr>
          <a:xfrm>
            <a:off x="5952744" y="1975104"/>
            <a:ext cx="256032" cy="256032"/>
          </a:xfrm>
          <a:prstGeom prst="ellipse">
            <a:avLst/>
          </a:prstGeom>
          <a:solidFill>
            <a:srgbClr val="FFFFFF"/>
          </a:solidFill>
          <a:ln w="25400">
            <a:solidFill>
              <a:srgbClr val="C6613F"/>
            </a:solidFill>
            <a:prstDash val="solid"/>
          </a:ln>
        </p:spPr>
      </p:sp>
      <p:sp>
        <p:nvSpPr>
          <p:cNvPr id="14" name="Text 12"/>
          <p:cNvSpPr txBox="1"/>
          <p:nvPr/>
        </p:nvSpPr>
        <p:spPr>
          <a:xfrm>
            <a:off x="5349240" y="1719072"/>
            <a:ext cx="1463040" cy="237744"/>
          </a:xfrm>
          <a:prstGeom prst="rect">
            <a:avLst/>
          </a:prstGeom>
          <a:noFill/>
          <a:ln/>
        </p:spPr>
        <p:txBody>
          <a:bodyPr wrap="square" lIns="0" tIns="0" rIns="0" bIns="0" rtlCol="0" anchor="ctr"/>
          <a:lstStyle/>
          <a:p>
            <a:pPr algn="ctr" indent="0" marL="0">
              <a:buNone/>
            </a:pPr>
            <a:r>
              <a:rPr lang="en-US" sz="1050" b="1" dirty="0">
                <a:solidFill>
                  <a:srgbClr val="B4552F"/>
                </a:solidFill>
                <a:latin typeface="Yu Gothic" pitchFamily="34" charset="0"/>
                <a:ea typeface="Yu Gothic" pitchFamily="34" charset="-122"/>
                <a:cs typeface="Yu Gothic" pitchFamily="34" charset="-120"/>
              </a:rPr>
              <a:t>v200</a:t>
            </a:r>
            <a:endParaRPr lang="en-US" sz="1050" dirty="0"/>
          </a:p>
        </p:txBody>
      </p:sp>
      <p:sp>
        <p:nvSpPr>
          <p:cNvPr id="15" name="Text 13"/>
          <p:cNvSpPr txBox="1"/>
          <p:nvPr/>
        </p:nvSpPr>
        <p:spPr>
          <a:xfrm>
            <a:off x="4983480" y="2267712"/>
            <a:ext cx="2194560" cy="256032"/>
          </a:xfrm>
          <a:prstGeom prst="rect">
            <a:avLst/>
          </a:prstGeom>
          <a:noFill/>
          <a:ln/>
        </p:spPr>
        <p:txBody>
          <a:bodyPr wrap="square" lIns="0" tIns="0" rIns="0" bIns="0" rtlCol="0" anchor="ctr"/>
          <a:lstStyle/>
          <a:p>
            <a:pPr algn="ctr" indent="0" marL="0">
              <a:buNone/>
            </a:pPr>
            <a:r>
              <a:rPr lang="en-US" sz="900" dirty="0">
                <a:solidFill>
                  <a:srgbClr val="6E6960"/>
                </a:solidFill>
                <a:latin typeface="Yu Gothic" pitchFamily="34" charset="0"/>
                <a:ea typeface="Yu Gothic" pitchFamily="34" charset="-122"/>
                <a:cs typeface="Yu Gothic" pitchFamily="34" charset="-120"/>
              </a:rPr>
              <a:t>味覚一致率・SNS</a:t>
            </a:r>
            <a:endParaRPr lang="en-US" sz="900" dirty="0"/>
          </a:p>
        </p:txBody>
      </p:sp>
      <p:sp>
        <p:nvSpPr>
          <p:cNvPr id="16" name="Shape 14"/>
          <p:cNvSpPr/>
          <p:nvPr/>
        </p:nvSpPr>
        <p:spPr>
          <a:xfrm>
            <a:off x="8398764" y="1975104"/>
            <a:ext cx="256032" cy="256032"/>
          </a:xfrm>
          <a:prstGeom prst="ellipse">
            <a:avLst/>
          </a:prstGeom>
          <a:solidFill>
            <a:srgbClr val="FFFFFF"/>
          </a:solidFill>
          <a:ln w="25400">
            <a:solidFill>
              <a:srgbClr val="C6613F"/>
            </a:solidFill>
            <a:prstDash val="solid"/>
          </a:ln>
        </p:spPr>
      </p:sp>
      <p:sp>
        <p:nvSpPr>
          <p:cNvPr id="17" name="Text 15"/>
          <p:cNvSpPr txBox="1"/>
          <p:nvPr/>
        </p:nvSpPr>
        <p:spPr>
          <a:xfrm>
            <a:off x="7795260" y="1719072"/>
            <a:ext cx="1463040" cy="237744"/>
          </a:xfrm>
          <a:prstGeom prst="rect">
            <a:avLst/>
          </a:prstGeom>
          <a:noFill/>
          <a:ln/>
        </p:spPr>
        <p:txBody>
          <a:bodyPr wrap="square" lIns="0" tIns="0" rIns="0" bIns="0" rtlCol="0" anchor="ctr"/>
          <a:lstStyle/>
          <a:p>
            <a:pPr algn="ctr" indent="0" marL="0">
              <a:buNone/>
            </a:pPr>
            <a:r>
              <a:rPr lang="en-US" sz="1050" b="1" dirty="0">
                <a:solidFill>
                  <a:srgbClr val="B4552F"/>
                </a:solidFill>
                <a:latin typeface="Yu Gothic" pitchFamily="34" charset="0"/>
                <a:ea typeface="Yu Gothic" pitchFamily="34" charset="-122"/>
                <a:cs typeface="Yu Gothic" pitchFamily="34" charset="-120"/>
              </a:rPr>
              <a:t>v289</a:t>
            </a:r>
            <a:endParaRPr lang="en-US" sz="1050" dirty="0"/>
          </a:p>
        </p:txBody>
      </p:sp>
      <p:sp>
        <p:nvSpPr>
          <p:cNvPr id="18" name="Text 16"/>
          <p:cNvSpPr txBox="1"/>
          <p:nvPr/>
        </p:nvSpPr>
        <p:spPr>
          <a:xfrm>
            <a:off x="7429500" y="2267712"/>
            <a:ext cx="2194560" cy="256032"/>
          </a:xfrm>
          <a:prstGeom prst="rect">
            <a:avLst/>
          </a:prstGeom>
          <a:noFill/>
          <a:ln/>
        </p:spPr>
        <p:txBody>
          <a:bodyPr wrap="square" lIns="0" tIns="0" rIns="0" bIns="0" rtlCol="0" anchor="ctr"/>
          <a:lstStyle/>
          <a:p>
            <a:pPr algn="ctr" indent="0" marL="0">
              <a:buNone/>
            </a:pPr>
            <a:r>
              <a:rPr lang="en-US" sz="900" dirty="0">
                <a:solidFill>
                  <a:srgbClr val="6E6960"/>
                </a:solidFill>
                <a:latin typeface="Yu Gothic" pitchFamily="34" charset="0"/>
                <a:ea typeface="Yu Gothic" pitchFamily="34" charset="-122"/>
                <a:cs typeface="Yu Gothic" pitchFamily="34" charset="-120"/>
              </a:rPr>
              <a:t>8/31 予選</a:t>
            </a:r>
            <a:endParaRPr lang="en-US" sz="900" dirty="0"/>
          </a:p>
        </p:txBody>
      </p:sp>
      <p:sp>
        <p:nvSpPr>
          <p:cNvPr id="19" name="Shape 17"/>
          <p:cNvSpPr/>
          <p:nvPr/>
        </p:nvSpPr>
        <p:spPr>
          <a:xfrm>
            <a:off x="10844784" y="1975104"/>
            <a:ext cx="256032" cy="256032"/>
          </a:xfrm>
          <a:prstGeom prst="ellipse">
            <a:avLst/>
          </a:prstGeom>
          <a:solidFill>
            <a:srgbClr val="C6613F"/>
          </a:solidFill>
          <a:ln w="25400">
            <a:solidFill>
              <a:srgbClr val="C6613F"/>
            </a:solidFill>
            <a:prstDash val="solid"/>
          </a:ln>
        </p:spPr>
      </p:sp>
      <p:sp>
        <p:nvSpPr>
          <p:cNvPr id="20" name="Text 18"/>
          <p:cNvSpPr txBox="1"/>
          <p:nvPr/>
        </p:nvSpPr>
        <p:spPr>
          <a:xfrm>
            <a:off x="10241280" y="1719072"/>
            <a:ext cx="1463040" cy="237744"/>
          </a:xfrm>
          <a:prstGeom prst="rect">
            <a:avLst/>
          </a:prstGeom>
          <a:noFill/>
          <a:ln/>
        </p:spPr>
        <p:txBody>
          <a:bodyPr wrap="square" lIns="0" tIns="0" rIns="0" bIns="0" rtlCol="0" anchor="ctr"/>
          <a:lstStyle/>
          <a:p>
            <a:pPr algn="ctr" indent="0" marL="0">
              <a:buNone/>
            </a:pPr>
            <a:r>
              <a:rPr lang="en-US" sz="1050" b="1" dirty="0">
                <a:solidFill>
                  <a:srgbClr val="B4552F"/>
                </a:solidFill>
                <a:latin typeface="Yu Gothic" pitchFamily="34" charset="0"/>
                <a:ea typeface="Yu Gothic" pitchFamily="34" charset="-122"/>
                <a:cs typeface="Yu Gothic" pitchFamily="34" charset="-120"/>
              </a:rPr>
              <a:t>v297</a:t>
            </a:r>
            <a:endParaRPr lang="en-US" sz="1050" dirty="0"/>
          </a:p>
        </p:txBody>
      </p:sp>
      <p:sp>
        <p:nvSpPr>
          <p:cNvPr id="21" name="Text 19"/>
          <p:cNvSpPr txBox="1"/>
          <p:nvPr/>
        </p:nvSpPr>
        <p:spPr>
          <a:xfrm>
            <a:off x="9875520" y="2267712"/>
            <a:ext cx="2194560" cy="256032"/>
          </a:xfrm>
          <a:prstGeom prst="rect">
            <a:avLst/>
          </a:prstGeom>
          <a:noFill/>
          <a:ln/>
        </p:spPr>
        <p:txBody>
          <a:bodyPr wrap="square" lIns="0" tIns="0" rIns="0" bIns="0" rtlCol="0" anchor="ctr"/>
          <a:lstStyle/>
          <a:p>
            <a:pPr algn="ctr" indent="0" marL="0">
              <a:buNone/>
            </a:pPr>
            <a:r>
              <a:rPr lang="en-US" sz="900" dirty="0">
                <a:solidFill>
                  <a:srgbClr val="6E6960"/>
                </a:solidFill>
                <a:latin typeface="Yu Gothic" pitchFamily="34" charset="0"/>
                <a:ea typeface="Yu Gothic" pitchFamily="34" charset="-122"/>
                <a:cs typeface="Yu Gothic" pitchFamily="34" charset="-120"/>
              </a:rPr>
              <a:t>決勝・改良と検索の設計</a:t>
            </a:r>
            <a:endParaRPr lang="en-US" sz="900" dirty="0"/>
          </a:p>
        </p:txBody>
      </p:sp>
      <p:sp>
        <p:nvSpPr>
          <p:cNvPr id="22" name="Text 20"/>
          <p:cNvSpPr txBox="1"/>
          <p:nvPr/>
        </p:nvSpPr>
        <p:spPr>
          <a:xfrm>
            <a:off x="548640" y="2724912"/>
            <a:ext cx="10972800" cy="320040"/>
          </a:xfrm>
          <a:prstGeom prst="rect">
            <a:avLst/>
          </a:prstGeom>
          <a:noFill/>
          <a:ln/>
        </p:spPr>
        <p:txBody>
          <a:bodyPr wrap="square" lIns="0" tIns="0" rIns="0" bIns="0" rtlCol="0" anchor="ctr"/>
          <a:lstStyle/>
          <a:p>
            <a:pPr indent="0" marL="0">
              <a:buNone/>
            </a:pPr>
            <a:r>
              <a:rPr lang="en-US" sz="1300" b="1" dirty="0">
                <a:solidFill>
                  <a:srgbClr val="2F5D8A"/>
                </a:solidFill>
                <a:latin typeface="Yu Gothic" pitchFamily="34" charset="0"/>
                <a:ea typeface="Yu Gothic" pitchFamily="34" charset="-122"/>
                <a:cs typeface="Yu Gothic" pitchFamily="34" charset="-120"/>
              </a:rPr>
              <a:t>人が増えても、運営コストが増えない順序で店舗検索を組む</a:t>
            </a:r>
            <a:endParaRPr lang="en-US" sz="1300" dirty="0"/>
          </a:p>
        </p:txBody>
      </p:sp>
      <p:sp>
        <p:nvSpPr>
          <p:cNvPr id="23" name="Shape 21"/>
          <p:cNvSpPr/>
          <p:nvPr/>
        </p:nvSpPr>
        <p:spPr>
          <a:xfrm>
            <a:off x="548640" y="3090672"/>
            <a:ext cx="2651760" cy="1517904"/>
          </a:xfrm>
          <a:prstGeom prst="roundRect">
            <a:avLst>
              <a:gd name="adj" fmla="val 7229"/>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713232" y="3218688"/>
            <a:ext cx="329184" cy="329184"/>
          </a:xfrm>
          <a:prstGeom prst="ellipse">
            <a:avLst/>
          </a:prstGeom>
          <a:solidFill>
            <a:srgbClr val="2F5D8A"/>
          </a:solidFill>
          <a:ln w="12700">
            <a:solidFill>
              <a:srgbClr val="2F5D8A"/>
            </a:solidFill>
            <a:prstDash val="solid"/>
          </a:ln>
        </p:spPr>
      </p:sp>
      <p:sp>
        <p:nvSpPr>
          <p:cNvPr id="25" name="Text 23"/>
          <p:cNvSpPr txBox="1"/>
          <p:nvPr/>
        </p:nvSpPr>
        <p:spPr>
          <a:xfrm>
            <a:off x="713232" y="32186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26" name="Text 24"/>
          <p:cNvSpPr txBox="1"/>
          <p:nvPr/>
        </p:nvSpPr>
        <p:spPr>
          <a:xfrm>
            <a:off x="1115568" y="3191256"/>
            <a:ext cx="2011680" cy="384048"/>
          </a:xfrm>
          <a:prstGeom prst="rect">
            <a:avLst/>
          </a:prstGeom>
          <a:noFill/>
          <a:ln/>
        </p:spPr>
        <p:txBody>
          <a:bodyPr wrap="square" lIns="0" tIns="0" rIns="0" bIns="0" rtlCol="0" anchor="ctr"/>
          <a:lstStyle/>
          <a:p>
            <a:pPr indent="0" marL="0">
              <a:buNone/>
            </a:pPr>
            <a:r>
              <a:rPr lang="en-US" sz="1100" b="1" dirty="0">
                <a:solidFill>
                  <a:srgbClr val="1F1E1D"/>
                </a:solidFill>
                <a:latin typeface="Yu Gothic" pitchFamily="34" charset="0"/>
                <a:ea typeface="Yu Gothic" pitchFamily="34" charset="-122"/>
                <a:cs typeface="Yu Gothic" pitchFamily="34" charset="-120"/>
              </a:rPr>
              <a:t>無料の地図データを一次候補に</a:t>
            </a:r>
            <a:endParaRPr lang="en-US" sz="1100" dirty="0"/>
          </a:p>
        </p:txBody>
      </p:sp>
      <p:sp>
        <p:nvSpPr>
          <p:cNvPr id="27" name="Text 25"/>
          <p:cNvSpPr txBox="1"/>
          <p:nvPr/>
        </p:nvSpPr>
        <p:spPr>
          <a:xfrm>
            <a:off x="713232" y="3602736"/>
            <a:ext cx="2331720" cy="694944"/>
          </a:xfrm>
          <a:prstGeom prst="rect">
            <a:avLst/>
          </a:prstGeom>
          <a:noFill/>
          <a:ln/>
        </p:spPr>
        <p:txBody>
          <a:bodyPr wrap="square" lIns="0" tIns="0" rIns="0" bIns="0" rtlCol="0" anchor="t"/>
          <a:lstStyle/>
          <a:p>
            <a:pPr indent="0" marL="0">
              <a:buNone/>
            </a:pPr>
            <a:r>
              <a:rPr lang="en-US" sz="950" dirty="0">
                <a:solidFill>
                  <a:srgbClr val="6E6960"/>
                </a:solidFill>
                <a:latin typeface="Yu Gothic" pitchFamily="34" charset="0"/>
                <a:ea typeface="Yu Gothic" pitchFamily="34" charset="-122"/>
                <a:cs typeface="Yu Gothic" pitchFamily="34" charset="-120"/>
              </a:rPr>
              <a:t>写真の位置情報 → OpenStreetMap。名前検索は Yahoo!ローカルサーチ／ホットペッパー（無料）</a:t>
            </a:r>
            <a:endParaRPr lang="en-US" sz="950" dirty="0"/>
          </a:p>
        </p:txBody>
      </p:sp>
      <p:sp>
        <p:nvSpPr>
          <p:cNvPr id="28" name="Shape 26"/>
          <p:cNvSpPr/>
          <p:nvPr/>
        </p:nvSpPr>
        <p:spPr>
          <a:xfrm>
            <a:off x="713232" y="4315968"/>
            <a:ext cx="1371600" cy="237744"/>
          </a:xfrm>
          <a:prstGeom prst="roundRect">
            <a:avLst>
              <a:gd name="adj" fmla="val 50000"/>
            </a:avLst>
          </a:prstGeom>
          <a:solidFill>
            <a:srgbClr val="E3F1E8"/>
          </a:solidFill>
          <a:ln w="12700">
            <a:solidFill>
              <a:srgbClr val="E3F1E8"/>
            </a:solidFill>
            <a:prstDash val="solid"/>
          </a:ln>
        </p:spPr>
      </p:sp>
      <p:sp>
        <p:nvSpPr>
          <p:cNvPr id="29" name="Text 27"/>
          <p:cNvSpPr txBox="1"/>
          <p:nvPr/>
        </p:nvSpPr>
        <p:spPr>
          <a:xfrm>
            <a:off x="713232" y="4315968"/>
            <a:ext cx="1371600" cy="237744"/>
          </a:xfrm>
          <a:prstGeom prst="rect">
            <a:avLst/>
          </a:prstGeom>
          <a:noFill/>
          <a:ln/>
        </p:spPr>
        <p:txBody>
          <a:bodyPr wrap="square" lIns="0" tIns="0" rIns="0" bIns="0" rtlCol="0" anchor="ctr"/>
          <a:lstStyle/>
          <a:p>
            <a:pPr algn="ctr" indent="0" marL="0">
              <a:buNone/>
            </a:pPr>
            <a:r>
              <a:rPr lang="en-US" sz="850" b="1" dirty="0">
                <a:solidFill>
                  <a:srgbClr val="2E8B57"/>
                </a:solidFill>
                <a:latin typeface="Yu Gothic" pitchFamily="34" charset="0"/>
                <a:ea typeface="Yu Gothic" pitchFamily="34" charset="-122"/>
                <a:cs typeface="Yu Gothic" pitchFamily="34" charset="-120"/>
              </a:rPr>
              <a:t>実装済み</a:t>
            </a:r>
            <a:endParaRPr lang="en-US" sz="850" dirty="0"/>
          </a:p>
        </p:txBody>
      </p:sp>
      <p:sp>
        <p:nvSpPr>
          <p:cNvPr id="30" name="Shape 28"/>
          <p:cNvSpPr/>
          <p:nvPr/>
        </p:nvSpPr>
        <p:spPr>
          <a:xfrm>
            <a:off x="3346704" y="3090672"/>
            <a:ext cx="2651760" cy="1517904"/>
          </a:xfrm>
          <a:prstGeom prst="roundRect">
            <a:avLst>
              <a:gd name="adj" fmla="val 7229"/>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31" name="Shape 29"/>
          <p:cNvSpPr/>
          <p:nvPr/>
        </p:nvSpPr>
        <p:spPr>
          <a:xfrm>
            <a:off x="3511296" y="3218688"/>
            <a:ext cx="329184" cy="329184"/>
          </a:xfrm>
          <a:prstGeom prst="ellipse">
            <a:avLst/>
          </a:prstGeom>
          <a:solidFill>
            <a:srgbClr val="2F5D8A"/>
          </a:solidFill>
          <a:ln w="12700">
            <a:solidFill>
              <a:srgbClr val="2F5D8A"/>
            </a:solidFill>
            <a:prstDash val="solid"/>
          </a:ln>
        </p:spPr>
      </p:sp>
      <p:sp>
        <p:nvSpPr>
          <p:cNvPr id="32" name="Text 30"/>
          <p:cNvSpPr txBox="1"/>
          <p:nvPr/>
        </p:nvSpPr>
        <p:spPr>
          <a:xfrm>
            <a:off x="3511296" y="32186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33" name="Text 31"/>
          <p:cNvSpPr txBox="1"/>
          <p:nvPr/>
        </p:nvSpPr>
        <p:spPr>
          <a:xfrm>
            <a:off x="3913632" y="3191256"/>
            <a:ext cx="2011680" cy="384048"/>
          </a:xfrm>
          <a:prstGeom prst="rect">
            <a:avLst/>
          </a:prstGeom>
          <a:noFill/>
          <a:ln/>
        </p:spPr>
        <p:txBody>
          <a:bodyPr wrap="square" lIns="0" tIns="0" rIns="0" bIns="0" rtlCol="0" anchor="ctr"/>
          <a:lstStyle/>
          <a:p>
            <a:pPr indent="0" marL="0">
              <a:buNone/>
            </a:pPr>
            <a:r>
              <a:rPr lang="en-US" sz="1100" b="1" dirty="0">
                <a:solidFill>
                  <a:srgbClr val="1F1E1D"/>
                </a:solidFill>
                <a:latin typeface="Yu Gothic" pitchFamily="34" charset="0"/>
                <a:ea typeface="Yu Gothic" pitchFamily="34" charset="-122"/>
                <a:cs typeface="Yu Gothic" pitchFamily="34" charset="-120"/>
              </a:rPr>
              <a:t>登録された店を全員の台帳に</a:t>
            </a:r>
            <a:endParaRPr lang="en-US" sz="1100" dirty="0"/>
          </a:p>
        </p:txBody>
      </p:sp>
      <p:sp>
        <p:nvSpPr>
          <p:cNvPr id="34" name="Text 32"/>
          <p:cNvSpPr txBox="1"/>
          <p:nvPr/>
        </p:nvSpPr>
        <p:spPr>
          <a:xfrm>
            <a:off x="3511296" y="3602736"/>
            <a:ext cx="2331720" cy="694944"/>
          </a:xfrm>
          <a:prstGeom prst="rect">
            <a:avLst/>
          </a:prstGeom>
          <a:noFill/>
          <a:ln/>
        </p:spPr>
        <p:txBody>
          <a:bodyPr wrap="square" lIns="0" tIns="0" rIns="0" bIns="0" rtlCol="0" anchor="t"/>
          <a:lstStyle/>
          <a:p>
            <a:pPr indent="0" marL="0">
              <a:buNone/>
            </a:pPr>
            <a:r>
              <a:rPr lang="en-US" sz="950" dirty="0">
                <a:solidFill>
                  <a:srgbClr val="6E6960"/>
                </a:solidFill>
                <a:latin typeface="Yu Gothic" pitchFamily="34" charset="0"/>
                <a:ea typeface="Yu Gothic" pitchFamily="34" charset="-122"/>
                <a:cs typeface="Yu Gothic" pitchFamily="34" charset="-120"/>
              </a:rPr>
              <a:t>誰かが一度登録した店は、次の人の検索で外部に聞かない。人が増えるほど外部呼び出しが減る</a:t>
            </a:r>
            <a:endParaRPr lang="en-US" sz="950" dirty="0"/>
          </a:p>
        </p:txBody>
      </p:sp>
      <p:sp>
        <p:nvSpPr>
          <p:cNvPr id="35" name="Shape 33"/>
          <p:cNvSpPr/>
          <p:nvPr/>
        </p:nvSpPr>
        <p:spPr>
          <a:xfrm>
            <a:off x="3511296" y="4315968"/>
            <a:ext cx="1371600" cy="237744"/>
          </a:xfrm>
          <a:prstGeom prst="roundRect">
            <a:avLst>
              <a:gd name="adj" fmla="val 50000"/>
            </a:avLst>
          </a:prstGeom>
          <a:solidFill>
            <a:srgbClr val="F3F1EC"/>
          </a:solidFill>
          <a:ln w="12700">
            <a:solidFill>
              <a:srgbClr val="F3F1EC"/>
            </a:solidFill>
            <a:prstDash val="solid"/>
          </a:ln>
        </p:spPr>
      </p:sp>
      <p:sp>
        <p:nvSpPr>
          <p:cNvPr id="36" name="Text 34"/>
          <p:cNvSpPr txBox="1"/>
          <p:nvPr/>
        </p:nvSpPr>
        <p:spPr>
          <a:xfrm>
            <a:off x="3511296" y="4315968"/>
            <a:ext cx="1371600" cy="237744"/>
          </a:xfrm>
          <a:prstGeom prst="rect">
            <a:avLst/>
          </a:prstGeom>
          <a:noFill/>
          <a:ln/>
        </p:spPr>
        <p:txBody>
          <a:bodyPr wrap="square" lIns="0" tIns="0" rIns="0" bIns="0" rtlCol="0" anchor="ctr"/>
          <a:lstStyle/>
          <a:p>
            <a:pPr algn="ctr" indent="0" marL="0">
              <a:buNone/>
            </a:pPr>
            <a:r>
              <a:rPr lang="en-US" sz="850" b="1" dirty="0">
                <a:solidFill>
                  <a:srgbClr val="8A857D"/>
                </a:solidFill>
                <a:latin typeface="Yu Gothic" pitchFamily="34" charset="0"/>
                <a:ea typeface="Yu Gothic" pitchFamily="34" charset="-122"/>
                <a:cs typeface="Yu Gothic" pitchFamily="34" charset="-120"/>
              </a:rPr>
              <a:t>設計</a:t>
            </a:r>
            <a:endParaRPr lang="en-US" sz="850" dirty="0"/>
          </a:p>
        </p:txBody>
      </p:sp>
      <p:sp>
        <p:nvSpPr>
          <p:cNvPr id="37" name="Shape 35"/>
          <p:cNvSpPr/>
          <p:nvPr/>
        </p:nvSpPr>
        <p:spPr>
          <a:xfrm>
            <a:off x="6144768" y="3090672"/>
            <a:ext cx="2651760" cy="1517904"/>
          </a:xfrm>
          <a:prstGeom prst="roundRect">
            <a:avLst>
              <a:gd name="adj" fmla="val 7229"/>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38" name="Shape 36"/>
          <p:cNvSpPr/>
          <p:nvPr/>
        </p:nvSpPr>
        <p:spPr>
          <a:xfrm>
            <a:off x="6309360" y="3218688"/>
            <a:ext cx="329184" cy="329184"/>
          </a:xfrm>
          <a:prstGeom prst="ellipse">
            <a:avLst/>
          </a:prstGeom>
          <a:solidFill>
            <a:srgbClr val="2F5D8A"/>
          </a:solidFill>
          <a:ln w="12700">
            <a:solidFill>
              <a:srgbClr val="2F5D8A"/>
            </a:solidFill>
            <a:prstDash val="solid"/>
          </a:ln>
        </p:spPr>
      </p:sp>
      <p:sp>
        <p:nvSpPr>
          <p:cNvPr id="39" name="Text 37"/>
          <p:cNvSpPr txBox="1"/>
          <p:nvPr/>
        </p:nvSpPr>
        <p:spPr>
          <a:xfrm>
            <a:off x="6309360" y="32186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40" name="Text 38"/>
          <p:cNvSpPr txBox="1"/>
          <p:nvPr/>
        </p:nvSpPr>
        <p:spPr>
          <a:xfrm>
            <a:off x="6711696" y="3191256"/>
            <a:ext cx="2011680" cy="384048"/>
          </a:xfrm>
          <a:prstGeom prst="rect">
            <a:avLst/>
          </a:prstGeom>
          <a:noFill/>
          <a:ln/>
        </p:spPr>
        <p:txBody>
          <a:bodyPr wrap="square" lIns="0" tIns="0" rIns="0" bIns="0" rtlCol="0" anchor="ctr"/>
          <a:lstStyle/>
          <a:p>
            <a:pPr indent="0" marL="0">
              <a:buNone/>
            </a:pPr>
            <a:r>
              <a:rPr lang="en-US" sz="1100" b="1" dirty="0">
                <a:solidFill>
                  <a:srgbClr val="1F1E1D"/>
                </a:solidFill>
                <a:latin typeface="Yu Gothic" pitchFamily="34" charset="0"/>
                <a:ea typeface="Yu Gothic" pitchFamily="34" charset="-122"/>
                <a:cs typeface="Yu Gothic" pitchFamily="34" charset="-120"/>
              </a:rPr>
              <a:t>Google は最後の手段</a:t>
            </a:r>
            <a:endParaRPr lang="en-US" sz="1100" dirty="0"/>
          </a:p>
        </p:txBody>
      </p:sp>
      <p:sp>
        <p:nvSpPr>
          <p:cNvPr id="41" name="Text 39"/>
          <p:cNvSpPr txBox="1"/>
          <p:nvPr/>
        </p:nvSpPr>
        <p:spPr>
          <a:xfrm>
            <a:off x="6309360" y="3602736"/>
            <a:ext cx="2331720" cy="694944"/>
          </a:xfrm>
          <a:prstGeom prst="rect">
            <a:avLst/>
          </a:prstGeom>
          <a:noFill/>
          <a:ln/>
        </p:spPr>
        <p:txBody>
          <a:bodyPr wrap="square" lIns="0" tIns="0" rIns="0" bIns="0" rtlCol="0" anchor="t"/>
          <a:lstStyle/>
          <a:p>
            <a:pPr indent="0" marL="0">
              <a:buNone/>
            </a:pPr>
            <a:r>
              <a:rPr lang="en-US" sz="950" dirty="0">
                <a:solidFill>
                  <a:srgbClr val="6E6960"/>
                </a:solidFill>
                <a:latin typeface="Yu Gothic" pitchFamily="34" charset="0"/>
                <a:ea typeface="Yu Gothic" pitchFamily="34" charset="-122"/>
                <a:cs typeface="Yu Gothic" pitchFamily="34" charset="-120"/>
              </a:rPr>
              <a:t>無料の検索源で見つからなかったときだけ。1人1日5回までの上限と、日次の予算上限</a:t>
            </a:r>
            <a:endParaRPr lang="en-US" sz="950" dirty="0"/>
          </a:p>
        </p:txBody>
      </p:sp>
      <p:sp>
        <p:nvSpPr>
          <p:cNvPr id="42" name="Shape 40"/>
          <p:cNvSpPr/>
          <p:nvPr/>
        </p:nvSpPr>
        <p:spPr>
          <a:xfrm>
            <a:off x="6309360" y="4315968"/>
            <a:ext cx="1371600" cy="237744"/>
          </a:xfrm>
          <a:prstGeom prst="roundRect">
            <a:avLst>
              <a:gd name="adj" fmla="val 50000"/>
            </a:avLst>
          </a:prstGeom>
          <a:solidFill>
            <a:srgbClr val="E3F1E8"/>
          </a:solidFill>
          <a:ln w="12700">
            <a:solidFill>
              <a:srgbClr val="E3F1E8"/>
            </a:solidFill>
            <a:prstDash val="solid"/>
          </a:ln>
        </p:spPr>
      </p:sp>
      <p:sp>
        <p:nvSpPr>
          <p:cNvPr id="43" name="Text 41"/>
          <p:cNvSpPr txBox="1"/>
          <p:nvPr/>
        </p:nvSpPr>
        <p:spPr>
          <a:xfrm>
            <a:off x="6309360" y="4315968"/>
            <a:ext cx="1371600" cy="237744"/>
          </a:xfrm>
          <a:prstGeom prst="rect">
            <a:avLst/>
          </a:prstGeom>
          <a:noFill/>
          <a:ln/>
        </p:spPr>
        <p:txBody>
          <a:bodyPr wrap="square" lIns="0" tIns="0" rIns="0" bIns="0" rtlCol="0" anchor="ctr"/>
          <a:lstStyle/>
          <a:p>
            <a:pPr algn="ctr" indent="0" marL="0">
              <a:buNone/>
            </a:pPr>
            <a:r>
              <a:rPr lang="en-US" sz="850" b="1" dirty="0">
                <a:solidFill>
                  <a:srgbClr val="2E8B57"/>
                </a:solidFill>
                <a:latin typeface="Yu Gothic" pitchFamily="34" charset="0"/>
                <a:ea typeface="Yu Gothic" pitchFamily="34" charset="-122"/>
                <a:cs typeface="Yu Gothic" pitchFamily="34" charset="-120"/>
              </a:rPr>
              <a:t>呼び出し順は実装済み</a:t>
            </a:r>
            <a:endParaRPr lang="en-US" sz="850" dirty="0"/>
          </a:p>
        </p:txBody>
      </p:sp>
      <p:sp>
        <p:nvSpPr>
          <p:cNvPr id="44" name="Shape 42"/>
          <p:cNvSpPr/>
          <p:nvPr/>
        </p:nvSpPr>
        <p:spPr>
          <a:xfrm>
            <a:off x="8942832" y="3090672"/>
            <a:ext cx="2651760" cy="1517904"/>
          </a:xfrm>
          <a:prstGeom prst="roundRect">
            <a:avLst>
              <a:gd name="adj" fmla="val 7229"/>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45" name="Shape 43"/>
          <p:cNvSpPr/>
          <p:nvPr/>
        </p:nvSpPr>
        <p:spPr>
          <a:xfrm>
            <a:off x="9107424" y="3218688"/>
            <a:ext cx="329184" cy="329184"/>
          </a:xfrm>
          <a:prstGeom prst="ellipse">
            <a:avLst/>
          </a:prstGeom>
          <a:solidFill>
            <a:srgbClr val="2F5D8A"/>
          </a:solidFill>
          <a:ln w="12700">
            <a:solidFill>
              <a:srgbClr val="2F5D8A"/>
            </a:solidFill>
            <a:prstDash val="solid"/>
          </a:ln>
        </p:spPr>
      </p:sp>
      <p:sp>
        <p:nvSpPr>
          <p:cNvPr id="46" name="Text 44"/>
          <p:cNvSpPr txBox="1"/>
          <p:nvPr/>
        </p:nvSpPr>
        <p:spPr>
          <a:xfrm>
            <a:off x="9107424" y="32186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4</a:t>
            </a:r>
            <a:endParaRPr lang="en-US" sz="1300" dirty="0"/>
          </a:p>
        </p:txBody>
      </p:sp>
      <p:sp>
        <p:nvSpPr>
          <p:cNvPr id="47" name="Text 45"/>
          <p:cNvSpPr txBox="1"/>
          <p:nvPr/>
        </p:nvSpPr>
        <p:spPr>
          <a:xfrm>
            <a:off x="9509760" y="3191256"/>
            <a:ext cx="2011680" cy="384048"/>
          </a:xfrm>
          <a:prstGeom prst="rect">
            <a:avLst/>
          </a:prstGeom>
          <a:noFill/>
          <a:ln/>
        </p:spPr>
        <p:txBody>
          <a:bodyPr wrap="square" lIns="0" tIns="0" rIns="0" bIns="0" rtlCol="0" anchor="ctr"/>
          <a:lstStyle/>
          <a:p>
            <a:pPr indent="0" marL="0">
              <a:buNone/>
            </a:pPr>
            <a:r>
              <a:rPr lang="en-US" sz="1100" b="1" dirty="0">
                <a:solidFill>
                  <a:srgbClr val="1F1E1D"/>
                </a:solidFill>
                <a:latin typeface="Yu Gothic" pitchFamily="34" charset="0"/>
                <a:ea typeface="Yu Gothic" pitchFamily="34" charset="-122"/>
                <a:cs typeface="Yu Gothic" pitchFamily="34" charset="-120"/>
              </a:rPr>
              <a:t>残りは本人のキーかプレミアム</a:t>
            </a:r>
            <a:endParaRPr lang="en-US" sz="1100" dirty="0"/>
          </a:p>
        </p:txBody>
      </p:sp>
      <p:sp>
        <p:nvSpPr>
          <p:cNvPr id="48" name="Text 46"/>
          <p:cNvSpPr txBox="1"/>
          <p:nvPr/>
        </p:nvSpPr>
        <p:spPr>
          <a:xfrm>
            <a:off x="9107424" y="3602736"/>
            <a:ext cx="2331720" cy="694944"/>
          </a:xfrm>
          <a:prstGeom prst="rect">
            <a:avLst/>
          </a:prstGeom>
          <a:noFill/>
          <a:ln/>
        </p:spPr>
        <p:txBody>
          <a:bodyPr wrap="square" lIns="0" tIns="0" rIns="0" bIns="0" rtlCol="0" anchor="t"/>
          <a:lstStyle/>
          <a:p>
            <a:pPr indent="0" marL="0">
              <a:buNone/>
            </a:pPr>
            <a:r>
              <a:rPr lang="en-US" sz="950" dirty="0">
                <a:solidFill>
                  <a:srgbClr val="6E6960"/>
                </a:solidFill>
                <a:latin typeface="Yu Gothic" pitchFamily="34" charset="0"/>
                <a:ea typeface="Yu Gothic" pitchFamily="34" charset="-122"/>
                <a:cs typeface="Yu Gothic" pitchFamily="34" charset="-120"/>
              </a:rPr>
              <a:t>自分のキーを設定した人は無制限。運営のキーで無制限にしたい人は月300円のプレミアム</a:t>
            </a:r>
            <a:endParaRPr lang="en-US" sz="950" dirty="0"/>
          </a:p>
        </p:txBody>
      </p:sp>
      <p:sp>
        <p:nvSpPr>
          <p:cNvPr id="49" name="Shape 47"/>
          <p:cNvSpPr/>
          <p:nvPr/>
        </p:nvSpPr>
        <p:spPr>
          <a:xfrm>
            <a:off x="9107424" y="4315968"/>
            <a:ext cx="1371600" cy="237744"/>
          </a:xfrm>
          <a:prstGeom prst="roundRect">
            <a:avLst>
              <a:gd name="adj" fmla="val 50000"/>
            </a:avLst>
          </a:prstGeom>
          <a:solidFill>
            <a:srgbClr val="F3F1EC"/>
          </a:solidFill>
          <a:ln w="12700">
            <a:solidFill>
              <a:srgbClr val="F3F1EC"/>
            </a:solidFill>
            <a:prstDash val="solid"/>
          </a:ln>
        </p:spPr>
      </p:sp>
      <p:sp>
        <p:nvSpPr>
          <p:cNvPr id="50" name="Text 48"/>
          <p:cNvSpPr txBox="1"/>
          <p:nvPr/>
        </p:nvSpPr>
        <p:spPr>
          <a:xfrm>
            <a:off x="9107424" y="4315968"/>
            <a:ext cx="1371600" cy="237744"/>
          </a:xfrm>
          <a:prstGeom prst="rect">
            <a:avLst/>
          </a:prstGeom>
          <a:noFill/>
          <a:ln/>
        </p:spPr>
        <p:txBody>
          <a:bodyPr wrap="square" lIns="0" tIns="0" rIns="0" bIns="0" rtlCol="0" anchor="ctr"/>
          <a:lstStyle/>
          <a:p>
            <a:pPr algn="ctr" indent="0" marL="0">
              <a:buNone/>
            </a:pPr>
            <a:r>
              <a:rPr lang="en-US" sz="850" b="1" dirty="0">
                <a:solidFill>
                  <a:srgbClr val="8A857D"/>
                </a:solidFill>
                <a:latin typeface="Yu Gothic" pitchFamily="34" charset="0"/>
                <a:ea typeface="Yu Gothic" pitchFamily="34" charset="-122"/>
                <a:cs typeface="Yu Gothic" pitchFamily="34" charset="-120"/>
              </a:rPr>
              <a:t>設計</a:t>
            </a:r>
            <a:endParaRPr lang="en-US" sz="850" dirty="0"/>
          </a:p>
        </p:txBody>
      </p:sp>
      <p:sp>
        <p:nvSpPr>
          <p:cNvPr id="51" name="Text 49"/>
          <p:cNvSpPr txBox="1"/>
          <p:nvPr/>
        </p:nvSpPr>
        <p:spPr>
          <a:xfrm>
            <a:off x="548640" y="4718304"/>
            <a:ext cx="10972800" cy="274320"/>
          </a:xfrm>
          <a:prstGeom prst="rect">
            <a:avLst/>
          </a:prstGeom>
          <a:noFill/>
          <a:ln/>
        </p:spPr>
        <p:txBody>
          <a:bodyPr wrap="square" lIns="0" tIns="0" rIns="0" bIns="0" rtlCol="0" anchor="ctr"/>
          <a:lstStyle/>
          <a:p>
            <a:pPr indent="0" marL="0">
              <a:buNone/>
            </a:pPr>
            <a:r>
              <a:rPr lang="en-US" sz="1050" b="1" dirty="0">
                <a:solidFill>
                  <a:srgbClr val="1F1E1D"/>
                </a:solidFill>
                <a:latin typeface="Yu Gothic" pitchFamily="34" charset="0"/>
                <a:ea typeface="Yu Gothic" pitchFamily="34" charset="-122"/>
                <a:cs typeface="Yu Gothic" pitchFamily="34" charset="-120"/>
              </a:rPr>
              <a:t>規模ごとの見通し（Google の無料枠と Firebase の無料枠を前提。料金改定があれば再計算）</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5001768"/>
          <a:ext cx="11091672" cy="914400"/>
        </p:xfrm>
        <a:graphic>
          <a:graphicData uri="http://schemas.openxmlformats.org/drawingml/2006/table">
            <a:tbl>
              <a:tblPr/>
              <a:tblGrid>
                <a:gridCol w="1005840"/>
                <a:gridCol w="2834640"/>
                <a:gridCol w="2377440"/>
                <a:gridCol w="2103120"/>
                <a:gridCol w="2770632"/>
              </a:tblGrid>
              <a:tr h="274320">
                <a:tc>
                  <a:txBody>
                    <a:bodyPr/>
                    <a:lstStyle/>
                    <a:p>
                      <a:pPr algn="ctr" indent="0" marL="0">
                        <a:buNone/>
                      </a:pPr>
                      <a:endParaRPr lang="en-US" sz="95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2F5D8A"/>
                    </a:solidFill>
                  </a:tcPr>
                </a:tc>
                <a:tc>
                  <a:txBody>
                    <a:bodyPr/>
                    <a:lstStyle/>
                    <a:p>
                      <a:pPr algn="l" indent="0" marL="0">
                        <a:buNone/>
                      </a:pPr>
                      <a:r>
                        <a:rPr lang="en-US" sz="950" b="1" dirty="0">
                          <a:solidFill>
                            <a:srgbClr val="FFFFFF"/>
                          </a:solidFill>
                          <a:latin typeface="Yu Gothic" pitchFamily="34" charset="0"/>
                          <a:ea typeface="Yu Gothic" pitchFamily="34" charset="-122"/>
                          <a:cs typeface="Yu Gothic" pitchFamily="34" charset="-120"/>
                        </a:rPr>
                        <a:t>起きること</a:t>
                      </a:r>
                      <a:endParaRPr lang="en-US" sz="95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2F5D8A"/>
                    </a:solidFill>
                  </a:tcPr>
                </a:tc>
                <a:tc>
                  <a:txBody>
                    <a:bodyPr/>
                    <a:lstStyle/>
                    <a:p>
                      <a:pPr algn="l" indent="0" marL="0">
                        <a:buNone/>
                      </a:pPr>
                      <a:r>
                        <a:rPr lang="en-US" sz="950" b="1" dirty="0">
                          <a:solidFill>
                            <a:srgbClr val="FFFFFF"/>
                          </a:solidFill>
                          <a:latin typeface="Yu Gothic" pitchFamily="34" charset="0"/>
                          <a:ea typeface="Yu Gothic" pitchFamily="34" charset="-122"/>
                          <a:cs typeface="Yu Gothic" pitchFamily="34" charset="-120"/>
                        </a:rPr>
                        <a:t>外部検索（Google）</a:t>
                      </a:r>
                      <a:endParaRPr lang="en-US" sz="95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2F5D8A"/>
                    </a:solidFill>
                  </a:tcPr>
                </a:tc>
                <a:tc>
                  <a:txBody>
                    <a:bodyPr/>
                    <a:lstStyle/>
                    <a:p>
                      <a:pPr algn="l" indent="0" marL="0">
                        <a:buNone/>
                      </a:pPr>
                      <a:r>
                        <a:rPr lang="en-US" sz="950" b="1" dirty="0">
                          <a:solidFill>
                            <a:srgbClr val="FFFFFF"/>
                          </a:solidFill>
                          <a:latin typeface="Yu Gothic" pitchFamily="34" charset="0"/>
                          <a:ea typeface="Yu Gothic" pitchFamily="34" charset="-122"/>
                          <a:cs typeface="Yu Gothic" pitchFamily="34" charset="-120"/>
                        </a:rPr>
                        <a:t>運営コストの目安</a:t>
                      </a:r>
                      <a:endParaRPr lang="en-US" sz="95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2F5D8A"/>
                    </a:solidFill>
                  </a:tcPr>
                </a:tc>
                <a:tc>
                  <a:txBody>
                    <a:bodyPr/>
                    <a:lstStyle/>
                    <a:p>
                      <a:pPr algn="l" indent="0" marL="0">
                        <a:buNone/>
                      </a:pPr>
                      <a:r>
                        <a:rPr lang="en-US" sz="950" b="1" dirty="0">
                          <a:solidFill>
                            <a:srgbClr val="FFFFFF"/>
                          </a:solidFill>
                          <a:latin typeface="Yu Gothic" pitchFamily="34" charset="0"/>
                          <a:ea typeface="Yu Gothic" pitchFamily="34" charset="-122"/>
                          <a:cs typeface="Yu Gothic" pitchFamily="34" charset="-120"/>
                        </a:rPr>
                        <a:t>まかない方</a:t>
                      </a:r>
                      <a:endParaRPr lang="en-US" sz="95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2F5D8A"/>
                    </a:solidFill>
                  </a:tcPr>
                </a:tc>
              </a:tr>
              <a:tr h="292608">
                <a:tc>
                  <a:txBody>
                    <a:bodyPr/>
                    <a:lstStyle/>
                    <a:p>
                      <a:pPr algn="ctr" indent="0" marL="0">
                        <a:buNone/>
                      </a:pPr>
                      <a:r>
                        <a:rPr lang="en-US" sz="1000" b="1" dirty="0">
                          <a:solidFill>
                            <a:srgbClr val="1F1E1D"/>
                          </a:solidFill>
                          <a:latin typeface="Yu Gothic" pitchFamily="34" charset="0"/>
                          <a:ea typeface="Yu Gothic" pitchFamily="34" charset="-122"/>
                          <a:cs typeface="Yu Gothic" pitchFamily="34" charset="-120"/>
                        </a:rPr>
                        <a:t>100人</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1E1D"/>
                          </a:solidFill>
                          <a:latin typeface="Yu Gothic" pitchFamily="34" charset="0"/>
                          <a:ea typeface="Yu Gothic" pitchFamily="34" charset="-122"/>
                          <a:cs typeface="Yu Gothic" pitchFamily="34" charset="-120"/>
                        </a:rPr>
                        <a:t>味覚が近い人が数人見つかる</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1E1D"/>
                          </a:solidFill>
                          <a:latin typeface="Yu Gothic" pitchFamily="34" charset="0"/>
                          <a:ea typeface="Yu Gothic" pitchFamily="34" charset="-122"/>
                          <a:cs typeface="Yu Gothic" pitchFamily="34" charset="-120"/>
                        </a:rPr>
                        <a:t>月100回程度 → 無料枠内</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B4552F"/>
                          </a:solidFill>
                          <a:latin typeface="Yu Gothic" pitchFamily="34" charset="0"/>
                          <a:ea typeface="Yu Gothic" pitchFamily="34" charset="-122"/>
                          <a:cs typeface="Yu Gothic" pitchFamily="34" charset="-120"/>
                        </a:rPr>
                        <a:t>0円</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BEFE9"/>
                    </a:solidFill>
                  </a:tcPr>
                </a:tc>
                <a:tc>
                  <a:txBody>
                    <a:bodyPr/>
                    <a:lstStyle/>
                    <a:p>
                      <a:pPr algn="l" indent="0" marL="0">
                        <a:buNone/>
                      </a:pPr>
                      <a:r>
                        <a:rPr lang="en-US" sz="1000" dirty="0">
                          <a:solidFill>
                            <a:srgbClr val="1F1E1D"/>
                          </a:solidFill>
                          <a:latin typeface="Yu Gothic" pitchFamily="34" charset="0"/>
                          <a:ea typeface="Yu Gothic" pitchFamily="34" charset="-122"/>
                          <a:cs typeface="Yu Gothic" pitchFamily="34" charset="-120"/>
                        </a:rPr>
                        <a:t>不要</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r>
              <a:tr h="292608">
                <a:tc>
                  <a:txBody>
                    <a:bodyPr/>
                    <a:lstStyle/>
                    <a:p>
                      <a:pPr algn="ctr" indent="0" marL="0">
                        <a:buNone/>
                      </a:pPr>
                      <a:r>
                        <a:rPr lang="en-US" sz="1000" b="1" dirty="0">
                          <a:solidFill>
                            <a:srgbClr val="1F1E1D"/>
                          </a:solidFill>
                          <a:latin typeface="Yu Gothic" pitchFamily="34" charset="0"/>
                          <a:ea typeface="Yu Gothic" pitchFamily="34" charset="-122"/>
                          <a:cs typeface="Yu Gothic" pitchFamily="34" charset="-120"/>
                        </a:rPr>
                        <a:t>1,000人</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1E1D"/>
                          </a:solidFill>
                          <a:latin typeface="Yu Gothic" pitchFamily="34" charset="0"/>
                          <a:ea typeface="Yu Gothic" pitchFamily="34" charset="-122"/>
                          <a:cs typeface="Yu Gothic" pitchFamily="34" charset="-120"/>
                        </a:rPr>
                        <a:t>フォロー外にも近い人が現れる</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1E1D"/>
                          </a:solidFill>
                          <a:latin typeface="Yu Gothic" pitchFamily="34" charset="0"/>
                          <a:ea typeface="Yu Gothic" pitchFamily="34" charset="-122"/>
                          <a:cs typeface="Yu Gothic" pitchFamily="34" charset="-120"/>
                        </a:rPr>
                        <a:t>月1,000回程度 → 無料枠内</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B4552F"/>
                          </a:solidFill>
                          <a:latin typeface="Yu Gothic" pitchFamily="34" charset="0"/>
                          <a:ea typeface="Yu Gothic" pitchFamily="34" charset="-122"/>
                          <a:cs typeface="Yu Gothic" pitchFamily="34" charset="-120"/>
                        </a:rPr>
                        <a:t>月数百〜数千円（写真の転送）</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BEFE9"/>
                    </a:solidFill>
                  </a:tcPr>
                </a:tc>
                <a:tc>
                  <a:txBody>
                    <a:bodyPr/>
                    <a:lstStyle/>
                    <a:p>
                      <a:pPr algn="l" indent="0" marL="0">
                        <a:buNone/>
                      </a:pPr>
                      <a:r>
                        <a:rPr lang="en-US" sz="1000" dirty="0">
                          <a:solidFill>
                            <a:srgbClr val="1F1E1D"/>
                          </a:solidFill>
                          <a:latin typeface="Yu Gothic" pitchFamily="34" charset="0"/>
                          <a:ea typeface="Yu Gothic" pitchFamily="34" charset="-122"/>
                          <a:cs typeface="Yu Gothic" pitchFamily="34" charset="-120"/>
                        </a:rPr>
                        <a:t>開発者が負担して育てる</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r>
              <a:tr h="292608">
                <a:tc>
                  <a:txBody>
                    <a:bodyPr/>
                    <a:lstStyle/>
                    <a:p>
                      <a:pPr algn="ctr" indent="0" marL="0">
                        <a:buNone/>
                      </a:pPr>
                      <a:r>
                        <a:rPr lang="en-US" sz="1000" b="1" dirty="0">
                          <a:solidFill>
                            <a:srgbClr val="1F1E1D"/>
                          </a:solidFill>
                          <a:latin typeface="Yu Gothic" pitchFamily="34" charset="0"/>
                          <a:ea typeface="Yu Gothic" pitchFamily="34" charset="-122"/>
                          <a:cs typeface="Yu Gothic" pitchFamily="34" charset="-120"/>
                        </a:rPr>
                        <a:t>10,000人</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1E1D"/>
                          </a:solidFill>
                          <a:latin typeface="Yu Gothic" pitchFamily="34" charset="0"/>
                          <a:ea typeface="Yu Gothic" pitchFamily="34" charset="-122"/>
                          <a:cs typeface="Yu Gothic" pitchFamily="34" charset="-120"/>
                        </a:rPr>
                        <a:t>「似た人がまだ行っていない店」を提案</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1E1D"/>
                          </a:solidFill>
                          <a:latin typeface="Yu Gothic" pitchFamily="34" charset="0"/>
                          <a:ea typeface="Yu Gothic" pitchFamily="34" charset="-122"/>
                          <a:cs typeface="Yu Gothic" pitchFamily="34" charset="-120"/>
                        </a:rPr>
                        <a:t>月1万回 → 一部が有料</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B4552F"/>
                          </a:solidFill>
                          <a:latin typeface="Yu Gothic" pitchFamily="34" charset="0"/>
                          <a:ea typeface="Yu Gothic" pitchFamily="34" charset="-122"/>
                          <a:cs typeface="Yu Gothic" pitchFamily="34" charset="-120"/>
                        </a:rPr>
                        <a:t>月数万円</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BEFE9"/>
                    </a:solidFill>
                  </a:tcPr>
                </a:tc>
                <a:tc>
                  <a:txBody>
                    <a:bodyPr/>
                    <a:lstStyle/>
                    <a:p>
                      <a:pPr algn="l" indent="0" marL="0">
                        <a:buNone/>
                      </a:pPr>
                      <a:r>
                        <a:rPr lang="en-US" sz="1000" dirty="0">
                          <a:solidFill>
                            <a:srgbClr val="1F1E1D"/>
                          </a:solidFill>
                          <a:latin typeface="Yu Gothic" pitchFamily="34" charset="0"/>
                          <a:ea typeface="Yu Gothic" pitchFamily="34" charset="-122"/>
                          <a:cs typeface="Yu Gothic" pitchFamily="34" charset="-120"/>
                        </a:rPr>
                        <a:t>プレミアム3%加入＋予約アフィリエイトで回る</a:t>
                      </a:r>
                      <a:endParaRPr lang="en-US" sz="10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r>
            </a:tbl>
          </a:graphicData>
        </a:graphic>
      </p:graphicFrame>
      <p:sp>
        <p:nvSpPr>
          <p:cNvPr id="53" name="Text 5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54" name="Text 51"/>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822960"/>
            <a:ext cx="7315200" cy="1097280"/>
          </a:xfrm>
          <a:prstGeom prst="rect">
            <a:avLst/>
          </a:prstGeom>
          <a:noFill/>
          <a:ln/>
        </p:spPr>
        <p:txBody>
          <a:bodyPr wrap="square" lIns="0" tIns="0" rIns="0" bIns="0" rtlCol="0" anchor="ctr"/>
          <a:lstStyle/>
          <a:p>
            <a:pPr indent="0" marL="0">
              <a:buNone/>
            </a:pPr>
            <a:r>
              <a:rPr lang="en-US" sz="6400" b="1" spc="400" kern="0" dirty="0">
                <a:solidFill>
                  <a:srgbClr val="FFFFFF"/>
                </a:solidFill>
                <a:latin typeface="Cambria" pitchFamily="34" charset="0"/>
                <a:ea typeface="Cambria" pitchFamily="34" charset="-122"/>
                <a:cs typeface="Cambria" pitchFamily="34" charset="-120"/>
              </a:rPr>
              <a:t>BITEMAP</a:t>
            </a:r>
            <a:endParaRPr lang="en-US" sz="6400" dirty="0"/>
          </a:p>
        </p:txBody>
      </p:sp>
      <p:sp>
        <p:nvSpPr>
          <p:cNvPr id="3" name="Text 1"/>
          <p:cNvSpPr txBox="1"/>
          <p:nvPr/>
        </p:nvSpPr>
        <p:spPr>
          <a:xfrm>
            <a:off x="640080" y="1920240"/>
            <a:ext cx="7315200" cy="731520"/>
          </a:xfrm>
          <a:prstGeom prst="rect">
            <a:avLst/>
          </a:prstGeom>
          <a:noFill/>
          <a:ln/>
        </p:spPr>
        <p:txBody>
          <a:bodyPr wrap="square" lIns="0" tIns="0" rIns="0" bIns="0" rtlCol="0" anchor="ctr"/>
          <a:lstStyle/>
          <a:p>
            <a:pPr indent="0" marL="0">
              <a:buNone/>
            </a:pPr>
            <a:r>
              <a:rPr lang="en-US" sz="3200" b="1" dirty="0">
                <a:solidFill>
                  <a:srgbClr val="FFFFFF"/>
                </a:solidFill>
                <a:latin typeface="Yu Gothic" pitchFamily="34" charset="0"/>
                <a:ea typeface="Yu Gothic" pitchFamily="34" charset="-122"/>
                <a:cs typeface="Yu Gothic" pitchFamily="34" charset="-120"/>
              </a:rPr>
              <a:t>あなたの味覚で、店を選ぶ。</a:t>
            </a:r>
            <a:endParaRPr lang="en-US" sz="3200" dirty="0"/>
          </a:p>
        </p:txBody>
      </p:sp>
      <p:sp>
        <p:nvSpPr>
          <p:cNvPr id="4" name="Shape 2"/>
          <p:cNvSpPr/>
          <p:nvPr/>
        </p:nvSpPr>
        <p:spPr>
          <a:xfrm>
            <a:off x="640080" y="3063240"/>
            <a:ext cx="502920" cy="502920"/>
          </a:xfrm>
          <a:prstGeom prst="ellipse">
            <a:avLst/>
          </a:prstGeom>
          <a:solidFill>
            <a:srgbClr val="FFFFFF"/>
          </a:solidFill>
          <a:ln w="12700">
            <a:solidFill>
              <a:srgbClr val="FFFFFF"/>
            </a:solidFill>
            <a:prstDash val="solid"/>
          </a:ln>
        </p:spPr>
      </p:sp>
      <p:sp>
        <p:nvSpPr>
          <p:cNvPr id="5" name="Text 3"/>
          <p:cNvSpPr txBox="1"/>
          <p:nvPr/>
        </p:nvSpPr>
        <p:spPr>
          <a:xfrm>
            <a:off x="640080" y="3063240"/>
            <a:ext cx="502920" cy="502920"/>
          </a:xfrm>
          <a:prstGeom prst="rect">
            <a:avLst/>
          </a:prstGeom>
          <a:noFill/>
          <a:ln/>
        </p:spPr>
        <p:txBody>
          <a:bodyPr wrap="square" lIns="0" tIns="0" rIns="0" bIns="0" rtlCol="0" anchor="ctr"/>
          <a:lstStyle/>
          <a:p>
            <a:pPr algn="ctr" indent="0" marL="0">
              <a:buNone/>
            </a:pPr>
            <a:r>
              <a:rPr lang="en-US" sz="1600" b="1" dirty="0">
                <a:solidFill>
                  <a:srgbClr val="B4552F"/>
                </a:solidFill>
                <a:latin typeface="Yu Gothic" pitchFamily="34" charset="0"/>
                <a:ea typeface="Yu Gothic" pitchFamily="34" charset="-122"/>
                <a:cs typeface="Yu Gothic" pitchFamily="34" charset="-120"/>
              </a:rPr>
              <a:t>1</a:t>
            </a:r>
            <a:endParaRPr lang="en-US" sz="1600" dirty="0"/>
          </a:p>
        </p:txBody>
      </p:sp>
      <p:sp>
        <p:nvSpPr>
          <p:cNvPr id="6" name="Text 4"/>
          <p:cNvSpPr txBox="1"/>
          <p:nvPr/>
        </p:nvSpPr>
        <p:spPr>
          <a:xfrm>
            <a:off x="1325880" y="3063240"/>
            <a:ext cx="6583680" cy="502920"/>
          </a:xfrm>
          <a:prstGeom prst="rect">
            <a:avLst/>
          </a:prstGeom>
          <a:noFill/>
          <a:ln/>
        </p:spPr>
        <p:txBody>
          <a:bodyPr wrap="square" lIns="0" tIns="0" rIns="0" bIns="0" rtlCol="0" anchor="ctr"/>
          <a:lstStyle/>
          <a:p>
            <a:pPr indent="0" marL="0">
              <a:buNone/>
            </a:pPr>
            <a:r>
              <a:rPr lang="en-US" sz="1700" dirty="0">
                <a:solidFill>
                  <a:srgbClr val="FFFFFF"/>
                </a:solidFill>
                <a:latin typeface="Yu Gothic" pitchFamily="34" charset="0"/>
                <a:ea typeface="Yu Gothic" pitchFamily="34" charset="-122"/>
                <a:cs typeface="Yu Gothic" pitchFamily="34" charset="-120"/>
              </a:rPr>
              <a:t>自分の食の記録を、AIの手を借りて無理なく続けられる</a:t>
            </a:r>
            <a:endParaRPr lang="en-US" sz="1700" dirty="0"/>
          </a:p>
        </p:txBody>
      </p:sp>
      <p:sp>
        <p:nvSpPr>
          <p:cNvPr id="7" name="Shape 5"/>
          <p:cNvSpPr/>
          <p:nvPr/>
        </p:nvSpPr>
        <p:spPr>
          <a:xfrm>
            <a:off x="640080" y="3840480"/>
            <a:ext cx="502920" cy="502920"/>
          </a:xfrm>
          <a:prstGeom prst="ellipse">
            <a:avLst/>
          </a:prstGeom>
          <a:solidFill>
            <a:srgbClr val="FFFFFF"/>
          </a:solidFill>
          <a:ln w="12700">
            <a:solidFill>
              <a:srgbClr val="FFFFFF"/>
            </a:solidFill>
            <a:prstDash val="solid"/>
          </a:ln>
        </p:spPr>
      </p:sp>
      <p:sp>
        <p:nvSpPr>
          <p:cNvPr id="8" name="Text 6"/>
          <p:cNvSpPr txBox="1"/>
          <p:nvPr/>
        </p:nvSpPr>
        <p:spPr>
          <a:xfrm>
            <a:off x="640080" y="3840480"/>
            <a:ext cx="502920" cy="502920"/>
          </a:xfrm>
          <a:prstGeom prst="rect">
            <a:avLst/>
          </a:prstGeom>
          <a:noFill/>
          <a:ln/>
        </p:spPr>
        <p:txBody>
          <a:bodyPr wrap="square" lIns="0" tIns="0" rIns="0" bIns="0" rtlCol="0" anchor="ctr"/>
          <a:lstStyle/>
          <a:p>
            <a:pPr algn="ctr" indent="0" marL="0">
              <a:buNone/>
            </a:pPr>
            <a:r>
              <a:rPr lang="en-US" sz="1600" b="1" dirty="0">
                <a:solidFill>
                  <a:srgbClr val="B4552F"/>
                </a:solidFill>
                <a:latin typeface="Yu Gothic" pitchFamily="34" charset="0"/>
                <a:ea typeface="Yu Gothic" pitchFamily="34" charset="-122"/>
                <a:cs typeface="Yu Gothic" pitchFamily="34" charset="-120"/>
              </a:rPr>
              <a:t>2</a:t>
            </a:r>
            <a:endParaRPr lang="en-US" sz="1600" dirty="0"/>
          </a:p>
        </p:txBody>
      </p:sp>
      <p:sp>
        <p:nvSpPr>
          <p:cNvPr id="9" name="Text 7"/>
          <p:cNvSpPr txBox="1"/>
          <p:nvPr/>
        </p:nvSpPr>
        <p:spPr>
          <a:xfrm>
            <a:off x="1325880" y="3840480"/>
            <a:ext cx="6583680" cy="502920"/>
          </a:xfrm>
          <a:prstGeom prst="rect">
            <a:avLst/>
          </a:prstGeom>
          <a:noFill/>
          <a:ln/>
        </p:spPr>
        <p:txBody>
          <a:bodyPr wrap="square" lIns="0" tIns="0" rIns="0" bIns="0" rtlCol="0" anchor="ctr"/>
          <a:lstStyle/>
          <a:p>
            <a:pPr indent="0" marL="0">
              <a:buNone/>
            </a:pPr>
            <a:r>
              <a:rPr lang="en-US" sz="1700" dirty="0">
                <a:solidFill>
                  <a:srgbClr val="FFFFFF"/>
                </a:solidFill>
                <a:latin typeface="Yu Gothic" pitchFamily="34" charset="0"/>
                <a:ea typeface="Yu Gothic" pitchFamily="34" charset="-122"/>
                <a:cs typeface="Yu Gothic" pitchFamily="34" charset="-120"/>
              </a:rPr>
              <a:t>平均点ではなく、個人の味覚をデータ化して評価を並び替える</a:t>
            </a:r>
            <a:endParaRPr lang="en-US" sz="1700" dirty="0"/>
          </a:p>
        </p:txBody>
      </p:sp>
      <p:sp>
        <p:nvSpPr>
          <p:cNvPr id="10" name="Shape 8"/>
          <p:cNvSpPr/>
          <p:nvPr/>
        </p:nvSpPr>
        <p:spPr>
          <a:xfrm>
            <a:off x="640080" y="4617720"/>
            <a:ext cx="502920" cy="502920"/>
          </a:xfrm>
          <a:prstGeom prst="ellipse">
            <a:avLst/>
          </a:prstGeom>
          <a:solidFill>
            <a:srgbClr val="FFFFFF"/>
          </a:solidFill>
          <a:ln w="12700">
            <a:solidFill>
              <a:srgbClr val="FFFFFF"/>
            </a:solidFill>
            <a:prstDash val="solid"/>
          </a:ln>
        </p:spPr>
      </p:sp>
      <p:sp>
        <p:nvSpPr>
          <p:cNvPr id="11" name="Text 9"/>
          <p:cNvSpPr txBox="1"/>
          <p:nvPr/>
        </p:nvSpPr>
        <p:spPr>
          <a:xfrm>
            <a:off x="640080" y="4617720"/>
            <a:ext cx="502920" cy="502920"/>
          </a:xfrm>
          <a:prstGeom prst="rect">
            <a:avLst/>
          </a:prstGeom>
          <a:noFill/>
          <a:ln/>
        </p:spPr>
        <p:txBody>
          <a:bodyPr wrap="square" lIns="0" tIns="0" rIns="0" bIns="0" rtlCol="0" anchor="ctr"/>
          <a:lstStyle/>
          <a:p>
            <a:pPr algn="ctr" indent="0" marL="0">
              <a:buNone/>
            </a:pPr>
            <a:r>
              <a:rPr lang="en-US" sz="1600" b="1" dirty="0">
                <a:solidFill>
                  <a:srgbClr val="B4552F"/>
                </a:solidFill>
                <a:latin typeface="Yu Gothic" pitchFamily="34" charset="0"/>
                <a:ea typeface="Yu Gothic" pitchFamily="34" charset="-122"/>
                <a:cs typeface="Yu Gothic" pitchFamily="34" charset="-120"/>
              </a:rPr>
              <a:t>3</a:t>
            </a:r>
            <a:endParaRPr lang="en-US" sz="1600" dirty="0"/>
          </a:p>
        </p:txBody>
      </p:sp>
      <p:sp>
        <p:nvSpPr>
          <p:cNvPr id="12" name="Text 10"/>
          <p:cNvSpPr txBox="1"/>
          <p:nvPr/>
        </p:nvSpPr>
        <p:spPr>
          <a:xfrm>
            <a:off x="1325880" y="4617720"/>
            <a:ext cx="6583680" cy="502920"/>
          </a:xfrm>
          <a:prstGeom prst="rect">
            <a:avLst/>
          </a:prstGeom>
          <a:noFill/>
          <a:ln/>
        </p:spPr>
        <p:txBody>
          <a:bodyPr wrap="square" lIns="0" tIns="0" rIns="0" bIns="0" rtlCol="0" anchor="ctr"/>
          <a:lstStyle/>
          <a:p>
            <a:pPr indent="0" marL="0">
              <a:buNone/>
            </a:pPr>
            <a:r>
              <a:rPr lang="en-US" sz="1700" dirty="0">
                <a:solidFill>
                  <a:srgbClr val="FFFFFF"/>
                </a:solidFill>
                <a:latin typeface="Yu Gothic" pitchFamily="34" charset="0"/>
                <a:ea typeface="Yu Gothic" pitchFamily="34" charset="-122"/>
                <a:cs typeface="Yu Gothic" pitchFamily="34" charset="-120"/>
              </a:rPr>
              <a:t>AIは実装と判定、判断は人。毎日使えるアプリになった</a:t>
            </a:r>
            <a:endParaRPr lang="en-US" sz="1700" dirty="0"/>
          </a:p>
        </p:txBody>
      </p:sp>
      <p:sp>
        <p:nvSpPr>
          <p:cNvPr id="13" name="Text 11"/>
          <p:cNvSpPr txBox="1"/>
          <p:nvPr/>
        </p:nvSpPr>
        <p:spPr>
          <a:xfrm>
            <a:off x="640080" y="5760720"/>
            <a:ext cx="7315200" cy="457200"/>
          </a:xfrm>
          <a:prstGeom prst="rect">
            <a:avLst/>
          </a:prstGeom>
          <a:noFill/>
          <a:ln/>
        </p:spPr>
        <p:txBody>
          <a:bodyPr wrap="square" lIns="0" tIns="0" rIns="0" bIns="0" rtlCol="0" anchor="ctr"/>
          <a:lstStyle/>
          <a:p>
            <a:pPr indent="0" marL="0">
              <a:buNone/>
            </a:pPr>
            <a:r>
              <a:rPr lang="en-US" sz="1400" dirty="0">
                <a:solidFill>
                  <a:srgbClr val="FFE9DF"/>
                </a:solidFill>
                <a:latin typeface="Yu Gothic" pitchFamily="34" charset="0"/>
                <a:ea typeface="Yu Gothic" pitchFamily="34" charset="-122"/>
                <a:cs typeface="Yu Gothic" pitchFamily="34" charset="-120"/>
              </a:rPr>
              <a:t>ご清聴ありがとうございました。質疑応答をお願いします。</a:t>
            </a:r>
            <a:endParaRPr lang="en-US" sz="1400" dirty="0"/>
          </a:p>
        </p:txBody>
      </p:sp>
      <p:sp>
        <p:nvSpPr>
          <p:cNvPr id="14" name="Shape 12"/>
          <p:cNvSpPr/>
          <p:nvPr/>
        </p:nvSpPr>
        <p:spPr>
          <a:xfrm>
            <a:off x="8860536" y="448056"/>
            <a:ext cx="2813925" cy="5961888"/>
          </a:xfrm>
          <a:prstGeom prst="roundRect">
            <a:avLst>
              <a:gd name="adj" fmla="val 7149"/>
            </a:avLst>
          </a:prstGeom>
          <a:solidFill>
            <a:srgbClr val="1F1E1D"/>
          </a:solidFill>
          <a:ln w="12700">
            <a:solidFill>
              <a:srgbClr val="1F1E1D"/>
            </a:solidFill>
            <a:prstDash val="solid"/>
          </a:ln>
          <a:effectLst>
            <a:outerShdw sx="100000" sy="100000" kx="0" ky="0" algn="bl" rotWithShape="0" blurRad="76200" dist="25400" dir="5400000">
              <a:srgbClr val="000000">
                <a:alpha val="12000"/>
              </a:srgbClr>
            </a:outerShdw>
          </a:effectLst>
        </p:spPr>
      </p:sp>
      <p:pic>
        <p:nvPicPr>
          <p:cNvPr id="15" name="Image 0" descr="/tmp/claude-0/-home-user-gourmet-app/8edbdaa3-b81a-5c49-b452-bda755b7f07f/scratchpad/real/shots/profile.png">    </p:cNvPr>
          <p:cNvPicPr>
            <a:picLocks noChangeAspect="1"/>
          </p:cNvPicPr>
          <p:nvPr/>
        </p:nvPicPr>
        <p:blipFill>
          <a:blip r:embed="rId2"/>
          <a:stretch>
            <a:fillRect/>
          </a:stretch>
        </p:blipFill>
        <p:spPr>
          <a:xfrm>
            <a:off x="8915400" y="502920"/>
            <a:ext cx="2704197" cy="58521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APPENDIX</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補足：想定される質問と回答（質疑応答用）</a:t>
            </a:r>
            <a:endParaRPr lang="en-US" sz="3000" dirty="0"/>
          </a:p>
        </p:txBody>
      </p:sp>
      <p:sp>
        <p:nvSpPr>
          <p:cNvPr id="4" name="Shape 2"/>
          <p:cNvSpPr/>
          <p:nvPr/>
        </p:nvSpPr>
        <p:spPr>
          <a:xfrm>
            <a:off x="548640" y="1371600"/>
            <a:ext cx="5468112" cy="1170432"/>
          </a:xfrm>
          <a:prstGeom prst="roundRect">
            <a:avLst>
              <a:gd name="adj" fmla="val 9375"/>
            </a:avLst>
          </a:prstGeom>
          <a:solidFill>
            <a:srgbClr val="FBF8F3"/>
          </a:solidFill>
          <a:ln w="12700">
            <a:solidFill>
              <a:srgbClr val="EAE3D8"/>
            </a:solidFill>
            <a:prstDash val="solid"/>
          </a:ln>
        </p:spPr>
      </p:sp>
      <p:sp>
        <p:nvSpPr>
          <p:cNvPr id="5" name="Text 3"/>
          <p:cNvSpPr txBox="1"/>
          <p:nvPr/>
        </p:nvSpPr>
        <p:spPr>
          <a:xfrm>
            <a:off x="731520" y="1463040"/>
            <a:ext cx="5120640" cy="310896"/>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Q. ユーザーが少ないと一致率は機能しないのでは？（コールドスタート）</a:t>
            </a:r>
            <a:endParaRPr lang="en-US" sz="1150" dirty="0"/>
          </a:p>
        </p:txBody>
      </p:sp>
      <p:sp>
        <p:nvSpPr>
          <p:cNvPr id="6" name="Text 4"/>
          <p:cNvSpPr txBox="1"/>
          <p:nvPr/>
        </p:nvSpPr>
        <p:spPr>
          <a:xfrm>
            <a:off x="731520" y="1773936"/>
            <a:ext cx="5120640" cy="749808"/>
          </a:xfrm>
          <a:prstGeom prst="rect">
            <a:avLst/>
          </a:prstGeom>
          <a:noFill/>
          <a:ln/>
        </p:spPr>
        <p:txBody>
          <a:bodyPr wrap="square" lIns="0" tIns="0" rIns="0" bIns="0" rtlCol="0" anchor="t"/>
          <a:lstStyle/>
          <a:p>
            <a:pPr indent="0" marL="0">
              <a:buNone/>
            </a:pPr>
            <a:r>
              <a:rPr lang="en-US" sz="950" dirty="0">
                <a:solidFill>
                  <a:srgbClr val="1F1E1D"/>
                </a:solidFill>
                <a:latin typeface="Yu Gothic" pitchFamily="34" charset="0"/>
                <a:ea typeface="Yu Gothic" pitchFamily="34" charset="-122"/>
                <a:cs typeface="Yu Gothic" pitchFamily="34" charset="-120"/>
              </a:rPr>
              <a:t>共通店5件未満では一致率を表示しない。初期は自分の評価を一致率100%として使い、一致率が出せない人の評価は弱く（重み0.15）反映する。だから1人でも「自分の食日記」として成立し、人が増えるほど精度が上がる。</a:t>
            </a:r>
            <a:endParaRPr lang="en-US" sz="950" dirty="0"/>
          </a:p>
        </p:txBody>
      </p:sp>
      <p:sp>
        <p:nvSpPr>
          <p:cNvPr id="7" name="Shape 5"/>
          <p:cNvSpPr/>
          <p:nvPr/>
        </p:nvSpPr>
        <p:spPr>
          <a:xfrm>
            <a:off x="6172200" y="1371600"/>
            <a:ext cx="5468112" cy="1170432"/>
          </a:xfrm>
          <a:prstGeom prst="roundRect">
            <a:avLst>
              <a:gd name="adj" fmla="val 9375"/>
            </a:avLst>
          </a:prstGeom>
          <a:solidFill>
            <a:srgbClr val="FBF8F3"/>
          </a:solidFill>
          <a:ln w="12700">
            <a:solidFill>
              <a:srgbClr val="EAE3D8"/>
            </a:solidFill>
            <a:prstDash val="solid"/>
          </a:ln>
        </p:spPr>
      </p:sp>
      <p:sp>
        <p:nvSpPr>
          <p:cNvPr id="8" name="Text 6"/>
          <p:cNvSpPr txBox="1"/>
          <p:nvPr/>
        </p:nvSpPr>
        <p:spPr>
          <a:xfrm>
            <a:off x="6355080" y="1463040"/>
            <a:ext cx="5120640" cy="310896"/>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Q. 一致率は何人分のデータで検証した？</a:t>
            </a:r>
            <a:endParaRPr lang="en-US" sz="1150" dirty="0"/>
          </a:p>
        </p:txBody>
      </p:sp>
      <p:sp>
        <p:nvSpPr>
          <p:cNvPr id="9" name="Text 7"/>
          <p:cNvSpPr txBox="1"/>
          <p:nvPr/>
        </p:nvSpPr>
        <p:spPr>
          <a:xfrm>
            <a:off x="6355080" y="1773936"/>
            <a:ext cx="5120640" cy="749808"/>
          </a:xfrm>
          <a:prstGeom prst="rect">
            <a:avLst/>
          </a:prstGeom>
          <a:noFill/>
          <a:ln/>
        </p:spPr>
        <p:txBody>
          <a:bodyPr wrap="square" lIns="0" tIns="0" rIns="0" bIns="0" rtlCol="0" anchor="t"/>
          <a:lstStyle/>
          <a:p>
            <a:pPr indent="0" marL="0">
              <a:buNone/>
            </a:pPr>
            <a:r>
              <a:rPr lang="en-US" sz="950" dirty="0">
                <a:solidFill>
                  <a:srgbClr val="1F1E1D"/>
                </a:solidFill>
                <a:latin typeface="Yu Gothic" pitchFamily="34" charset="0"/>
                <a:ea typeface="Yu Gothic" pitchFamily="34" charset="-122"/>
                <a:cs typeface="Yu Gothic" pitchFamily="34" charset="-120"/>
              </a:rPr>
              <a:t>評価傾向を変えたテストデータ（近い／真逆／無関係）で検証し 79%・27% を確認。本人の実データでは一致率83%のフォロー相手が1人。実ユーザー間の検証は共通店5件以上が集まった段階で行う。</a:t>
            </a:r>
            <a:endParaRPr lang="en-US" sz="950" dirty="0"/>
          </a:p>
        </p:txBody>
      </p:sp>
      <p:sp>
        <p:nvSpPr>
          <p:cNvPr id="10" name="Shape 8"/>
          <p:cNvSpPr/>
          <p:nvPr/>
        </p:nvSpPr>
        <p:spPr>
          <a:xfrm>
            <a:off x="548640" y="2633472"/>
            <a:ext cx="5468112" cy="1170432"/>
          </a:xfrm>
          <a:prstGeom prst="roundRect">
            <a:avLst>
              <a:gd name="adj" fmla="val 9375"/>
            </a:avLst>
          </a:prstGeom>
          <a:solidFill>
            <a:srgbClr val="FBF8F3"/>
          </a:solidFill>
          <a:ln w="12700">
            <a:solidFill>
              <a:srgbClr val="EAE3D8"/>
            </a:solidFill>
            <a:prstDash val="solid"/>
          </a:ln>
        </p:spPr>
      </p:sp>
      <p:sp>
        <p:nvSpPr>
          <p:cNvPr id="11" name="Text 9"/>
          <p:cNvSpPr txBox="1"/>
          <p:nvPr/>
        </p:nvSpPr>
        <p:spPr>
          <a:xfrm>
            <a:off x="731520" y="2724912"/>
            <a:ext cx="5120640" cy="310896"/>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Q. AIの判定が間違ったらどうなる？</a:t>
            </a:r>
            <a:endParaRPr lang="en-US" sz="1150" dirty="0"/>
          </a:p>
        </p:txBody>
      </p:sp>
      <p:sp>
        <p:nvSpPr>
          <p:cNvPr id="12" name="Text 10"/>
          <p:cNvSpPr txBox="1"/>
          <p:nvPr/>
        </p:nvSpPr>
        <p:spPr>
          <a:xfrm>
            <a:off x="731520" y="3035808"/>
            <a:ext cx="5120640" cy="749808"/>
          </a:xfrm>
          <a:prstGeom prst="rect">
            <a:avLst/>
          </a:prstGeom>
          <a:noFill/>
          <a:ln/>
        </p:spPr>
        <p:txBody>
          <a:bodyPr wrap="square" lIns="0" tIns="0" rIns="0" bIns="0" rtlCol="0" anchor="t"/>
          <a:lstStyle/>
          <a:p>
            <a:pPr indent="0" marL="0">
              <a:buNone/>
            </a:pPr>
            <a:r>
              <a:rPr lang="en-US" sz="950" dirty="0">
                <a:solidFill>
                  <a:srgbClr val="1F1E1D"/>
                </a:solidFill>
                <a:latin typeface="Yu Gothic" pitchFamily="34" charset="0"/>
                <a:ea typeface="Yu Gothic" pitchFamily="34" charset="-122"/>
                <a:cs typeface="Yu Gothic" pitchFamily="34" charset="-120"/>
              </a:rPr>
              <a:t>利用者が登録時に必ず確認・修正できる。手動で選んだ後はAIが上書きしない「所有権」ルール。自信のない判定はそもそも空欄。</a:t>
            </a:r>
            <a:endParaRPr lang="en-US" sz="950" dirty="0"/>
          </a:p>
        </p:txBody>
      </p:sp>
      <p:sp>
        <p:nvSpPr>
          <p:cNvPr id="13" name="Shape 11"/>
          <p:cNvSpPr/>
          <p:nvPr/>
        </p:nvSpPr>
        <p:spPr>
          <a:xfrm>
            <a:off x="6172200" y="2633472"/>
            <a:ext cx="5468112" cy="1170432"/>
          </a:xfrm>
          <a:prstGeom prst="roundRect">
            <a:avLst>
              <a:gd name="adj" fmla="val 9375"/>
            </a:avLst>
          </a:prstGeom>
          <a:solidFill>
            <a:srgbClr val="FBF8F3"/>
          </a:solidFill>
          <a:ln w="12700">
            <a:solidFill>
              <a:srgbClr val="EAE3D8"/>
            </a:solidFill>
            <a:prstDash val="solid"/>
          </a:ln>
        </p:spPr>
      </p:sp>
      <p:sp>
        <p:nvSpPr>
          <p:cNvPr id="14" name="Text 12"/>
          <p:cNvSpPr txBox="1"/>
          <p:nvPr/>
        </p:nvSpPr>
        <p:spPr>
          <a:xfrm>
            <a:off x="6355080" y="2724912"/>
            <a:ext cx="5120640" cy="310896"/>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Q. 一般公開の予定は？費用は？</a:t>
            </a:r>
            <a:endParaRPr lang="en-US" sz="1150" dirty="0"/>
          </a:p>
        </p:txBody>
      </p:sp>
      <p:sp>
        <p:nvSpPr>
          <p:cNvPr id="15" name="Text 13"/>
          <p:cNvSpPr txBox="1"/>
          <p:nvPr/>
        </p:nvSpPr>
        <p:spPr>
          <a:xfrm>
            <a:off x="6355080" y="3035808"/>
            <a:ext cx="5120640" cy="749808"/>
          </a:xfrm>
          <a:prstGeom prst="rect">
            <a:avLst/>
          </a:prstGeom>
          <a:noFill/>
          <a:ln/>
        </p:spPr>
        <p:txBody>
          <a:bodyPr wrap="square" lIns="0" tIns="0" rIns="0" bIns="0" rtlCol="0" anchor="t"/>
          <a:lstStyle/>
          <a:p>
            <a:pPr indent="0" marL="0">
              <a:buNone/>
            </a:pPr>
            <a:r>
              <a:rPr lang="en-US" sz="950" dirty="0">
                <a:solidFill>
                  <a:srgbClr val="1F1E1D"/>
                </a:solidFill>
                <a:latin typeface="Yu Gothic" pitchFamily="34" charset="0"/>
                <a:ea typeface="Yu Gothic" pitchFamily="34" charset="-122"/>
                <a:cs typeface="Yu Gothic" pitchFamily="34" charset="-120"/>
              </a:rPr>
              <a:t>店舗検索は無料の検索源（OSM・Yahoo!・ホットペッパー）を先に使い、Google は見つからないときだけ・1人1日5回まで。写真はサムネイル配信に。この順序なら1,000人まで実質無料枠、1万人規模で月数万円。そこはプレミアム（月300円・3%加入）と予約アフィリエイトで回す計画。Claude のAI判定は利用者自身のキーで動く任意機能。</a:t>
            </a:r>
            <a:endParaRPr lang="en-US" sz="950" dirty="0"/>
          </a:p>
        </p:txBody>
      </p:sp>
      <p:sp>
        <p:nvSpPr>
          <p:cNvPr id="16" name="Shape 14"/>
          <p:cNvSpPr/>
          <p:nvPr/>
        </p:nvSpPr>
        <p:spPr>
          <a:xfrm>
            <a:off x="548640" y="3895344"/>
            <a:ext cx="5468112" cy="1170432"/>
          </a:xfrm>
          <a:prstGeom prst="roundRect">
            <a:avLst>
              <a:gd name="adj" fmla="val 9375"/>
            </a:avLst>
          </a:prstGeom>
          <a:solidFill>
            <a:srgbClr val="FBF8F3"/>
          </a:solidFill>
          <a:ln w="12700">
            <a:solidFill>
              <a:srgbClr val="EAE3D8"/>
            </a:solidFill>
            <a:prstDash val="solid"/>
          </a:ln>
        </p:spPr>
      </p:sp>
      <p:sp>
        <p:nvSpPr>
          <p:cNvPr id="17" name="Text 15"/>
          <p:cNvSpPr txBox="1"/>
          <p:nvPr/>
        </p:nvSpPr>
        <p:spPr>
          <a:xfrm>
            <a:off x="731520" y="3986784"/>
            <a:ext cx="5120640" cy="310896"/>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Q. なぜ全量AI実装？品質は？</a:t>
            </a:r>
            <a:endParaRPr lang="en-US" sz="1150" dirty="0"/>
          </a:p>
        </p:txBody>
      </p:sp>
      <p:sp>
        <p:nvSpPr>
          <p:cNvPr id="18" name="Text 16"/>
          <p:cNvSpPr txBox="1"/>
          <p:nvPr/>
        </p:nvSpPr>
        <p:spPr>
          <a:xfrm>
            <a:off x="731520" y="4297680"/>
            <a:ext cx="5120640" cy="749808"/>
          </a:xfrm>
          <a:prstGeom prst="rect">
            <a:avLst/>
          </a:prstGeom>
          <a:noFill/>
          <a:ln/>
        </p:spPr>
        <p:txBody>
          <a:bodyPr wrap="square" lIns="0" tIns="0" rIns="0" bIns="0" rtlCol="0" anchor="t"/>
          <a:lstStyle/>
          <a:p>
            <a:pPr indent="0" marL="0">
              <a:buNone/>
            </a:pPr>
            <a:r>
              <a:rPr lang="en-US" sz="950" dirty="0">
                <a:solidFill>
                  <a:srgbClr val="1F1E1D"/>
                </a:solidFill>
                <a:latin typeface="Yu Gothic" pitchFamily="34" charset="0"/>
                <a:ea typeface="Yu Gothic" pitchFamily="34" charset="-122"/>
                <a:cs typeface="Yu Gothic" pitchFamily="34" charset="-120"/>
              </a:rPr>
              <a:t>人は判断に専念し、判断の回数を最大化するため。品質は自動テスト（Playwright）＋毎回の実機検証＋差し戻しで担保。AIの「直りました」も実機で確認してから採用。CLAUDE.mdで規約を固定。</a:t>
            </a:r>
            <a:endParaRPr lang="en-US" sz="950" dirty="0"/>
          </a:p>
        </p:txBody>
      </p:sp>
      <p:sp>
        <p:nvSpPr>
          <p:cNvPr id="19" name="Shape 17"/>
          <p:cNvSpPr/>
          <p:nvPr/>
        </p:nvSpPr>
        <p:spPr>
          <a:xfrm>
            <a:off x="6172200" y="3895344"/>
            <a:ext cx="5468112" cy="1170432"/>
          </a:xfrm>
          <a:prstGeom prst="roundRect">
            <a:avLst>
              <a:gd name="adj" fmla="val 9375"/>
            </a:avLst>
          </a:prstGeom>
          <a:solidFill>
            <a:srgbClr val="FBF8F3"/>
          </a:solidFill>
          <a:ln w="12700">
            <a:solidFill>
              <a:srgbClr val="EAE3D8"/>
            </a:solidFill>
            <a:prstDash val="solid"/>
          </a:ln>
        </p:spPr>
      </p:sp>
      <p:sp>
        <p:nvSpPr>
          <p:cNvPr id="20" name="Text 18"/>
          <p:cNvSpPr txBox="1"/>
          <p:nvPr/>
        </p:nvSpPr>
        <p:spPr>
          <a:xfrm>
            <a:off x="6355080" y="3986784"/>
            <a:ext cx="5120640" cy="310896"/>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Q. 既存のグルメサービスとの違いは？</a:t>
            </a:r>
            <a:endParaRPr lang="en-US" sz="1150" dirty="0"/>
          </a:p>
        </p:txBody>
      </p:sp>
      <p:sp>
        <p:nvSpPr>
          <p:cNvPr id="21" name="Text 19"/>
          <p:cNvSpPr txBox="1"/>
          <p:nvPr/>
        </p:nvSpPr>
        <p:spPr>
          <a:xfrm>
            <a:off x="6355080" y="4297680"/>
            <a:ext cx="5120640" cy="749808"/>
          </a:xfrm>
          <a:prstGeom prst="rect">
            <a:avLst/>
          </a:prstGeom>
          <a:noFill/>
          <a:ln/>
        </p:spPr>
        <p:txBody>
          <a:bodyPr wrap="square" lIns="0" tIns="0" rIns="0" bIns="0" rtlCol="0" anchor="t"/>
          <a:lstStyle/>
          <a:p>
            <a:pPr indent="0" marL="0">
              <a:buNone/>
            </a:pPr>
            <a:r>
              <a:rPr lang="en-US" sz="950" dirty="0">
                <a:solidFill>
                  <a:srgbClr val="1F1E1D"/>
                </a:solidFill>
                <a:latin typeface="Yu Gothic" pitchFamily="34" charset="0"/>
                <a:ea typeface="Yu Gothic" pitchFamily="34" charset="-122"/>
                <a:cs typeface="Yu Gothic" pitchFamily="34" charset="-120"/>
              </a:rPr>
              <a:t>「平均点」ではなく「自分と味覚が近い人」の評価で並び替える点。評価の主語が「みんな」から「あなた」に変わる。</a:t>
            </a:r>
            <a:endParaRPr lang="en-US" sz="950" dirty="0"/>
          </a:p>
        </p:txBody>
      </p:sp>
      <p:sp>
        <p:nvSpPr>
          <p:cNvPr id="22" name="Shape 20"/>
          <p:cNvSpPr/>
          <p:nvPr/>
        </p:nvSpPr>
        <p:spPr>
          <a:xfrm>
            <a:off x="548640" y="5157216"/>
            <a:ext cx="5468112" cy="1170432"/>
          </a:xfrm>
          <a:prstGeom prst="roundRect">
            <a:avLst>
              <a:gd name="adj" fmla="val 9375"/>
            </a:avLst>
          </a:prstGeom>
          <a:solidFill>
            <a:srgbClr val="FBF8F3"/>
          </a:solidFill>
          <a:ln w="12700">
            <a:solidFill>
              <a:srgbClr val="EAE3D8"/>
            </a:solidFill>
            <a:prstDash val="solid"/>
          </a:ln>
        </p:spPr>
      </p:sp>
      <p:sp>
        <p:nvSpPr>
          <p:cNvPr id="23" name="Text 21"/>
          <p:cNvSpPr txBox="1"/>
          <p:nvPr/>
        </p:nvSpPr>
        <p:spPr>
          <a:xfrm>
            <a:off x="731520" y="5248656"/>
            <a:ext cx="5120640" cy="310896"/>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Q. プライバシーは？</a:t>
            </a:r>
            <a:endParaRPr lang="en-US" sz="1150" dirty="0"/>
          </a:p>
        </p:txBody>
      </p:sp>
      <p:sp>
        <p:nvSpPr>
          <p:cNvPr id="24" name="Text 22"/>
          <p:cNvSpPr txBox="1"/>
          <p:nvPr/>
        </p:nvSpPr>
        <p:spPr>
          <a:xfrm>
            <a:off x="731520" y="5559552"/>
            <a:ext cx="5120640" cy="749808"/>
          </a:xfrm>
          <a:prstGeom prst="rect">
            <a:avLst/>
          </a:prstGeom>
          <a:noFill/>
          <a:ln/>
        </p:spPr>
        <p:txBody>
          <a:bodyPr wrap="square" lIns="0" tIns="0" rIns="0" bIns="0" rtlCol="0" anchor="t"/>
          <a:lstStyle/>
          <a:p>
            <a:pPr indent="0" marL="0">
              <a:buNone/>
            </a:pPr>
            <a:r>
              <a:rPr lang="en-US" sz="950" dirty="0">
                <a:solidFill>
                  <a:srgbClr val="1F1E1D"/>
                </a:solidFill>
                <a:latin typeface="Yu Gothic" pitchFamily="34" charset="0"/>
                <a:ea typeface="Yu Gothic" pitchFamily="34" charset="-122"/>
                <a:cs typeface="Yu Gothic" pitchFamily="34" charset="-120"/>
              </a:rPr>
              <a:t>記録・写真は本人のアカウント領域のみ（Firebaseルール）。公開は本人が公開した投稿のみ。他人の投稿には日付を出さない（全画面で統一）。</a:t>
            </a:r>
            <a:endParaRPr lang="en-US" sz="950" dirty="0"/>
          </a:p>
        </p:txBody>
      </p:sp>
      <p:sp>
        <p:nvSpPr>
          <p:cNvPr id="25" name="Shape 23"/>
          <p:cNvSpPr/>
          <p:nvPr/>
        </p:nvSpPr>
        <p:spPr>
          <a:xfrm>
            <a:off x="6172200" y="5157216"/>
            <a:ext cx="5468112" cy="1170432"/>
          </a:xfrm>
          <a:prstGeom prst="roundRect">
            <a:avLst>
              <a:gd name="adj" fmla="val 9375"/>
            </a:avLst>
          </a:prstGeom>
          <a:solidFill>
            <a:srgbClr val="FBF8F3"/>
          </a:solidFill>
          <a:ln w="12700">
            <a:solidFill>
              <a:srgbClr val="EAE3D8"/>
            </a:solidFill>
            <a:prstDash val="solid"/>
          </a:ln>
        </p:spPr>
      </p:sp>
      <p:sp>
        <p:nvSpPr>
          <p:cNvPr id="26" name="Text 24"/>
          <p:cNvSpPr txBox="1"/>
          <p:nvPr/>
        </p:nvSpPr>
        <p:spPr>
          <a:xfrm>
            <a:off x="6355080" y="5248656"/>
            <a:ext cx="5120640" cy="310896"/>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Q. 一致率の計算はどこで？重くない？</a:t>
            </a:r>
            <a:endParaRPr lang="en-US" sz="1150" dirty="0"/>
          </a:p>
        </p:txBody>
      </p:sp>
      <p:sp>
        <p:nvSpPr>
          <p:cNvPr id="27" name="Text 25"/>
          <p:cNvSpPr txBox="1"/>
          <p:nvPr/>
        </p:nvSpPr>
        <p:spPr>
          <a:xfrm>
            <a:off x="6355080" y="5559552"/>
            <a:ext cx="5120640" cy="749808"/>
          </a:xfrm>
          <a:prstGeom prst="rect">
            <a:avLst/>
          </a:prstGeom>
          <a:noFill/>
          <a:ln/>
        </p:spPr>
        <p:txBody>
          <a:bodyPr wrap="square" lIns="0" tIns="0" rIns="0" bIns="0" rtlCol="0" anchor="t"/>
          <a:lstStyle/>
          <a:p>
            <a:pPr indent="0" marL="0">
              <a:buNone/>
            </a:pPr>
            <a:r>
              <a:rPr lang="en-US" sz="950" dirty="0">
                <a:solidFill>
                  <a:srgbClr val="1F1E1D"/>
                </a:solidFill>
                <a:latin typeface="Yu Gothic" pitchFamily="34" charset="0"/>
                <a:ea typeface="Yu Gothic" pitchFamily="34" charset="-122"/>
                <a:cs typeface="Yu Gothic" pitchFamily="34" charset="-120"/>
              </a:rPr>
              <a:t>端末側で計算。共通店の★を突き合わせるだけ（相関0.7＋評価差0.3）なので追加のサーバー費用はなく、フォロー相手が増えても軽い。</a:t>
            </a:r>
            <a:endParaRPr lang="en-US" sz="950" dirty="0"/>
          </a:p>
        </p:txBody>
      </p:sp>
      <p:sp>
        <p:nvSpPr>
          <p:cNvPr id="28" name="Text 2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29" name="Text 27"/>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補足 ｜ AI活用の目的と方法（詳細）</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AIの活用 ― 「つくる」も「つかう」もAI、決めるのは人</a:t>
            </a:r>
            <a:endParaRPr lang="en-US" sz="3000" dirty="0"/>
          </a:p>
        </p:txBody>
      </p:sp>
      <p:sp>
        <p:nvSpPr>
          <p:cNvPr id="4" name="Shape 2"/>
          <p:cNvSpPr/>
          <p:nvPr/>
        </p:nvSpPr>
        <p:spPr>
          <a:xfrm>
            <a:off x="548640" y="1508760"/>
            <a:ext cx="6949440" cy="4754880"/>
          </a:xfrm>
          <a:prstGeom prst="roundRect">
            <a:avLst>
              <a:gd name="adj" fmla="val 2308"/>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645920"/>
            <a:ext cx="6583680" cy="365760"/>
          </a:xfrm>
          <a:prstGeom prst="rect">
            <a:avLst/>
          </a:prstGeom>
          <a:noFill/>
          <a:ln/>
        </p:spPr>
        <p:txBody>
          <a:bodyPr wrap="square" lIns="0" tIns="0" rIns="0" bIns="0" rtlCol="0" anchor="ctr"/>
          <a:lstStyle/>
          <a:p>
            <a:pPr indent="0" marL="0">
              <a:buNone/>
            </a:pPr>
            <a:r>
              <a:rPr lang="en-US" sz="1400" b="1" dirty="0">
                <a:solidFill>
                  <a:srgbClr val="1F1E1D"/>
                </a:solidFill>
                <a:latin typeface="Yu Gothic" pitchFamily="34" charset="0"/>
                <a:ea typeface="Yu Gothic" pitchFamily="34" charset="-122"/>
                <a:cs typeface="Yu Gothic" pitchFamily="34" charset="-120"/>
              </a:rPr>
              <a:t>開発：コードは全量AI実装 × 人間は判断に専念（Claude Code）</a:t>
            </a:r>
            <a:endParaRPr lang="en-US" sz="1400" dirty="0"/>
          </a:p>
        </p:txBody>
      </p:sp>
      <p:sp>
        <p:nvSpPr>
          <p:cNvPr id="6" name="Shape 4"/>
          <p:cNvSpPr/>
          <p:nvPr/>
        </p:nvSpPr>
        <p:spPr>
          <a:xfrm>
            <a:off x="777240" y="2194560"/>
            <a:ext cx="1417320" cy="1143000"/>
          </a:xfrm>
          <a:prstGeom prst="roundRect">
            <a:avLst>
              <a:gd name="adj" fmla="val 8000"/>
            </a:avLst>
          </a:prstGeom>
          <a:solidFill>
            <a:srgbClr val="FBEFE9"/>
          </a:solidFill>
          <a:ln w="12700">
            <a:solidFill>
              <a:srgbClr val="FBEFE9"/>
            </a:solidFill>
            <a:prstDash val="solid"/>
          </a:ln>
        </p:spPr>
      </p:sp>
      <p:sp>
        <p:nvSpPr>
          <p:cNvPr id="7" name="Text 5"/>
          <p:cNvSpPr txBox="1"/>
          <p:nvPr/>
        </p:nvSpPr>
        <p:spPr>
          <a:xfrm>
            <a:off x="777240" y="2258568"/>
            <a:ext cx="1417320" cy="274320"/>
          </a:xfrm>
          <a:prstGeom prst="rect">
            <a:avLst/>
          </a:prstGeom>
          <a:noFill/>
          <a:ln/>
        </p:spPr>
        <p:txBody>
          <a:bodyPr wrap="square" lIns="0" tIns="0" rIns="0" bIns="0" rtlCol="0" anchor="ctr"/>
          <a:lstStyle/>
          <a:p>
            <a:pPr algn="ctr" indent="0" marL="0">
              <a:buNone/>
            </a:pPr>
            <a:r>
              <a:rPr lang="en-US" sz="1050" b="1" dirty="0">
                <a:solidFill>
                  <a:srgbClr val="C6613F"/>
                </a:solidFill>
                <a:latin typeface="Yu Gothic" pitchFamily="34" charset="0"/>
                <a:ea typeface="Yu Gothic" pitchFamily="34" charset="-122"/>
                <a:cs typeface="Yu Gothic" pitchFamily="34" charset="-120"/>
              </a:rPr>
              <a:t>人間</a:t>
            </a:r>
            <a:endParaRPr lang="en-US" sz="1050" dirty="0"/>
          </a:p>
        </p:txBody>
      </p:sp>
      <p:sp>
        <p:nvSpPr>
          <p:cNvPr id="8" name="Text 6"/>
          <p:cNvSpPr txBox="1"/>
          <p:nvPr/>
        </p:nvSpPr>
        <p:spPr>
          <a:xfrm>
            <a:off x="822960" y="2542032"/>
            <a:ext cx="1325880" cy="731520"/>
          </a:xfrm>
          <a:prstGeom prst="rect">
            <a:avLst/>
          </a:prstGeom>
          <a:noFill/>
          <a:ln/>
        </p:spPr>
        <p:txBody>
          <a:bodyPr wrap="square" lIns="0" tIns="0" rIns="0" bIns="0" rtlCol="0" anchor="t"/>
          <a:lstStyle/>
          <a:p>
            <a:pPr algn="ctr" indent="0" marL="0">
              <a:buNone/>
            </a:pPr>
            <a:r>
              <a:rPr lang="en-US" sz="1050" dirty="0">
                <a:solidFill>
                  <a:srgbClr val="1F1E1D"/>
                </a:solidFill>
                <a:latin typeface="Yu Gothic" pitchFamily="34" charset="0"/>
                <a:ea typeface="Yu Gothic" pitchFamily="34" charset="-122"/>
                <a:cs typeface="Yu Gothic" pitchFamily="34" charset="-120"/>
              </a:rPr>
              <a:t>要望を日本語で</a:t>
            </a:r>
            <a:endParaRPr lang="en-US" sz="1050" dirty="0"/>
          </a:p>
          <a:p>
            <a:pPr algn="ctr" indent="0" marL="0">
              <a:buNone/>
            </a:pPr>
            <a:r>
              <a:rPr lang="en-US" sz="1050" dirty="0">
                <a:solidFill>
                  <a:srgbClr val="1F1E1D"/>
                </a:solidFill>
                <a:latin typeface="Yu Gothic" pitchFamily="34" charset="0"/>
                <a:ea typeface="Yu Gothic" pitchFamily="34" charset="-122"/>
                <a:cs typeface="Yu Gothic" pitchFamily="34" charset="-120"/>
              </a:rPr>
              <a:t>（文章・画像）</a:t>
            </a:r>
            <a:endParaRPr lang="en-US" sz="1050" dirty="0"/>
          </a:p>
        </p:txBody>
      </p:sp>
      <p:sp>
        <p:nvSpPr>
          <p:cNvPr id="9" name="Shape 7"/>
          <p:cNvSpPr/>
          <p:nvPr/>
        </p:nvSpPr>
        <p:spPr>
          <a:xfrm>
            <a:off x="2212848" y="2606040"/>
            <a:ext cx="219456" cy="310896"/>
          </a:xfrm>
          <a:prstGeom prst="rightArrow">
            <a:avLst/>
          </a:prstGeom>
          <a:solidFill>
            <a:srgbClr val="D9CFC2"/>
          </a:solidFill>
          <a:ln w="12700">
            <a:solidFill>
              <a:srgbClr val="D9CFC2"/>
            </a:solidFill>
            <a:prstDash val="solid"/>
          </a:ln>
        </p:spPr>
      </p:sp>
      <p:sp>
        <p:nvSpPr>
          <p:cNvPr id="10" name="Shape 8"/>
          <p:cNvSpPr/>
          <p:nvPr/>
        </p:nvSpPr>
        <p:spPr>
          <a:xfrm>
            <a:off x="2441448" y="2194560"/>
            <a:ext cx="1417320" cy="1143000"/>
          </a:xfrm>
          <a:prstGeom prst="roundRect">
            <a:avLst>
              <a:gd name="adj" fmla="val 8000"/>
            </a:avLst>
          </a:prstGeom>
          <a:solidFill>
            <a:srgbClr val="EEF3FB"/>
          </a:solidFill>
          <a:ln w="12700">
            <a:solidFill>
              <a:srgbClr val="EEF3FB"/>
            </a:solidFill>
            <a:prstDash val="solid"/>
          </a:ln>
        </p:spPr>
      </p:sp>
      <p:sp>
        <p:nvSpPr>
          <p:cNvPr id="11" name="Text 9"/>
          <p:cNvSpPr txBox="1"/>
          <p:nvPr/>
        </p:nvSpPr>
        <p:spPr>
          <a:xfrm>
            <a:off x="2441448" y="2258568"/>
            <a:ext cx="1417320" cy="274320"/>
          </a:xfrm>
          <a:prstGeom prst="rect">
            <a:avLst/>
          </a:prstGeom>
          <a:noFill/>
          <a:ln/>
        </p:spPr>
        <p:txBody>
          <a:bodyPr wrap="square" lIns="0" tIns="0" rIns="0" bIns="0" rtlCol="0" anchor="ctr"/>
          <a:lstStyle/>
          <a:p>
            <a:pPr algn="ctr" indent="0" marL="0">
              <a:buNone/>
            </a:pPr>
            <a:r>
              <a:rPr lang="en-US" sz="1050" b="1" dirty="0">
                <a:solidFill>
                  <a:srgbClr val="2F5D8A"/>
                </a:solidFill>
                <a:latin typeface="Yu Gothic" pitchFamily="34" charset="0"/>
                <a:ea typeface="Yu Gothic" pitchFamily="34" charset="-122"/>
                <a:cs typeface="Yu Gothic" pitchFamily="34" charset="-120"/>
              </a:rPr>
              <a:t>AI</a:t>
            </a:r>
            <a:endParaRPr lang="en-US" sz="1050" dirty="0"/>
          </a:p>
        </p:txBody>
      </p:sp>
      <p:sp>
        <p:nvSpPr>
          <p:cNvPr id="12" name="Text 10"/>
          <p:cNvSpPr txBox="1"/>
          <p:nvPr/>
        </p:nvSpPr>
        <p:spPr>
          <a:xfrm>
            <a:off x="2487168" y="2542032"/>
            <a:ext cx="1325880" cy="731520"/>
          </a:xfrm>
          <a:prstGeom prst="rect">
            <a:avLst/>
          </a:prstGeom>
          <a:noFill/>
          <a:ln/>
        </p:spPr>
        <p:txBody>
          <a:bodyPr wrap="square" lIns="0" tIns="0" rIns="0" bIns="0" rtlCol="0" anchor="t"/>
          <a:lstStyle/>
          <a:p>
            <a:pPr algn="ctr" indent="0" marL="0">
              <a:buNone/>
            </a:pPr>
            <a:r>
              <a:rPr lang="en-US" sz="1050" dirty="0">
                <a:solidFill>
                  <a:srgbClr val="1F1E1D"/>
                </a:solidFill>
                <a:latin typeface="Yu Gothic" pitchFamily="34" charset="0"/>
                <a:ea typeface="Yu Gothic" pitchFamily="34" charset="-122"/>
                <a:cs typeface="Yu Gothic" pitchFamily="34" charset="-120"/>
              </a:rPr>
              <a:t>実装＋自動テスト</a:t>
            </a:r>
            <a:endParaRPr lang="en-US" sz="1050" dirty="0"/>
          </a:p>
          <a:p>
            <a:pPr algn="ctr" indent="0" marL="0">
              <a:buNone/>
            </a:pPr>
            <a:r>
              <a:rPr lang="en-US" sz="1050" dirty="0">
                <a:solidFill>
                  <a:srgbClr val="1F1E1D"/>
                </a:solidFill>
                <a:latin typeface="Yu Gothic" pitchFamily="34" charset="0"/>
                <a:ea typeface="Yu Gothic" pitchFamily="34" charset="-122"/>
                <a:cs typeface="Yu Gothic" pitchFamily="34" charset="-120"/>
              </a:rPr>
              <a:t>（Playwright）</a:t>
            </a:r>
            <a:endParaRPr lang="en-US" sz="1050" dirty="0"/>
          </a:p>
        </p:txBody>
      </p:sp>
      <p:sp>
        <p:nvSpPr>
          <p:cNvPr id="13" name="Shape 11"/>
          <p:cNvSpPr/>
          <p:nvPr/>
        </p:nvSpPr>
        <p:spPr>
          <a:xfrm>
            <a:off x="3877056" y="2606040"/>
            <a:ext cx="219456" cy="310896"/>
          </a:xfrm>
          <a:prstGeom prst="rightArrow">
            <a:avLst/>
          </a:prstGeom>
          <a:solidFill>
            <a:srgbClr val="D9CFC2"/>
          </a:solidFill>
          <a:ln w="12700">
            <a:solidFill>
              <a:srgbClr val="D9CFC2"/>
            </a:solidFill>
            <a:prstDash val="solid"/>
          </a:ln>
        </p:spPr>
      </p:sp>
      <p:sp>
        <p:nvSpPr>
          <p:cNvPr id="14" name="Shape 12"/>
          <p:cNvSpPr/>
          <p:nvPr/>
        </p:nvSpPr>
        <p:spPr>
          <a:xfrm>
            <a:off x="4105656" y="2194560"/>
            <a:ext cx="1417320" cy="1143000"/>
          </a:xfrm>
          <a:prstGeom prst="roundRect">
            <a:avLst>
              <a:gd name="adj" fmla="val 8000"/>
            </a:avLst>
          </a:prstGeom>
          <a:solidFill>
            <a:srgbClr val="EEF3FB"/>
          </a:solidFill>
          <a:ln w="12700">
            <a:solidFill>
              <a:srgbClr val="EEF3FB"/>
            </a:solidFill>
            <a:prstDash val="solid"/>
          </a:ln>
        </p:spPr>
      </p:sp>
      <p:sp>
        <p:nvSpPr>
          <p:cNvPr id="15" name="Text 13"/>
          <p:cNvSpPr txBox="1"/>
          <p:nvPr/>
        </p:nvSpPr>
        <p:spPr>
          <a:xfrm>
            <a:off x="4105656" y="2258568"/>
            <a:ext cx="1417320" cy="274320"/>
          </a:xfrm>
          <a:prstGeom prst="rect">
            <a:avLst/>
          </a:prstGeom>
          <a:noFill/>
          <a:ln/>
        </p:spPr>
        <p:txBody>
          <a:bodyPr wrap="square" lIns="0" tIns="0" rIns="0" bIns="0" rtlCol="0" anchor="ctr"/>
          <a:lstStyle/>
          <a:p>
            <a:pPr algn="ctr" indent="0" marL="0">
              <a:buNone/>
            </a:pPr>
            <a:r>
              <a:rPr lang="en-US" sz="1050" b="1" dirty="0">
                <a:solidFill>
                  <a:srgbClr val="2F5D8A"/>
                </a:solidFill>
                <a:latin typeface="Yu Gothic" pitchFamily="34" charset="0"/>
                <a:ea typeface="Yu Gothic" pitchFamily="34" charset="-122"/>
                <a:cs typeface="Yu Gothic" pitchFamily="34" charset="-120"/>
              </a:rPr>
              <a:t>AI</a:t>
            </a:r>
            <a:endParaRPr lang="en-US" sz="1050" dirty="0"/>
          </a:p>
        </p:txBody>
      </p:sp>
      <p:sp>
        <p:nvSpPr>
          <p:cNvPr id="16" name="Text 14"/>
          <p:cNvSpPr txBox="1"/>
          <p:nvPr/>
        </p:nvSpPr>
        <p:spPr>
          <a:xfrm>
            <a:off x="4151376" y="2542032"/>
            <a:ext cx="1325880" cy="731520"/>
          </a:xfrm>
          <a:prstGeom prst="rect">
            <a:avLst/>
          </a:prstGeom>
          <a:noFill/>
          <a:ln/>
        </p:spPr>
        <p:txBody>
          <a:bodyPr wrap="square" lIns="0" tIns="0" rIns="0" bIns="0" rtlCol="0" anchor="t"/>
          <a:lstStyle/>
          <a:p>
            <a:pPr algn="ctr" indent="0" marL="0">
              <a:buNone/>
            </a:pPr>
            <a:r>
              <a:rPr lang="en-US" sz="1050" dirty="0">
                <a:solidFill>
                  <a:srgbClr val="1F1E1D"/>
                </a:solidFill>
                <a:latin typeface="Yu Gothic" pitchFamily="34" charset="0"/>
                <a:ea typeface="Yu Gothic" pitchFamily="34" charset="-122"/>
                <a:cs typeface="Yu Gothic" pitchFamily="34" charset="-120"/>
              </a:rPr>
              <a:t>コミット＆</a:t>
            </a:r>
            <a:endParaRPr lang="en-US" sz="1050" dirty="0"/>
          </a:p>
          <a:p>
            <a:pPr algn="ctr" indent="0" marL="0">
              <a:buNone/>
            </a:pPr>
            <a:r>
              <a:rPr lang="en-US" sz="1050" dirty="0">
                <a:solidFill>
                  <a:srgbClr val="1F1E1D"/>
                </a:solidFill>
                <a:latin typeface="Yu Gothic" pitchFamily="34" charset="0"/>
                <a:ea typeface="Yu Gothic" pitchFamily="34" charset="-122"/>
                <a:cs typeface="Yu Gothic" pitchFamily="34" charset="-120"/>
              </a:rPr>
              <a:t>本番デプロイ</a:t>
            </a:r>
            <a:endParaRPr lang="en-US" sz="1050" dirty="0"/>
          </a:p>
        </p:txBody>
      </p:sp>
      <p:sp>
        <p:nvSpPr>
          <p:cNvPr id="17" name="Shape 15"/>
          <p:cNvSpPr/>
          <p:nvPr/>
        </p:nvSpPr>
        <p:spPr>
          <a:xfrm>
            <a:off x="5541264" y="2606040"/>
            <a:ext cx="219456" cy="310896"/>
          </a:xfrm>
          <a:prstGeom prst="rightArrow">
            <a:avLst/>
          </a:prstGeom>
          <a:solidFill>
            <a:srgbClr val="D9CFC2"/>
          </a:solidFill>
          <a:ln w="12700">
            <a:solidFill>
              <a:srgbClr val="D9CFC2"/>
            </a:solidFill>
            <a:prstDash val="solid"/>
          </a:ln>
        </p:spPr>
      </p:sp>
      <p:sp>
        <p:nvSpPr>
          <p:cNvPr id="18" name="Shape 16"/>
          <p:cNvSpPr/>
          <p:nvPr/>
        </p:nvSpPr>
        <p:spPr>
          <a:xfrm>
            <a:off x="5769864" y="2194560"/>
            <a:ext cx="1417320" cy="1143000"/>
          </a:xfrm>
          <a:prstGeom prst="roundRect">
            <a:avLst>
              <a:gd name="adj" fmla="val 8000"/>
            </a:avLst>
          </a:prstGeom>
          <a:solidFill>
            <a:srgbClr val="FBEFE9"/>
          </a:solidFill>
          <a:ln w="12700">
            <a:solidFill>
              <a:srgbClr val="FBEFE9"/>
            </a:solidFill>
            <a:prstDash val="solid"/>
          </a:ln>
        </p:spPr>
      </p:sp>
      <p:sp>
        <p:nvSpPr>
          <p:cNvPr id="19" name="Text 17"/>
          <p:cNvSpPr txBox="1"/>
          <p:nvPr/>
        </p:nvSpPr>
        <p:spPr>
          <a:xfrm>
            <a:off x="5769864" y="2258568"/>
            <a:ext cx="1417320" cy="274320"/>
          </a:xfrm>
          <a:prstGeom prst="rect">
            <a:avLst/>
          </a:prstGeom>
          <a:noFill/>
          <a:ln/>
        </p:spPr>
        <p:txBody>
          <a:bodyPr wrap="square" lIns="0" tIns="0" rIns="0" bIns="0" rtlCol="0" anchor="ctr"/>
          <a:lstStyle/>
          <a:p>
            <a:pPr algn="ctr" indent="0" marL="0">
              <a:buNone/>
            </a:pPr>
            <a:r>
              <a:rPr lang="en-US" sz="1050" b="1" dirty="0">
                <a:solidFill>
                  <a:srgbClr val="C6613F"/>
                </a:solidFill>
                <a:latin typeface="Yu Gothic" pitchFamily="34" charset="0"/>
                <a:ea typeface="Yu Gothic" pitchFamily="34" charset="-122"/>
                <a:cs typeface="Yu Gothic" pitchFamily="34" charset="-120"/>
              </a:rPr>
              <a:t>人間</a:t>
            </a:r>
            <a:endParaRPr lang="en-US" sz="1050" dirty="0"/>
          </a:p>
        </p:txBody>
      </p:sp>
      <p:sp>
        <p:nvSpPr>
          <p:cNvPr id="20" name="Text 18"/>
          <p:cNvSpPr txBox="1"/>
          <p:nvPr/>
        </p:nvSpPr>
        <p:spPr>
          <a:xfrm>
            <a:off x="5815584" y="2542032"/>
            <a:ext cx="1325880" cy="731520"/>
          </a:xfrm>
          <a:prstGeom prst="rect">
            <a:avLst/>
          </a:prstGeom>
          <a:noFill/>
          <a:ln/>
        </p:spPr>
        <p:txBody>
          <a:bodyPr wrap="square" lIns="0" tIns="0" rIns="0" bIns="0" rtlCol="0" anchor="t"/>
          <a:lstStyle/>
          <a:p>
            <a:pPr algn="ctr" indent="0" marL="0">
              <a:buNone/>
            </a:pPr>
            <a:r>
              <a:rPr lang="en-US" sz="1050" dirty="0">
                <a:solidFill>
                  <a:srgbClr val="1F1E1D"/>
                </a:solidFill>
                <a:latin typeface="Yu Gothic" pitchFamily="34" charset="0"/>
                <a:ea typeface="Yu Gothic" pitchFamily="34" charset="-122"/>
                <a:cs typeface="Yu Gothic" pitchFamily="34" charset="-120"/>
              </a:rPr>
              <a:t>実機で検証</a:t>
            </a:r>
            <a:endParaRPr lang="en-US" sz="1050" dirty="0"/>
          </a:p>
          <a:p>
            <a:pPr algn="ctr" indent="0" marL="0">
              <a:buNone/>
            </a:pPr>
            <a:r>
              <a:rPr lang="en-US" sz="1050" dirty="0">
                <a:solidFill>
                  <a:srgbClr val="1F1E1D"/>
                </a:solidFill>
                <a:latin typeface="Yu Gothic" pitchFamily="34" charset="0"/>
                <a:ea typeface="Yu Gothic" pitchFamily="34" charset="-122"/>
                <a:cs typeface="Yu Gothic" pitchFamily="34" charset="-120"/>
              </a:rPr>
              <a:t>採用／差し戻し</a:t>
            </a:r>
            <a:endParaRPr lang="en-US" sz="1050" dirty="0"/>
          </a:p>
        </p:txBody>
      </p:sp>
      <p:sp>
        <p:nvSpPr>
          <p:cNvPr id="21" name="Text 19"/>
          <p:cNvSpPr txBox="1"/>
          <p:nvPr/>
        </p:nvSpPr>
        <p:spPr>
          <a:xfrm>
            <a:off x="777240" y="3520440"/>
            <a:ext cx="6492240" cy="685800"/>
          </a:xfrm>
          <a:prstGeom prst="rect">
            <a:avLst/>
          </a:prstGeom>
          <a:noFill/>
          <a:ln/>
        </p:spPr>
        <p:txBody>
          <a:bodyPr wrap="square" lIns="0" tIns="0" rIns="0" bIns="0" rtlCol="0" anchor="t"/>
          <a:lstStyle/>
          <a:p>
            <a:pPr algn="l" indent="0" marL="0">
              <a:buNone/>
            </a:pPr>
            <a:r>
              <a:rPr lang="en-US" sz="1200" b="1" dirty="0">
                <a:solidFill>
                  <a:srgbClr val="C6613F"/>
                </a:solidFill>
                <a:latin typeface="Yu Gothic" pitchFamily="34" charset="0"/>
                <a:ea typeface="Yu Gothic" pitchFamily="34" charset="-122"/>
                <a:cs typeface="Yu Gothic" pitchFamily="34" charset="-120"/>
              </a:rPr>
              <a:t>このループを毎日回した</a:t>
            </a:r>
            <a:pPr algn="l" indent="0" marL="0">
              <a:buNone/>
            </a:pPr>
            <a:r>
              <a:rPr lang="en-US" sz="1200" dirty="0">
                <a:solidFill>
                  <a:srgbClr val="1F1E1D"/>
                </a:solidFill>
                <a:latin typeface="Yu Gothic" pitchFamily="34" charset="0"/>
                <a:ea typeface="Yu Gothic" pitchFamily="34" charset="-122"/>
                <a:cs typeface="Yu Gothic" pitchFamily="34" charset="-120"/>
              </a:rPr>
              <a:t>。仕様書・デザイン案は画像のまま渡し、守るべき決め事は </a:t>
            </a:r>
            <a:pPr algn="l" indent="0" marL="0">
              <a:buNone/>
            </a:pPr>
            <a:r>
              <a:rPr lang="en-US" sz="1200" b="1" dirty="0">
                <a:solidFill>
                  <a:srgbClr val="1F1E1D"/>
                </a:solidFill>
                <a:latin typeface="Yu Gothic" pitchFamily="34" charset="0"/>
                <a:ea typeface="Yu Gothic" pitchFamily="34" charset="-122"/>
                <a:cs typeface="Yu Gothic" pitchFamily="34" charset="-120"/>
              </a:rPr>
              <a:t>CLAUDE.md</a:t>
            </a:r>
            <a:pPr algn="l" indent="0" marL="0">
              <a:buNone/>
            </a:pPr>
            <a:r>
              <a:rPr lang="en-US" sz="1200" dirty="0">
                <a:solidFill>
                  <a:srgbClr val="1F1E1D"/>
                </a:solidFill>
                <a:latin typeface="Yu Gothic" pitchFamily="34" charset="0"/>
                <a:ea typeface="Yu Gothic" pitchFamily="34" charset="-122"/>
                <a:cs typeface="Yu Gothic" pitchFamily="34" charset="-120"/>
              </a:rPr>
              <a:t> に明文化して全会話で共有。</a:t>
            </a:r>
            <a:endParaRPr lang="en-US" sz="1200" dirty="0"/>
          </a:p>
        </p:txBody>
      </p:sp>
      <p:sp>
        <p:nvSpPr>
          <p:cNvPr id="22" name="Text 20"/>
          <p:cNvSpPr txBox="1"/>
          <p:nvPr/>
        </p:nvSpPr>
        <p:spPr>
          <a:xfrm>
            <a:off x="777240" y="4297680"/>
            <a:ext cx="6492240" cy="18288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目的：実装速度ではなく「判断の回数」を最大化する。1日で十数回、実機で試して直す</a:t>
            </a:r>
            <a:endParaRPr lang="en-US" sz="1200" dirty="0"/>
          </a:p>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人の役割：要望・検証・採否の決定。AIの役割：実装・テスト・デプロイ・原因調査</a:t>
            </a:r>
            <a:endParaRPr lang="en-US" sz="1200" dirty="0"/>
          </a:p>
          <a:p>
            <a:pPr marL="342900" indent="-342900">
              <a:spcAft>
                <a:spcPts val="500"/>
              </a:spcAft>
              <a:buSzPct val="100000"/>
              <a:buChar char="•"/>
            </a:pPr>
            <a:r>
              <a:rPr lang="en-US" sz="1200" dirty="0">
                <a:solidFill>
                  <a:srgbClr val="1F1E1D"/>
                </a:solidFill>
                <a:latin typeface="Yu Gothic" pitchFamily="34" charset="0"/>
                <a:ea typeface="Yu Gothic" pitchFamily="34" charset="-122"/>
                <a:cs typeface="Yu Gothic" pitchFamily="34" charset="-120"/>
              </a:rPr>
              <a:t>自動テスト（Playwright）で回帰を防ぎ、本番デプロイまでAIが完結</a:t>
            </a:r>
            <a:endParaRPr lang="en-US" sz="1200" dirty="0"/>
          </a:p>
        </p:txBody>
      </p:sp>
      <p:sp>
        <p:nvSpPr>
          <p:cNvPr id="23" name="Shape 21"/>
          <p:cNvSpPr/>
          <p:nvPr/>
        </p:nvSpPr>
        <p:spPr>
          <a:xfrm>
            <a:off x="7726680" y="1508760"/>
            <a:ext cx="3913632" cy="4754880"/>
          </a:xfrm>
          <a:prstGeom prst="roundRect">
            <a:avLst>
              <a:gd name="adj" fmla="val 2804"/>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24" name="Text 22"/>
          <p:cNvSpPr txBox="1"/>
          <p:nvPr/>
        </p:nvSpPr>
        <p:spPr>
          <a:xfrm>
            <a:off x="7955280" y="1645920"/>
            <a:ext cx="3566160" cy="594360"/>
          </a:xfrm>
          <a:prstGeom prst="rect">
            <a:avLst/>
          </a:prstGeom>
          <a:noFill/>
          <a:ln/>
        </p:spPr>
        <p:txBody>
          <a:bodyPr wrap="square" lIns="0" tIns="0" rIns="0" bIns="0" rtlCol="0" anchor="ctr"/>
          <a:lstStyle/>
          <a:p>
            <a:pPr indent="0" marL="0">
              <a:buNone/>
            </a:pPr>
            <a:r>
              <a:rPr lang="en-US" sz="1400" b="1" dirty="0">
                <a:solidFill>
                  <a:srgbClr val="1F1E1D"/>
                </a:solidFill>
                <a:latin typeface="Yu Gothic" pitchFamily="34" charset="0"/>
                <a:ea typeface="Yu Gothic" pitchFamily="34" charset="-122"/>
                <a:cs typeface="Yu Gothic" pitchFamily="34" charset="-120"/>
              </a:rPr>
              <a:t>アプリ内：料理写真をAIが分類（Claude API・画像入力）</a:t>
            </a:r>
            <a:endParaRPr lang="en-US" sz="1400" dirty="0"/>
          </a:p>
        </p:txBody>
      </p:sp>
      <p:sp>
        <p:nvSpPr>
          <p:cNvPr id="25" name="Shape 23"/>
          <p:cNvSpPr/>
          <p:nvPr/>
        </p:nvSpPr>
        <p:spPr>
          <a:xfrm>
            <a:off x="7955280" y="2377440"/>
            <a:ext cx="457200" cy="457200"/>
          </a:xfrm>
          <a:prstGeom prst="ellipse">
            <a:avLst/>
          </a:prstGeom>
          <a:solidFill>
            <a:srgbClr val="FBEFE9"/>
          </a:solidFill>
          <a:ln w="12700">
            <a:solidFill>
              <a:srgbClr val="FBEFE9"/>
            </a:solidFill>
            <a:prstDash val="solid"/>
          </a:ln>
        </p:spPr>
      </p:sp>
      <p:sp>
        <p:nvSpPr>
          <p:cNvPr id="26" name="Text 24"/>
          <p:cNvSpPr txBox="1"/>
          <p:nvPr/>
        </p:nvSpPr>
        <p:spPr>
          <a:xfrm>
            <a:off x="7955280" y="2377440"/>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27" name="Text 25"/>
          <p:cNvSpPr txBox="1"/>
          <p:nvPr/>
        </p:nvSpPr>
        <p:spPr>
          <a:xfrm>
            <a:off x="8522208" y="2359152"/>
            <a:ext cx="3017520" cy="512064"/>
          </a:xfrm>
          <a:prstGeom prst="rect">
            <a:avLst/>
          </a:prstGeom>
          <a:noFill/>
          <a:ln/>
        </p:spPr>
        <p:txBody>
          <a:bodyPr wrap="square" lIns="0" tIns="0" rIns="0" bIns="0" rtlCol="0" anchor="ctr"/>
          <a:lstStyle/>
          <a:p>
            <a:pPr indent="0" marL="0">
              <a:buNone/>
            </a:pPr>
            <a:r>
              <a:rPr lang="en-US" sz="1150" dirty="0">
                <a:solidFill>
                  <a:srgbClr val="1F1E1D"/>
                </a:solidFill>
                <a:latin typeface="Yu Gothic" pitchFamily="34" charset="0"/>
                <a:ea typeface="Yu Gothic" pitchFamily="34" charset="-122"/>
                <a:cs typeface="Yu Gothic" pitchFamily="34" charset="-120"/>
              </a:rPr>
              <a:t>写真を768pxに縮小して送信</a:t>
            </a:r>
            <a:endParaRPr lang="en-US" sz="1150" dirty="0"/>
          </a:p>
        </p:txBody>
      </p:sp>
      <p:sp>
        <p:nvSpPr>
          <p:cNvPr id="28" name="Shape 26"/>
          <p:cNvSpPr/>
          <p:nvPr/>
        </p:nvSpPr>
        <p:spPr>
          <a:xfrm>
            <a:off x="7955280" y="3090672"/>
            <a:ext cx="457200" cy="457200"/>
          </a:xfrm>
          <a:prstGeom prst="ellipse">
            <a:avLst/>
          </a:prstGeom>
          <a:solidFill>
            <a:srgbClr val="FBEFE9"/>
          </a:solidFill>
          <a:ln w="12700">
            <a:solidFill>
              <a:srgbClr val="FBEFE9"/>
            </a:solidFill>
            <a:prstDash val="solid"/>
          </a:ln>
        </p:spPr>
      </p:sp>
      <p:sp>
        <p:nvSpPr>
          <p:cNvPr id="29" name="Text 27"/>
          <p:cNvSpPr txBox="1"/>
          <p:nvPr/>
        </p:nvSpPr>
        <p:spPr>
          <a:xfrm>
            <a:off x="7955280" y="3090672"/>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30" name="Text 28"/>
          <p:cNvSpPr txBox="1"/>
          <p:nvPr/>
        </p:nvSpPr>
        <p:spPr>
          <a:xfrm>
            <a:off x="8522208" y="3072384"/>
            <a:ext cx="3017520" cy="512064"/>
          </a:xfrm>
          <a:prstGeom prst="rect">
            <a:avLst/>
          </a:prstGeom>
          <a:noFill/>
          <a:ln/>
        </p:spPr>
        <p:txBody>
          <a:bodyPr wrap="square" lIns="0" tIns="0" rIns="0" bIns="0" rtlCol="0" anchor="ctr"/>
          <a:lstStyle/>
          <a:p>
            <a:pPr indent="0" marL="0">
              <a:buNone/>
            </a:pPr>
            <a:r>
              <a:rPr lang="en-US" sz="1150" dirty="0">
                <a:solidFill>
                  <a:srgbClr val="1F1E1D"/>
                </a:solidFill>
                <a:latin typeface="Yu Gothic" pitchFamily="34" charset="0"/>
                <a:ea typeface="Yu Gothic" pitchFamily="34" charset="-122"/>
                <a:cs typeface="Yu Gothic" pitchFamily="34" charset="-120"/>
              </a:rPr>
              <a:t>料理ジャンル（70+）と店舗ジャンルを判定</a:t>
            </a:r>
            <a:endParaRPr lang="en-US" sz="1150" dirty="0"/>
          </a:p>
        </p:txBody>
      </p:sp>
      <p:sp>
        <p:nvSpPr>
          <p:cNvPr id="31" name="Shape 29"/>
          <p:cNvSpPr/>
          <p:nvPr/>
        </p:nvSpPr>
        <p:spPr>
          <a:xfrm>
            <a:off x="7955280" y="3803904"/>
            <a:ext cx="457200" cy="457200"/>
          </a:xfrm>
          <a:prstGeom prst="ellipse">
            <a:avLst/>
          </a:prstGeom>
          <a:solidFill>
            <a:srgbClr val="FBEFE9"/>
          </a:solidFill>
          <a:ln w="12700">
            <a:solidFill>
              <a:srgbClr val="FBEFE9"/>
            </a:solidFill>
            <a:prstDash val="solid"/>
          </a:ln>
        </p:spPr>
      </p:sp>
      <p:sp>
        <p:nvSpPr>
          <p:cNvPr id="32" name="Text 30"/>
          <p:cNvSpPr txBox="1"/>
          <p:nvPr/>
        </p:nvSpPr>
        <p:spPr>
          <a:xfrm>
            <a:off x="7955280" y="3803904"/>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33" name="Text 31"/>
          <p:cNvSpPr txBox="1"/>
          <p:nvPr/>
        </p:nvSpPr>
        <p:spPr>
          <a:xfrm>
            <a:off x="8522208" y="3785616"/>
            <a:ext cx="3017520" cy="512064"/>
          </a:xfrm>
          <a:prstGeom prst="rect">
            <a:avLst/>
          </a:prstGeom>
          <a:noFill/>
          <a:ln/>
        </p:spPr>
        <p:txBody>
          <a:bodyPr wrap="square" lIns="0" tIns="0" rIns="0" bIns="0" rtlCol="0" anchor="ctr"/>
          <a:lstStyle/>
          <a:p>
            <a:pPr indent="0" marL="0">
              <a:buNone/>
            </a:pPr>
            <a:r>
              <a:rPr lang="en-US" sz="1150" dirty="0">
                <a:solidFill>
                  <a:srgbClr val="1F1E1D"/>
                </a:solidFill>
                <a:latin typeface="Yu Gothic" pitchFamily="34" charset="0"/>
                <a:ea typeface="Yu Gothic" pitchFamily="34" charset="-122"/>
                <a:cs typeface="Yu Gothic" pitchFamily="34" charset="-120"/>
              </a:rPr>
              <a:t>自信がなければ空欄→人が選ぶ</a:t>
            </a:r>
            <a:endParaRPr lang="en-US" sz="1150" dirty="0"/>
          </a:p>
        </p:txBody>
      </p:sp>
      <p:sp>
        <p:nvSpPr>
          <p:cNvPr id="34" name="Shape 32"/>
          <p:cNvSpPr/>
          <p:nvPr/>
        </p:nvSpPr>
        <p:spPr>
          <a:xfrm>
            <a:off x="7955280" y="4517136"/>
            <a:ext cx="457200" cy="457200"/>
          </a:xfrm>
          <a:prstGeom prst="ellipse">
            <a:avLst/>
          </a:prstGeom>
          <a:solidFill>
            <a:srgbClr val="FBEFE9"/>
          </a:solidFill>
          <a:ln w="12700">
            <a:solidFill>
              <a:srgbClr val="FBEFE9"/>
            </a:solidFill>
            <a:prstDash val="solid"/>
          </a:ln>
        </p:spPr>
      </p:sp>
      <p:sp>
        <p:nvSpPr>
          <p:cNvPr id="35" name="Text 33"/>
          <p:cNvSpPr txBox="1"/>
          <p:nvPr/>
        </p:nvSpPr>
        <p:spPr>
          <a:xfrm>
            <a:off x="7955280" y="4517136"/>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36" name="Text 34"/>
          <p:cNvSpPr txBox="1"/>
          <p:nvPr/>
        </p:nvSpPr>
        <p:spPr>
          <a:xfrm>
            <a:off x="8522208" y="4498848"/>
            <a:ext cx="3017520" cy="512064"/>
          </a:xfrm>
          <a:prstGeom prst="rect">
            <a:avLst/>
          </a:prstGeom>
          <a:noFill/>
          <a:ln/>
        </p:spPr>
        <p:txBody>
          <a:bodyPr wrap="square" lIns="0" tIns="0" rIns="0" bIns="0" rtlCol="0" anchor="ctr"/>
          <a:lstStyle/>
          <a:p>
            <a:pPr indent="0" marL="0">
              <a:buNone/>
            </a:pPr>
            <a:r>
              <a:rPr lang="en-US" sz="1150" dirty="0">
                <a:solidFill>
                  <a:srgbClr val="1F1E1D"/>
                </a:solidFill>
                <a:latin typeface="Yu Gothic" pitchFamily="34" charset="0"/>
                <a:ea typeface="Yu Gothic" pitchFamily="34" charset="-122"/>
                <a:cs typeface="Yu Gothic" pitchFamily="34" charset="-120"/>
              </a:rPr>
              <a:t>キー未設定でもOSMタグ推定へ自動フォールバック</a:t>
            </a:r>
            <a:endParaRPr lang="en-US" sz="1150" dirty="0"/>
          </a:p>
        </p:txBody>
      </p:sp>
      <p:sp>
        <p:nvSpPr>
          <p:cNvPr id="37" name="Text 35"/>
          <p:cNvSpPr txBox="1"/>
          <p:nvPr/>
        </p:nvSpPr>
        <p:spPr>
          <a:xfrm>
            <a:off x="7955280" y="5257800"/>
            <a:ext cx="3520440" cy="914400"/>
          </a:xfrm>
          <a:prstGeom prst="rect">
            <a:avLst/>
          </a:prstGeom>
          <a:noFill/>
          <a:ln/>
        </p:spPr>
        <p:txBody>
          <a:bodyPr wrap="square" lIns="0" tIns="0" rIns="0" bIns="0" rtlCol="0" anchor="t"/>
          <a:lstStyle/>
          <a:p>
            <a:pPr algn="l" indent="0" marL="0">
              <a:buNone/>
            </a:pPr>
            <a:r>
              <a:rPr lang="en-US" sz="1150" b="1" dirty="0">
                <a:solidFill>
                  <a:srgbClr val="C6613F"/>
                </a:solidFill>
                <a:latin typeface="Yu Gothic" pitchFamily="34" charset="0"/>
                <a:ea typeface="Yu Gothic" pitchFamily="34" charset="-122"/>
                <a:cs typeface="Yu Gothic" pitchFamily="34" charset="-120"/>
              </a:rPr>
              <a:t>目的：</a:t>
            </a:r>
            <a:pPr algn="l" indent="0" marL="0">
              <a:buNone/>
            </a:pPr>
            <a:r>
              <a:rPr lang="en-US" sz="1150" dirty="0">
                <a:solidFill>
                  <a:srgbClr val="1F1E1D"/>
                </a:solidFill>
                <a:latin typeface="Yu Gothic" pitchFamily="34" charset="0"/>
                <a:ea typeface="Yu Gothic" pitchFamily="34" charset="-122"/>
                <a:cs typeface="Yu Gothic" pitchFamily="34" charset="-120"/>
              </a:rPr>
              <a:t>記録の手間を「店名と★だけ」に減らす。AIは提案役、決定は利用者。判定は利用者自身のAPIキーで実行。</a:t>
            </a:r>
            <a:endParaRPr lang="en-US" sz="1150" dirty="0"/>
          </a:p>
        </p:txBody>
      </p:sp>
      <p:sp>
        <p:nvSpPr>
          <p:cNvPr id="38" name="Text 3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39" name="Text 37"/>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補足 ｜ プロンプト設計（詳細）</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プロンプト設計 ― ルールは文書に、要望は現象で</a:t>
            </a:r>
            <a:endParaRPr lang="en-US" sz="3000" dirty="0"/>
          </a:p>
        </p:txBody>
      </p:sp>
      <p:sp>
        <p:nvSpPr>
          <p:cNvPr id="4" name="Shape 2"/>
          <p:cNvSpPr/>
          <p:nvPr/>
        </p:nvSpPr>
        <p:spPr>
          <a:xfrm>
            <a:off x="548640" y="1508760"/>
            <a:ext cx="5669280" cy="4754880"/>
          </a:xfrm>
          <a:prstGeom prst="roundRect">
            <a:avLst>
              <a:gd name="adj" fmla="val 2308"/>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645920"/>
            <a:ext cx="5303520" cy="365760"/>
          </a:xfrm>
          <a:prstGeom prst="rect">
            <a:avLst/>
          </a:prstGeom>
          <a:noFill/>
          <a:ln/>
        </p:spPr>
        <p:txBody>
          <a:bodyPr wrap="square" lIns="0" tIns="0" rIns="0" bIns="0" rtlCol="0" anchor="ctr"/>
          <a:lstStyle/>
          <a:p>
            <a:pPr indent="0" marL="0">
              <a:buNone/>
            </a:pPr>
            <a:r>
              <a:rPr lang="en-US" sz="1400" b="1" dirty="0">
                <a:solidFill>
                  <a:srgbClr val="1F1E1D"/>
                </a:solidFill>
                <a:latin typeface="Yu Gothic" pitchFamily="34" charset="0"/>
                <a:ea typeface="Yu Gothic" pitchFamily="34" charset="-122"/>
                <a:cs typeface="Yu Gothic" pitchFamily="34" charset="-120"/>
              </a:rPr>
              <a:t>開発への指示（Claude Code）</a:t>
            </a:r>
            <a:endParaRPr lang="en-US" sz="1400" dirty="0"/>
          </a:p>
        </p:txBody>
      </p:sp>
      <p:sp>
        <p:nvSpPr>
          <p:cNvPr id="6" name="Text 4"/>
          <p:cNvSpPr txBox="1"/>
          <p:nvPr/>
        </p:nvSpPr>
        <p:spPr>
          <a:xfrm>
            <a:off x="777240" y="2057400"/>
            <a:ext cx="5303520" cy="274320"/>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CLAUDE.md ― 毎回守るルールを明文化（抜粋）</a:t>
            </a:r>
            <a:endParaRPr lang="en-US" sz="1150" dirty="0"/>
          </a:p>
        </p:txBody>
      </p:sp>
      <p:sp>
        <p:nvSpPr>
          <p:cNvPr id="7" name="Text 5"/>
          <p:cNvSpPr txBox="1"/>
          <p:nvPr/>
        </p:nvSpPr>
        <p:spPr>
          <a:xfrm>
            <a:off x="777240" y="2350008"/>
            <a:ext cx="5303520" cy="105156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F1E1D"/>
                </a:solidFill>
                <a:latin typeface="Yu Gothic" pitchFamily="34" charset="0"/>
                <a:ea typeface="Yu Gothic" pitchFamily="34" charset="-122"/>
                <a:cs typeface="Yu Gothic" pitchFamily="34" charset="-120"/>
              </a:rPr>
              <a:t>変更のたびに4箇所のバージョンを揃える（PWAキャッシュ対策）</a:t>
            </a:r>
            <a:endParaRPr lang="en-US" sz="1100" dirty="0"/>
          </a:p>
          <a:p>
            <a:pPr marL="342900" indent="-342900">
              <a:spcAft>
                <a:spcPts val="500"/>
              </a:spcAft>
              <a:buSzPct val="100000"/>
              <a:buChar char="•"/>
            </a:pPr>
            <a:r>
              <a:rPr lang="en-US" sz="1100" dirty="0">
                <a:solidFill>
                  <a:srgbClr val="1F1E1D"/>
                </a:solidFill>
                <a:latin typeface="Yu Gothic" pitchFamily="34" charset="0"/>
                <a:ea typeface="Yu Gothic" pitchFamily="34" charset="-122"/>
                <a:cs typeface="Yu Gothic" pitchFamily="34" charset="-120"/>
              </a:rPr>
              <a:t>星評価は共通SVG部品を使う／他人の投稿に日付を出さない</a:t>
            </a:r>
            <a:endParaRPr lang="en-US" sz="1100" dirty="0"/>
          </a:p>
          <a:p>
            <a:pPr marL="342900" indent="-342900">
              <a:spcAft>
                <a:spcPts val="500"/>
              </a:spcAft>
              <a:buSzPct val="100000"/>
              <a:buChar char="•"/>
            </a:pPr>
            <a:r>
              <a:rPr lang="en-US" sz="1100" dirty="0">
                <a:solidFill>
                  <a:srgbClr val="1F1E1D"/>
                </a:solidFill>
                <a:latin typeface="Yu Gothic" pitchFamily="34" charset="0"/>
                <a:ea typeface="Yu Gothic" pitchFamily="34" charset="-122"/>
                <a:cs typeface="Yu Gothic" pitchFamily="34" charset="-120"/>
              </a:rPr>
              <a:t>main へ直接 push → GitHub Pages で1〜2分後に本番反映</a:t>
            </a:r>
            <a:endParaRPr lang="en-US" sz="1100" dirty="0"/>
          </a:p>
        </p:txBody>
      </p:sp>
      <p:sp>
        <p:nvSpPr>
          <p:cNvPr id="8" name="Text 6"/>
          <p:cNvSpPr txBox="1"/>
          <p:nvPr/>
        </p:nvSpPr>
        <p:spPr>
          <a:xfrm>
            <a:off x="777240" y="3429000"/>
            <a:ext cx="5303520" cy="274320"/>
          </a:xfrm>
          <a:prstGeom prst="rect">
            <a:avLst/>
          </a:prstGeom>
          <a:noFill/>
          <a:ln/>
        </p:spPr>
        <p:txBody>
          <a:bodyPr wrap="square" lIns="0" tIns="0" rIns="0" bIns="0" rtlCol="0" anchor="ctr"/>
          <a:lstStyle/>
          <a:p>
            <a:pPr indent="0" marL="0">
              <a:buNone/>
            </a:pPr>
            <a:r>
              <a:rPr lang="en-US" sz="1150" b="1" dirty="0">
                <a:solidFill>
                  <a:srgbClr val="C6613F"/>
                </a:solidFill>
                <a:latin typeface="Yu Gothic" pitchFamily="34" charset="0"/>
                <a:ea typeface="Yu Gothic" pitchFamily="34" charset="-122"/>
                <a:cs typeface="Yu Gothic" pitchFamily="34" charset="-120"/>
              </a:rPr>
              <a:t>実際の要望プロンプト（そのまま）</a:t>
            </a:r>
            <a:endParaRPr lang="en-US" sz="1150" dirty="0"/>
          </a:p>
        </p:txBody>
      </p:sp>
      <p:sp>
        <p:nvSpPr>
          <p:cNvPr id="9" name="Shape 7"/>
          <p:cNvSpPr/>
          <p:nvPr/>
        </p:nvSpPr>
        <p:spPr>
          <a:xfrm>
            <a:off x="777240" y="3730752"/>
            <a:ext cx="5212080" cy="1280160"/>
          </a:xfrm>
          <a:prstGeom prst="roundRect">
            <a:avLst>
              <a:gd name="adj" fmla="val 5714"/>
            </a:avLst>
          </a:prstGeom>
          <a:solidFill>
            <a:srgbClr val="2B2825"/>
          </a:solidFill>
          <a:ln w="12700">
            <a:solidFill>
              <a:srgbClr val="2B2825"/>
            </a:solidFill>
            <a:prstDash val="solid"/>
          </a:ln>
        </p:spPr>
      </p:sp>
      <p:sp>
        <p:nvSpPr>
          <p:cNvPr id="10" name="Text 8"/>
          <p:cNvSpPr txBox="1"/>
          <p:nvPr/>
        </p:nvSpPr>
        <p:spPr>
          <a:xfrm>
            <a:off x="914400" y="3794760"/>
            <a:ext cx="4983480" cy="1170432"/>
          </a:xfrm>
          <a:prstGeom prst="rect">
            <a:avLst/>
          </a:prstGeom>
          <a:noFill/>
          <a:ln/>
        </p:spPr>
        <p:txBody>
          <a:bodyPr wrap="square" lIns="0" tIns="0" rIns="0" bIns="0" rtlCol="0" anchor="ctr"/>
          <a:lstStyle/>
          <a:p>
            <a:pPr indent="0" marL="0">
              <a:buNone/>
            </a:pPr>
            <a:r>
              <a:rPr lang="en-US" sz="1050" dirty="0">
                <a:solidFill>
                  <a:srgbClr val="F4EFE8"/>
                </a:solidFill>
                <a:latin typeface="Yu Gothic" pitchFamily="34" charset="0"/>
                <a:ea typeface="Yu Gothic" pitchFamily="34" charset="-122"/>
                <a:cs typeface="Yu Gothic" pitchFamily="34" charset="-120"/>
              </a:rPr>
              <a:t>「検索で麺類→ラーメンとタップして写真一覧にいったときに、勝手にジャンル一覧に戻ってしまうことがあるので修正して」</a:t>
            </a:r>
            <a:endParaRPr lang="en-US" sz="1050" dirty="0"/>
          </a:p>
          <a:p>
            <a:pPr indent="0" marL="0">
              <a:buNone/>
            </a:pPr>
            <a:r>
              <a:rPr lang="en-US" sz="1050" dirty="0">
                <a:solidFill>
                  <a:srgbClr val="F4EFE8"/>
                </a:solidFill>
                <a:latin typeface="Yu Gothic" pitchFamily="34" charset="0"/>
                <a:ea typeface="Yu Gothic" pitchFamily="34" charset="-122"/>
                <a:cs typeface="Yu Gothic" pitchFamily="34" charset="-120"/>
              </a:rPr>
              <a:t>「評価をする時に .0 だけでなく .5 でも評価できるようにして」</a:t>
            </a:r>
            <a:endParaRPr lang="en-US" sz="1050" dirty="0"/>
          </a:p>
          <a:p>
            <a:pPr indent="0" marL="0">
              <a:buNone/>
            </a:pPr>
            <a:r>
              <a:rPr lang="en-US" sz="1050" dirty="0">
                <a:solidFill>
                  <a:srgbClr val="F4EFE8"/>
                </a:solidFill>
                <a:latin typeface="Yu Gothic" pitchFamily="34" charset="0"/>
                <a:ea typeface="Yu Gothic" pitchFamily="34" charset="-122"/>
                <a:cs typeface="Yu Gothic" pitchFamily="34" charset="-120"/>
              </a:rPr>
              <a:t>「スクロールがなめらかではないのでなめらかになるようにして」</a:t>
            </a:r>
            <a:endParaRPr lang="en-US" sz="1050" dirty="0"/>
          </a:p>
        </p:txBody>
      </p:sp>
      <p:sp>
        <p:nvSpPr>
          <p:cNvPr id="11" name="Text 9"/>
          <p:cNvSpPr txBox="1"/>
          <p:nvPr/>
        </p:nvSpPr>
        <p:spPr>
          <a:xfrm>
            <a:off x="777240" y="5120640"/>
            <a:ext cx="5303520" cy="109728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F1E1D"/>
                </a:solidFill>
                <a:latin typeface="Yu Gothic" pitchFamily="34" charset="0"/>
                <a:ea typeface="Yu Gothic" pitchFamily="34" charset="-122"/>
                <a:cs typeface="Yu Gothic" pitchFamily="34" charset="-120"/>
              </a:rPr>
              <a:t>要望は「現象ベース」で伝え、原因の特定はAIに任せる（人はコードを読まない）</a:t>
            </a:r>
            <a:endParaRPr lang="en-US" sz="1100" dirty="0"/>
          </a:p>
          <a:p>
            <a:pPr marL="342900" indent="-342900">
              <a:spcAft>
                <a:spcPts val="500"/>
              </a:spcAft>
              <a:buSzPct val="100000"/>
              <a:buChar char="•"/>
            </a:pPr>
            <a:r>
              <a:rPr lang="en-US" sz="1100" dirty="0">
                <a:solidFill>
                  <a:srgbClr val="1F1E1D"/>
                </a:solidFill>
                <a:latin typeface="Yu Gothic" pitchFamily="34" charset="0"/>
                <a:ea typeface="Yu Gothic" pitchFamily="34" charset="-122"/>
                <a:cs typeface="Yu Gothic" pitchFamily="34" charset="-120"/>
              </a:rPr>
              <a:t>デザインは文章より画像（手描き・スクショ）で渡す</a:t>
            </a:r>
            <a:endParaRPr lang="en-US" sz="1100" dirty="0"/>
          </a:p>
          <a:p>
            <a:pPr marL="342900" indent="-342900">
              <a:spcAft>
                <a:spcPts val="500"/>
              </a:spcAft>
              <a:buSzPct val="100000"/>
              <a:buChar char="•"/>
            </a:pPr>
            <a:r>
              <a:rPr lang="en-US" sz="1100" dirty="0">
                <a:solidFill>
                  <a:srgbClr val="1F1E1D"/>
                </a:solidFill>
                <a:latin typeface="Yu Gothic" pitchFamily="34" charset="0"/>
                <a:ea typeface="Yu Gothic" pitchFamily="34" charset="-122"/>
                <a:cs typeface="Yu Gothic" pitchFamily="34" charset="-120"/>
              </a:rPr>
              <a:t>差し戻しは短く：「277の状態に戻して」で3バージョン分を巻き戻し</a:t>
            </a:r>
            <a:endParaRPr lang="en-US" sz="1100" dirty="0"/>
          </a:p>
        </p:txBody>
      </p:sp>
      <p:sp>
        <p:nvSpPr>
          <p:cNvPr id="12" name="Shape 10"/>
          <p:cNvSpPr/>
          <p:nvPr/>
        </p:nvSpPr>
        <p:spPr>
          <a:xfrm>
            <a:off x="6446520" y="1508760"/>
            <a:ext cx="5193792" cy="4754880"/>
          </a:xfrm>
          <a:prstGeom prst="roundRect">
            <a:avLst>
              <a:gd name="adj" fmla="val 2308"/>
            </a:avLst>
          </a:prstGeom>
          <a:solidFill>
            <a:srgbClr val="FFFFFF"/>
          </a:solidFill>
          <a:ln w="12700">
            <a:solidFill>
              <a:srgbClr val="EAE3D8"/>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675120" y="1645920"/>
            <a:ext cx="4754880" cy="365760"/>
          </a:xfrm>
          <a:prstGeom prst="rect">
            <a:avLst/>
          </a:prstGeom>
          <a:noFill/>
          <a:ln/>
        </p:spPr>
        <p:txBody>
          <a:bodyPr wrap="square" lIns="0" tIns="0" rIns="0" bIns="0" rtlCol="0" anchor="ctr"/>
          <a:lstStyle/>
          <a:p>
            <a:pPr indent="0" marL="0">
              <a:buNone/>
            </a:pPr>
            <a:r>
              <a:rPr lang="en-US" sz="1400" b="1" dirty="0">
                <a:solidFill>
                  <a:srgbClr val="1F1E1D"/>
                </a:solidFill>
                <a:latin typeface="Yu Gothic" pitchFamily="34" charset="0"/>
                <a:ea typeface="Yu Gothic" pitchFamily="34" charset="-122"/>
                <a:cs typeface="Yu Gothic" pitchFamily="34" charset="-120"/>
              </a:rPr>
              <a:t>アプリ内の分類プロンプト（実物）</a:t>
            </a:r>
            <a:endParaRPr lang="en-US" sz="1400" dirty="0"/>
          </a:p>
        </p:txBody>
      </p:sp>
      <p:sp>
        <p:nvSpPr>
          <p:cNvPr id="14" name="Shape 12"/>
          <p:cNvSpPr/>
          <p:nvPr/>
        </p:nvSpPr>
        <p:spPr>
          <a:xfrm>
            <a:off x="6675120" y="2057400"/>
            <a:ext cx="4736592" cy="1600200"/>
          </a:xfrm>
          <a:prstGeom prst="roundRect">
            <a:avLst>
              <a:gd name="adj" fmla="val 4571"/>
            </a:avLst>
          </a:prstGeom>
          <a:solidFill>
            <a:srgbClr val="2B2825"/>
          </a:solidFill>
          <a:ln w="12700">
            <a:solidFill>
              <a:srgbClr val="2B2825"/>
            </a:solidFill>
            <a:prstDash val="solid"/>
          </a:ln>
        </p:spPr>
      </p:sp>
      <p:sp>
        <p:nvSpPr>
          <p:cNvPr id="15" name="Text 13"/>
          <p:cNvSpPr txBox="1"/>
          <p:nvPr/>
        </p:nvSpPr>
        <p:spPr>
          <a:xfrm>
            <a:off x="6812280" y="2121408"/>
            <a:ext cx="4480560" cy="1481328"/>
          </a:xfrm>
          <a:prstGeom prst="rect">
            <a:avLst/>
          </a:prstGeom>
          <a:noFill/>
          <a:ln/>
        </p:spPr>
        <p:txBody>
          <a:bodyPr wrap="square" lIns="0" tIns="0" rIns="0" bIns="0" rtlCol="0" anchor="t"/>
          <a:lstStyle/>
          <a:p>
            <a:pPr indent="0" marL="0">
              <a:buNone/>
            </a:pPr>
            <a:r>
              <a:rPr lang="en-US" sz="1000" b="1" dirty="0">
                <a:solidFill>
                  <a:srgbClr val="FFD75E"/>
                </a:solidFill>
                <a:latin typeface="Yu Gothic" pitchFamily="34" charset="0"/>
                <a:ea typeface="Yu Gothic" pitchFamily="34" charset="-122"/>
                <a:cs typeface="Yu Gothic" pitchFamily="34" charset="-120"/>
              </a:rPr>
              <a:t>system: </a:t>
            </a:r>
            <a:pPr indent="0" marL="0">
              <a:buNone/>
            </a:pPr>
            <a:r>
              <a:rPr lang="en-US" sz="1000" dirty="0">
                <a:solidFill>
                  <a:srgbClr val="F4EFE8"/>
                </a:solidFill>
                <a:latin typeface="Yu Gothic" pitchFamily="34" charset="0"/>
                <a:ea typeface="Yu Gothic" pitchFamily="34" charset="-122"/>
                <a:cs typeface="Yu Gothic" pitchFamily="34" charset="-120"/>
              </a:rPr>
              <a:t>あなたは料理写真の分類器です。写真に写っている料理を指定されたジャンル一覧から選んで分類してください。料理が写っていない写真（外観・店内・メニュー表など）や判別が難しい場合は dishGenres を空配列、confident を false にしてください。</a:t>
            </a:r>
            <a:pPr indent="0" marL="0">
              <a:buNone/>
            </a:pPr>
            <a:endParaRPr lang="en-US" sz="1000" dirty="0"/>
          </a:p>
          <a:p>
            <a:pPr indent="0" marL="0">
              <a:buNone/>
            </a:pPr>
            <a:r>
              <a:rPr lang="en-US" sz="1000" b="1" dirty="0">
                <a:solidFill>
                  <a:srgbClr val="FFD75E"/>
                </a:solidFill>
                <a:latin typeface="Yu Gothic" pitchFamily="34" charset="0"/>
                <a:ea typeface="Yu Gothic" pitchFamily="34" charset="-122"/>
                <a:cs typeface="Yu Gothic" pitchFamily="34" charset="-120"/>
              </a:rPr>
              <a:t>output: </a:t>
            </a:r>
            <a:endParaRPr lang="en-US" sz="1000" dirty="0"/>
          </a:p>
          <a:p>
            <a:pPr indent="0" marL="0">
              <a:buNone/>
            </a:pPr>
            <a:r>
              <a:rPr lang="en-US" sz="1000" dirty="0">
                <a:solidFill>
                  <a:srgbClr val="F4EFE8"/>
                </a:solidFill>
                <a:latin typeface="Yu Gothic" pitchFamily="34" charset="0"/>
                <a:ea typeface="Yu Gothic" pitchFamily="34" charset="-122"/>
                <a:cs typeface="Yu Gothic" pitchFamily="34" charset="-120"/>
              </a:rPr>
              <a:t>JSON Schema（dishGenres: enum[70+], shopGenre: enum, confident: boolean）</a:t>
            </a:r>
            <a:endParaRPr lang="en-US" sz="1000" dirty="0"/>
          </a:p>
        </p:txBody>
      </p:sp>
      <p:sp>
        <p:nvSpPr>
          <p:cNvPr id="16" name="Shape 14"/>
          <p:cNvSpPr/>
          <p:nvPr/>
        </p:nvSpPr>
        <p:spPr>
          <a:xfrm>
            <a:off x="6675120" y="3840480"/>
            <a:ext cx="1417320" cy="457200"/>
          </a:xfrm>
          <a:prstGeom prst="roundRect">
            <a:avLst>
              <a:gd name="adj" fmla="val 50000"/>
            </a:avLst>
          </a:prstGeom>
          <a:solidFill>
            <a:srgbClr val="FBEFE9"/>
          </a:solidFill>
          <a:ln w="12700">
            <a:solidFill>
              <a:srgbClr val="FBEFE9"/>
            </a:solidFill>
            <a:prstDash val="solid"/>
          </a:ln>
        </p:spPr>
      </p:sp>
      <p:sp>
        <p:nvSpPr>
          <p:cNvPr id="17" name="Text 15"/>
          <p:cNvSpPr txBox="1"/>
          <p:nvPr/>
        </p:nvSpPr>
        <p:spPr>
          <a:xfrm>
            <a:off x="6675120" y="3840480"/>
            <a:ext cx="1417320" cy="457200"/>
          </a:xfrm>
          <a:prstGeom prst="rect">
            <a:avLst/>
          </a:prstGeom>
          <a:noFill/>
          <a:ln/>
        </p:spPr>
        <p:txBody>
          <a:bodyPr wrap="square" lIns="0" tIns="0" rIns="0" bIns="0" rtlCol="0" anchor="ctr"/>
          <a:lstStyle/>
          <a:p>
            <a:pPr algn="ctr" indent="0" marL="0">
              <a:buNone/>
            </a:pPr>
            <a:r>
              <a:rPr lang="en-US" sz="1050" b="1" dirty="0">
                <a:solidFill>
                  <a:srgbClr val="C6613F"/>
                </a:solidFill>
                <a:latin typeface="Yu Gothic" pitchFamily="34" charset="0"/>
                <a:ea typeface="Yu Gothic" pitchFamily="34" charset="-122"/>
                <a:cs typeface="Yu Gothic" pitchFamily="34" charset="-120"/>
              </a:rPr>
              <a:t>enum 制約</a:t>
            </a:r>
            <a:endParaRPr lang="en-US" sz="1050" dirty="0"/>
          </a:p>
        </p:txBody>
      </p:sp>
      <p:sp>
        <p:nvSpPr>
          <p:cNvPr id="18" name="Text 16"/>
          <p:cNvSpPr txBox="1"/>
          <p:nvPr/>
        </p:nvSpPr>
        <p:spPr>
          <a:xfrm>
            <a:off x="8183880" y="3840480"/>
            <a:ext cx="3246120" cy="457200"/>
          </a:xfrm>
          <a:prstGeom prst="rect">
            <a:avLst/>
          </a:prstGeom>
          <a:noFill/>
          <a:ln/>
        </p:spPr>
        <p:txBody>
          <a:bodyPr wrap="square" lIns="0" tIns="0" rIns="0" bIns="0" rtlCol="0" anchor="ctr"/>
          <a:lstStyle/>
          <a:p>
            <a:pPr indent="0" marL="0">
              <a:buNone/>
            </a:pPr>
            <a:r>
              <a:rPr lang="en-US" sz="1050" dirty="0">
                <a:solidFill>
                  <a:srgbClr val="1F1E1D"/>
                </a:solidFill>
                <a:latin typeface="Yu Gothic" pitchFamily="34" charset="0"/>
                <a:ea typeface="Yu Gothic" pitchFamily="34" charset="-122"/>
                <a:cs typeface="Yu Gothic" pitchFamily="34" charset="-120"/>
              </a:rPr>
              <a:t>ジャンル名を一覧に固定し、表記ゆれ・幻覚を出させない</a:t>
            </a:r>
            <a:endParaRPr lang="en-US" sz="1050" dirty="0"/>
          </a:p>
        </p:txBody>
      </p:sp>
      <p:sp>
        <p:nvSpPr>
          <p:cNvPr id="19" name="Shape 17"/>
          <p:cNvSpPr/>
          <p:nvPr/>
        </p:nvSpPr>
        <p:spPr>
          <a:xfrm>
            <a:off x="6675120" y="4443984"/>
            <a:ext cx="1417320" cy="457200"/>
          </a:xfrm>
          <a:prstGeom prst="roundRect">
            <a:avLst>
              <a:gd name="adj" fmla="val 50000"/>
            </a:avLst>
          </a:prstGeom>
          <a:solidFill>
            <a:srgbClr val="FBEFE9"/>
          </a:solidFill>
          <a:ln w="12700">
            <a:solidFill>
              <a:srgbClr val="FBEFE9"/>
            </a:solidFill>
            <a:prstDash val="solid"/>
          </a:ln>
        </p:spPr>
      </p:sp>
      <p:sp>
        <p:nvSpPr>
          <p:cNvPr id="20" name="Text 18"/>
          <p:cNvSpPr txBox="1"/>
          <p:nvPr/>
        </p:nvSpPr>
        <p:spPr>
          <a:xfrm>
            <a:off x="6675120" y="4443984"/>
            <a:ext cx="1417320" cy="457200"/>
          </a:xfrm>
          <a:prstGeom prst="rect">
            <a:avLst/>
          </a:prstGeom>
          <a:noFill/>
          <a:ln/>
        </p:spPr>
        <p:txBody>
          <a:bodyPr wrap="square" lIns="0" tIns="0" rIns="0" bIns="0" rtlCol="0" anchor="ctr"/>
          <a:lstStyle/>
          <a:p>
            <a:pPr algn="ctr" indent="0" marL="0">
              <a:buNone/>
            </a:pPr>
            <a:r>
              <a:rPr lang="en-US" sz="1050" b="1" dirty="0">
                <a:solidFill>
                  <a:srgbClr val="C6613F"/>
                </a:solidFill>
                <a:latin typeface="Yu Gothic" pitchFamily="34" charset="0"/>
                <a:ea typeface="Yu Gothic" pitchFamily="34" charset="-122"/>
                <a:cs typeface="Yu Gothic" pitchFamily="34" charset="-120"/>
              </a:rPr>
              <a:t>confident フラグ</a:t>
            </a:r>
            <a:endParaRPr lang="en-US" sz="1050" dirty="0"/>
          </a:p>
        </p:txBody>
      </p:sp>
      <p:sp>
        <p:nvSpPr>
          <p:cNvPr id="21" name="Text 19"/>
          <p:cNvSpPr txBox="1"/>
          <p:nvPr/>
        </p:nvSpPr>
        <p:spPr>
          <a:xfrm>
            <a:off x="8183880" y="4443984"/>
            <a:ext cx="3246120" cy="457200"/>
          </a:xfrm>
          <a:prstGeom prst="rect">
            <a:avLst/>
          </a:prstGeom>
          <a:noFill/>
          <a:ln/>
        </p:spPr>
        <p:txBody>
          <a:bodyPr wrap="square" lIns="0" tIns="0" rIns="0" bIns="0" rtlCol="0" anchor="ctr"/>
          <a:lstStyle/>
          <a:p>
            <a:pPr indent="0" marL="0">
              <a:buNone/>
            </a:pPr>
            <a:r>
              <a:rPr lang="en-US" sz="1050" dirty="0">
                <a:solidFill>
                  <a:srgbClr val="1F1E1D"/>
                </a:solidFill>
                <a:latin typeface="Yu Gothic" pitchFamily="34" charset="0"/>
                <a:ea typeface="Yu Gothic" pitchFamily="34" charset="-122"/>
                <a:cs typeface="Yu Gothic" pitchFamily="34" charset="-120"/>
              </a:rPr>
              <a:t>自信のない判定は空欄に。利用者の選択に委ねる</a:t>
            </a:r>
            <a:endParaRPr lang="en-US" sz="1050" dirty="0"/>
          </a:p>
        </p:txBody>
      </p:sp>
      <p:sp>
        <p:nvSpPr>
          <p:cNvPr id="22" name="Shape 20"/>
          <p:cNvSpPr/>
          <p:nvPr/>
        </p:nvSpPr>
        <p:spPr>
          <a:xfrm>
            <a:off x="6675120" y="5047488"/>
            <a:ext cx="1417320" cy="457200"/>
          </a:xfrm>
          <a:prstGeom prst="roundRect">
            <a:avLst>
              <a:gd name="adj" fmla="val 50000"/>
            </a:avLst>
          </a:prstGeom>
          <a:solidFill>
            <a:srgbClr val="FBEFE9"/>
          </a:solidFill>
          <a:ln w="12700">
            <a:solidFill>
              <a:srgbClr val="FBEFE9"/>
            </a:solidFill>
            <a:prstDash val="solid"/>
          </a:ln>
        </p:spPr>
      </p:sp>
      <p:sp>
        <p:nvSpPr>
          <p:cNvPr id="23" name="Text 21"/>
          <p:cNvSpPr txBox="1"/>
          <p:nvPr/>
        </p:nvSpPr>
        <p:spPr>
          <a:xfrm>
            <a:off x="6675120" y="5047488"/>
            <a:ext cx="1417320" cy="457200"/>
          </a:xfrm>
          <a:prstGeom prst="rect">
            <a:avLst/>
          </a:prstGeom>
          <a:noFill/>
          <a:ln/>
        </p:spPr>
        <p:txBody>
          <a:bodyPr wrap="square" lIns="0" tIns="0" rIns="0" bIns="0" rtlCol="0" anchor="ctr"/>
          <a:lstStyle/>
          <a:p>
            <a:pPr algn="ctr" indent="0" marL="0">
              <a:buNone/>
            </a:pPr>
            <a:r>
              <a:rPr lang="en-US" sz="1050" b="1" dirty="0">
                <a:solidFill>
                  <a:srgbClr val="C6613F"/>
                </a:solidFill>
                <a:latin typeface="Yu Gothic" pitchFamily="34" charset="0"/>
                <a:ea typeface="Yu Gothic" pitchFamily="34" charset="-122"/>
                <a:cs typeface="Yu Gothic" pitchFamily="34" charset="-120"/>
              </a:rPr>
              <a:t>スキーマ出力</a:t>
            </a:r>
            <a:endParaRPr lang="en-US" sz="1050" dirty="0"/>
          </a:p>
        </p:txBody>
      </p:sp>
      <p:sp>
        <p:nvSpPr>
          <p:cNvPr id="24" name="Text 22"/>
          <p:cNvSpPr txBox="1"/>
          <p:nvPr/>
        </p:nvSpPr>
        <p:spPr>
          <a:xfrm>
            <a:off x="8183880" y="5047488"/>
            <a:ext cx="3246120" cy="457200"/>
          </a:xfrm>
          <a:prstGeom prst="rect">
            <a:avLst/>
          </a:prstGeom>
          <a:noFill/>
          <a:ln/>
        </p:spPr>
        <p:txBody>
          <a:bodyPr wrap="square" lIns="0" tIns="0" rIns="0" bIns="0" rtlCol="0" anchor="ctr"/>
          <a:lstStyle/>
          <a:p>
            <a:pPr indent="0" marL="0">
              <a:buNone/>
            </a:pPr>
            <a:r>
              <a:rPr lang="en-US" sz="1050" dirty="0">
                <a:solidFill>
                  <a:srgbClr val="1F1E1D"/>
                </a:solidFill>
                <a:latin typeface="Yu Gothic" pitchFamily="34" charset="0"/>
                <a:ea typeface="Yu Gothic" pitchFamily="34" charset="-122"/>
                <a:cs typeface="Yu Gothic" pitchFamily="34" charset="-120"/>
              </a:rPr>
              <a:t>JSON Schema で構造化出力。文章の解析なしで即UIに反映</a:t>
            </a:r>
            <a:endParaRPr lang="en-US" sz="1050" dirty="0"/>
          </a:p>
        </p:txBody>
      </p:sp>
      <p:sp>
        <p:nvSpPr>
          <p:cNvPr id="25" name="Shape 23"/>
          <p:cNvSpPr/>
          <p:nvPr/>
        </p:nvSpPr>
        <p:spPr>
          <a:xfrm>
            <a:off x="6675120" y="5650992"/>
            <a:ext cx="1417320" cy="457200"/>
          </a:xfrm>
          <a:prstGeom prst="roundRect">
            <a:avLst>
              <a:gd name="adj" fmla="val 50000"/>
            </a:avLst>
          </a:prstGeom>
          <a:solidFill>
            <a:srgbClr val="FBEFE9"/>
          </a:solidFill>
          <a:ln w="12700">
            <a:solidFill>
              <a:srgbClr val="FBEFE9"/>
            </a:solidFill>
            <a:prstDash val="solid"/>
          </a:ln>
        </p:spPr>
      </p:sp>
      <p:sp>
        <p:nvSpPr>
          <p:cNvPr id="26" name="Text 24"/>
          <p:cNvSpPr txBox="1"/>
          <p:nvPr/>
        </p:nvSpPr>
        <p:spPr>
          <a:xfrm>
            <a:off x="6675120" y="5650992"/>
            <a:ext cx="1417320" cy="457200"/>
          </a:xfrm>
          <a:prstGeom prst="rect">
            <a:avLst/>
          </a:prstGeom>
          <a:noFill/>
          <a:ln/>
        </p:spPr>
        <p:txBody>
          <a:bodyPr wrap="square" lIns="0" tIns="0" rIns="0" bIns="0" rtlCol="0" anchor="ctr"/>
          <a:lstStyle/>
          <a:p>
            <a:pPr algn="ctr" indent="0" marL="0">
              <a:buNone/>
            </a:pPr>
            <a:r>
              <a:rPr lang="en-US" sz="1050" b="1" dirty="0">
                <a:solidFill>
                  <a:srgbClr val="C6613F"/>
                </a:solidFill>
                <a:latin typeface="Yu Gothic" pitchFamily="34" charset="0"/>
                <a:ea typeface="Yu Gothic" pitchFamily="34" charset="-122"/>
                <a:cs typeface="Yu Gothic" pitchFamily="34" charset="-120"/>
              </a:rPr>
              <a:t>縮小して送信</a:t>
            </a:r>
            <a:endParaRPr lang="en-US" sz="1050" dirty="0"/>
          </a:p>
        </p:txBody>
      </p:sp>
      <p:sp>
        <p:nvSpPr>
          <p:cNvPr id="27" name="Text 25"/>
          <p:cNvSpPr txBox="1"/>
          <p:nvPr/>
        </p:nvSpPr>
        <p:spPr>
          <a:xfrm>
            <a:off x="8183880" y="5650992"/>
            <a:ext cx="3246120" cy="457200"/>
          </a:xfrm>
          <a:prstGeom prst="rect">
            <a:avLst/>
          </a:prstGeom>
          <a:noFill/>
          <a:ln/>
        </p:spPr>
        <p:txBody>
          <a:bodyPr wrap="square" lIns="0" tIns="0" rIns="0" bIns="0" rtlCol="0" anchor="ctr"/>
          <a:lstStyle/>
          <a:p>
            <a:pPr indent="0" marL="0">
              <a:buNone/>
            </a:pPr>
            <a:r>
              <a:rPr lang="en-US" sz="1050" dirty="0">
                <a:solidFill>
                  <a:srgbClr val="1F1E1D"/>
                </a:solidFill>
                <a:latin typeface="Yu Gothic" pitchFamily="34" charset="0"/>
                <a:ea typeface="Yu Gothic" pitchFamily="34" charset="-122"/>
                <a:cs typeface="Yu Gothic" pitchFamily="34" charset="-120"/>
              </a:rPr>
              <a:t>768px・品質0.7に圧縮。精度を保ちつつコストと時間を1/10に</a:t>
            </a:r>
            <a:endParaRPr lang="en-US" sz="1050" dirty="0"/>
          </a:p>
        </p:txBody>
      </p:sp>
      <p:sp>
        <p:nvSpPr>
          <p:cNvPr id="28" name="Text 2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29" name="Text 27"/>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320040"/>
          </a:xfrm>
          <a:prstGeom prst="rect">
            <a:avLst/>
          </a:prstGeom>
          <a:noFill/>
          <a:ln/>
        </p:spPr>
        <p:txBody>
          <a:bodyPr wrap="square" lIns="0" tIns="0" rIns="0" bIns="0" rtlCol="0" anchor="ctr"/>
          <a:lstStyle/>
          <a:p>
            <a:pPr indent="0" marL="0">
              <a:buNone/>
            </a:pPr>
            <a:r>
              <a:rPr lang="en-US" sz="1300" b="1" spc="200" kern="0" dirty="0">
                <a:solidFill>
                  <a:srgbClr val="C6613F"/>
                </a:solidFill>
                <a:latin typeface="Yu Gothic" pitchFamily="34" charset="0"/>
                <a:ea typeface="Yu Gothic" pitchFamily="34" charset="-122"/>
                <a:cs typeface="Yu Gothic" pitchFamily="34" charset="-120"/>
              </a:rPr>
              <a:t>補足 ｜ 人の判断・修正（詳細）</a:t>
            </a:r>
            <a:endParaRPr lang="en-US" sz="1300" dirty="0"/>
          </a:p>
        </p:txBody>
      </p:sp>
      <p:sp>
        <p:nvSpPr>
          <p:cNvPr id="3" name="Text 1"/>
          <p:cNvSpPr txBox="1"/>
          <p:nvPr/>
        </p:nvSpPr>
        <p:spPr>
          <a:xfrm>
            <a:off x="548640" y="621792"/>
            <a:ext cx="11064240" cy="685800"/>
          </a:xfrm>
          <a:prstGeom prst="rect">
            <a:avLst/>
          </a:prstGeom>
          <a:noFill/>
          <a:ln/>
        </p:spPr>
        <p:txBody>
          <a:bodyPr wrap="square" lIns="0" tIns="0" rIns="0" bIns="0" rtlCol="0" anchor="ctr"/>
          <a:lstStyle/>
          <a:p>
            <a:pPr indent="0" marL="0">
              <a:buNone/>
            </a:pPr>
            <a:r>
              <a:rPr lang="en-US" sz="3000" b="1" dirty="0">
                <a:solidFill>
                  <a:srgbClr val="1F1E1D"/>
                </a:solidFill>
                <a:latin typeface="Yu Gothic" pitchFamily="34" charset="0"/>
                <a:ea typeface="Yu Gothic" pitchFamily="34" charset="-122"/>
                <a:cs typeface="Yu Gothic" pitchFamily="34" charset="-120"/>
              </a:rPr>
              <a:t>AI出力に対する人の判断・修正（代表例）</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920240"/>
                <a:gridCol w="4023360"/>
                <a:gridCol w="5148072"/>
              </a:tblGrid>
              <a:tr h="384048">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場面</a:t>
                      </a:r>
                      <a:endParaRPr lang="en-US" sz="12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C6613F"/>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Before：AIの出力・提案</a:t>
                      </a:r>
                      <a:endParaRPr lang="en-US" sz="12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C6613F"/>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After：人の判断</a:t>
                      </a:r>
                      <a:endParaRPr lang="en-US" sz="12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C6613F"/>
                    </a:solidFill>
                  </a:tcPr>
                </a:tc>
              </a:tr>
              <a:tr h="713232">
                <a:tc>
                  <a:txBody>
                    <a:bodyPr/>
                    <a:lstStyle/>
                    <a:p>
                      <a:pPr indent="0" marL="0">
                        <a:buNone/>
                      </a:pPr>
                      <a:r>
                        <a:rPr lang="en-US" sz="1100" b="1" dirty="0">
                          <a:solidFill>
                            <a:srgbClr val="1F1E1D"/>
                          </a:solidFill>
                          <a:latin typeface="Yu Gothic" pitchFamily="34" charset="0"/>
                          <a:ea typeface="Yu Gothic" pitchFamily="34" charset="-122"/>
                          <a:cs typeface="Yu Gothic" pitchFamily="34" charset="-120"/>
                        </a:rPr>
                        <a:t>写真一覧のUI</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indent="0" marL="0">
                        <a:buNone/>
                      </a:pPr>
                      <a:r>
                        <a:rPr lang="en-US" sz="1100" dirty="0">
                          <a:solidFill>
                            <a:srgbClr val="1F1E1D"/>
                          </a:solidFill>
                          <a:latin typeface="Yu Gothic" pitchFamily="34" charset="0"/>
                          <a:ea typeface="Yu Gothic" pitchFamily="34" charset="-122"/>
                          <a:cs typeface="Yu Gothic" pitchFamily="34" charset="-120"/>
                        </a:rPr>
                        <a:t>「店舗カード＋2列」に改善提案し、v278〜280で実装</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indent="0" marL="0">
                        <a:buNone/>
                      </a:pPr>
                      <a:r>
                        <a:rPr lang="en-US" sz="1100" dirty="0">
                          <a:solidFill>
                            <a:srgbClr val="B4552F"/>
                          </a:solidFill>
                          <a:latin typeface="Yu Gothic" pitchFamily="34" charset="0"/>
                          <a:ea typeface="Yu Gothic" pitchFamily="34" charset="-122"/>
                          <a:cs typeface="Yu Gothic" pitchFamily="34" charset="-120"/>
                        </a:rPr>
                        <a:t>実機で試して「一覧性が落ちた」と判断。3バージョン差し戻し、v277の状態に復元</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BEFE9"/>
                    </a:solidFill>
                  </a:tcPr>
                </a:tc>
              </a:tr>
              <a:tr h="713232">
                <a:tc>
                  <a:txBody>
                    <a:bodyPr/>
                    <a:lstStyle/>
                    <a:p>
                      <a:pPr indent="0" marL="0">
                        <a:buNone/>
                      </a:pPr>
                      <a:r>
                        <a:rPr lang="en-US" sz="1100" b="1" dirty="0">
                          <a:solidFill>
                            <a:srgbClr val="1F1E1D"/>
                          </a:solidFill>
                          <a:latin typeface="Yu Gothic" pitchFamily="34" charset="0"/>
                          <a:ea typeface="Yu Gothic" pitchFamily="34" charset="-122"/>
                          <a:cs typeface="Yu Gothic" pitchFamily="34" charset="-120"/>
                        </a:rPr>
                        <a:t>ジャンルアイコン</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indent="0" marL="0">
                        <a:buNone/>
                      </a:pPr>
                      <a:r>
                        <a:rPr lang="en-US" sz="1100" dirty="0">
                          <a:solidFill>
                            <a:srgbClr val="1F1E1D"/>
                          </a:solidFill>
                          <a:latin typeface="Yu Gothic" pitchFamily="34" charset="0"/>
                          <a:ea typeface="Yu Gothic" pitchFamily="34" charset="-122"/>
                          <a:cs typeface="Yu Gothic" pitchFamily="34" charset="-120"/>
                        </a:rPr>
                        <a:t>AIがSVGで71種を自作</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indent="0" marL="0">
                        <a:buNone/>
                      </a:pPr>
                      <a:r>
                        <a:rPr lang="en-US" sz="1100" dirty="0">
                          <a:solidFill>
                            <a:srgbClr val="B4552F"/>
                          </a:solidFill>
                          <a:latin typeface="Yu Gothic" pitchFamily="34" charset="0"/>
                          <a:ea typeface="Yu Gothic" pitchFamily="34" charset="-122"/>
                          <a:cs typeface="Yu Gothic" pitchFamily="34" charset="-120"/>
                        </a:rPr>
                        <a:t>絵柄が不統一で不採用。手持ちイラストからの切り出しに指示し直し、71種を統一</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BEFE9"/>
                    </a:solidFill>
                  </a:tcPr>
                </a:tc>
              </a:tr>
              <a:tr h="713232">
                <a:tc>
                  <a:txBody>
                    <a:bodyPr/>
                    <a:lstStyle/>
                    <a:p>
                      <a:pPr indent="0" marL="0">
                        <a:buNone/>
                      </a:pPr>
                      <a:r>
                        <a:rPr lang="en-US" sz="1100" b="1" dirty="0">
                          <a:solidFill>
                            <a:srgbClr val="1F1E1D"/>
                          </a:solidFill>
                          <a:latin typeface="Yu Gothic" pitchFamily="34" charset="0"/>
                          <a:ea typeface="Yu Gothic" pitchFamily="34" charset="-122"/>
                          <a:cs typeface="Yu Gothic" pitchFamily="34" charset="-120"/>
                        </a:rPr>
                        <a:t>味覚一致率</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indent="0" marL="0">
                        <a:buNone/>
                      </a:pPr>
                      <a:r>
                        <a:rPr lang="en-US" sz="1100" dirty="0">
                          <a:solidFill>
                            <a:srgbClr val="1F1E1D"/>
                          </a:solidFill>
                          <a:latin typeface="Yu Gothic" pitchFamily="34" charset="0"/>
                          <a:ea typeface="Yu Gothic" pitchFamily="34" charset="-122"/>
                          <a:cs typeface="Yu Gothic" pitchFamily="34" charset="-120"/>
                        </a:rPr>
                        <a:t>共通2〜3店でも計算して表示</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indent="0" marL="0">
                        <a:buNone/>
                      </a:pPr>
                      <a:r>
                        <a:rPr lang="en-US" sz="1100" dirty="0">
                          <a:solidFill>
                            <a:srgbClr val="B4552F"/>
                          </a:solidFill>
                          <a:latin typeface="Yu Gothic" pitchFamily="34" charset="0"/>
                          <a:ea typeface="Yu Gothic" pitchFamily="34" charset="-122"/>
                          <a:cs typeface="Yu Gothic" pitchFamily="34" charset="-120"/>
                        </a:rPr>
                        <a:t>偶然の一致を防ぐ「5件未満は非表示・20件以上で通常」の信頼度ルールを人が定義</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BEFE9"/>
                    </a:solidFill>
                  </a:tcPr>
                </a:tc>
              </a:tr>
              <a:tr h="713232">
                <a:tc>
                  <a:txBody>
                    <a:bodyPr/>
                    <a:lstStyle/>
                    <a:p>
                      <a:pPr indent="0" marL="0">
                        <a:buNone/>
                      </a:pPr>
                      <a:r>
                        <a:rPr lang="en-US" sz="1100" b="1" dirty="0">
                          <a:solidFill>
                            <a:srgbClr val="1F1E1D"/>
                          </a:solidFill>
                          <a:latin typeface="Yu Gothic" pitchFamily="34" charset="0"/>
                          <a:ea typeface="Yu Gothic" pitchFamily="34" charset="-122"/>
                          <a:cs typeface="Yu Gothic" pitchFamily="34" charset="-120"/>
                        </a:rPr>
                        <a:t>AIのジャンル判定</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indent="0" marL="0">
                        <a:buNone/>
                      </a:pPr>
                      <a:r>
                        <a:rPr lang="en-US" sz="1100" dirty="0">
                          <a:solidFill>
                            <a:srgbClr val="1F1E1D"/>
                          </a:solidFill>
                          <a:latin typeface="Yu Gothic" pitchFamily="34" charset="0"/>
                          <a:ea typeface="Yu Gothic" pitchFamily="34" charset="-122"/>
                          <a:cs typeface="Yu Gothic" pitchFamily="34" charset="-120"/>
                        </a:rPr>
                        <a:t>まれに誤判定。再判定で手動選択を上書き</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indent="0" marL="0">
                        <a:buNone/>
                      </a:pPr>
                      <a:r>
                        <a:rPr lang="en-US" sz="1100" dirty="0">
                          <a:solidFill>
                            <a:srgbClr val="B4552F"/>
                          </a:solidFill>
                          <a:latin typeface="Yu Gothic" pitchFamily="34" charset="0"/>
                          <a:ea typeface="Yu Gothic" pitchFamily="34" charset="-122"/>
                          <a:cs typeface="Yu Gothic" pitchFamily="34" charset="-120"/>
                        </a:rPr>
                        <a:t>手動選択後はAIが上書きしない「所有権」ルール。AIは提案役、決定は人</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BEFE9"/>
                    </a:solidFill>
                  </a:tcPr>
                </a:tc>
              </a:tr>
              <a:tr h="822960">
                <a:tc>
                  <a:txBody>
                    <a:bodyPr/>
                    <a:lstStyle/>
                    <a:p>
                      <a:pPr indent="0" marL="0">
                        <a:buNone/>
                      </a:pPr>
                      <a:r>
                        <a:rPr lang="en-US" sz="1100" b="1" dirty="0">
                          <a:solidFill>
                            <a:srgbClr val="1F1E1D"/>
                          </a:solidFill>
                          <a:latin typeface="Yu Gothic" pitchFamily="34" charset="0"/>
                          <a:ea typeface="Yu Gothic" pitchFamily="34" charset="-122"/>
                          <a:cs typeface="Yu Gothic" pitchFamily="34" charset="-120"/>
                        </a:rPr>
                        <a:t>投稿詳細のスクロール</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indent="0" marL="0">
                        <a:buNone/>
                      </a:pPr>
                      <a:r>
                        <a:rPr lang="en-US" sz="1100" dirty="0">
                          <a:solidFill>
                            <a:srgbClr val="1F1E1D"/>
                          </a:solidFill>
                          <a:latin typeface="Yu Gothic" pitchFamily="34" charset="0"/>
                          <a:ea typeface="Yu Gothic" pitchFamily="34" charset="-122"/>
                          <a:cs typeface="Yu Gothic" pitchFamily="34" charset="-120"/>
                        </a:rPr>
                        <a:t>1回目の修正（差分加算）で「直った」と報告</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FFFFF"/>
                    </a:solidFill>
                  </a:tcPr>
                </a:tc>
                <a:tc>
                  <a:txBody>
                    <a:bodyPr/>
                    <a:lstStyle/>
                    <a:p>
                      <a:pPr indent="0" marL="0">
                        <a:buNone/>
                      </a:pPr>
                      <a:r>
                        <a:rPr lang="en-US" sz="1100" dirty="0">
                          <a:solidFill>
                            <a:srgbClr val="B4552F"/>
                          </a:solidFill>
                          <a:latin typeface="Yu Gothic" pitchFamily="34" charset="0"/>
                          <a:ea typeface="Yu Gothic" pitchFamily="34" charset="-122"/>
                          <a:cs typeface="Yu Gothic" pitchFamily="34" charset="-120"/>
                        </a:rPr>
                        <a:t>実機で「まだ滑らかでない」と差し戻し → 計測で原因（scrollTopの切り詰め）を特定させ方式変更（v290-291）</a:t>
                      </a:r>
                      <a:endParaRPr lang="en-US" sz="1100" dirty="0">
                        <a:latin typeface="Yu Gothic" charset="0"/>
                        <a:ea typeface="Yu Gothic" charset="0"/>
                        <a:cs typeface="Yu Gothic" charset="0"/>
                      </a:endParaRPr>
                    </a:p>
                  </a:txBody>
                  <a:tcPr marL="91440" marR="91440" marT="45720" marB="45720" anchor="ctr">
                    <a:lnL w="9525" cap="flat" cmpd="sng" algn="ctr">
                      <a:solidFill>
                        <a:srgbClr val="EAE3D8"/>
                      </a:solidFill>
                      <a:prstDash val="solid"/>
                      <a:round/>
                      <a:headEnd type="none" w="med" len="med"/>
                      <a:tailEnd type="none" w="med" len="med"/>
                    </a:lnL>
                    <a:lnR w="9525" cap="flat" cmpd="sng" algn="ctr">
                      <a:solidFill>
                        <a:srgbClr val="EAE3D8"/>
                      </a:solidFill>
                      <a:prstDash val="solid"/>
                      <a:round/>
                      <a:headEnd type="none" w="med" len="med"/>
                      <a:tailEnd type="none" w="med" len="med"/>
                    </a:lnR>
                    <a:lnT w="9525" cap="flat" cmpd="sng" algn="ctr">
                      <a:solidFill>
                        <a:srgbClr val="EAE3D8"/>
                      </a:solidFill>
                      <a:prstDash val="solid"/>
                      <a:round/>
                      <a:headEnd type="none" w="med" len="med"/>
                      <a:tailEnd type="none" w="med" len="med"/>
                    </a:lnT>
                    <a:lnB w="9525" cap="flat" cmpd="sng" algn="ctr">
                      <a:solidFill>
                        <a:srgbClr val="EAE3D8"/>
                      </a:solidFill>
                      <a:prstDash val="solid"/>
                      <a:round/>
                      <a:headEnd type="none" w="med" len="med"/>
                      <a:tailEnd type="none" w="med" len="med"/>
                    </a:lnB>
                    <a:solidFill>
                      <a:srgbClr val="FBEFE9"/>
                    </a:solidFill>
                  </a:tcPr>
                </a:tc>
              </a:tr>
            </a:tbl>
          </a:graphicData>
        </a:graphic>
      </p:graphicFrame>
      <p:sp>
        <p:nvSpPr>
          <p:cNvPr id="5" name="Text 2"/>
          <p:cNvSpPr txBox="1"/>
          <p:nvPr/>
        </p:nvSpPr>
        <p:spPr>
          <a:xfrm>
            <a:off x="548640" y="5852160"/>
            <a:ext cx="11064240" cy="457200"/>
          </a:xfrm>
          <a:prstGeom prst="rect">
            <a:avLst/>
          </a:prstGeom>
          <a:noFill/>
          <a:ln/>
        </p:spPr>
        <p:txBody>
          <a:bodyPr wrap="square" lIns="0" tIns="0" rIns="0" bIns="0" rtlCol="0" anchor="t"/>
          <a:lstStyle/>
          <a:p>
            <a:pPr algn="l" indent="0" marL="0">
              <a:buNone/>
            </a:pPr>
            <a:r>
              <a:rPr lang="en-US" sz="1250" b="1" dirty="0">
                <a:solidFill>
                  <a:srgbClr val="C6613F"/>
                </a:solidFill>
                <a:latin typeface="Yu Gothic" pitchFamily="34" charset="0"/>
                <a:ea typeface="Yu Gothic" pitchFamily="34" charset="-122"/>
                <a:cs typeface="Yu Gothic" pitchFamily="34" charset="-120"/>
              </a:rPr>
              <a:t>共通する原則：</a:t>
            </a:r>
            <a:pPr algn="l" indent="0" marL="0">
              <a:buNone/>
            </a:pPr>
            <a:r>
              <a:rPr lang="en-US" sz="1250" dirty="0">
                <a:solidFill>
                  <a:srgbClr val="1F1E1D"/>
                </a:solidFill>
                <a:latin typeface="Yu Gothic" pitchFamily="34" charset="0"/>
                <a:ea typeface="Yu Gothic" pitchFamily="34" charset="-122"/>
                <a:cs typeface="Yu Gothic" pitchFamily="34" charset="-120"/>
              </a:rPr>
              <a:t>AIの出力は「提案」。採否は必ず実機で触って決める。品質の基準（一覧性・絵柄の統一・信頼度）は人が言葉にして渡す。</a:t>
            </a:r>
            <a:endParaRPr lang="en-US" sz="125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857D"/>
                </a:solidFill>
                <a:latin typeface="Yu Gothic" pitchFamily="34" charset="0"/>
                <a:ea typeface="Yu Gothic" pitchFamily="34" charset="-122"/>
                <a:cs typeface="Yu Gothic" pitchFamily="34" charset="-120"/>
              </a:rPr>
              <a:t>BITEMAP ｜ 2026 AI Innovators Cup @ Shibaura 決勝</a:t>
            </a:r>
            <a:endParaRPr lang="en-US" sz="900" dirty="0"/>
          </a:p>
        </p:txBody>
      </p:sp>
      <p:sp>
        <p:nvSpPr>
          <p:cNvPr id="7" name="Text 4"/>
          <p:cNvSpPr txBox="1"/>
          <p:nvPr/>
        </p:nvSpPr>
        <p:spPr>
          <a:xfrm>
            <a:off x="11155680" y="6446520"/>
            <a:ext cx="457200" cy="274320"/>
          </a:xfrm>
          <a:prstGeom prst="rect">
            <a:avLst/>
          </a:prstGeom>
          <a:noFill/>
          <a:ln/>
        </p:spPr>
        <p:txBody>
          <a:bodyPr wrap="square" lIns="0" tIns="0" rIns="0" bIns="0" rtlCol="0" anchor="ctr"/>
          <a:lstStyle/>
          <a:p>
            <a:pPr algn="r" indent="0" marL="0">
              <a:buNone/>
            </a:pPr>
            <a:r>
              <a:rPr lang="en-US" sz="900" dirty="0">
                <a:solidFill>
                  <a:srgbClr val="8A857D"/>
                </a:solidFill>
                <a:latin typeface="Yu Gothic" pitchFamily="34" charset="0"/>
                <a:ea typeface="Yu Gothic" pitchFamily="34" charset="-122"/>
                <a:cs typeface="Yu Gothic"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2026-09-22T18:06:12Z</dcterms:created>
  <dcterms:modified xsi:type="dcterms:W3CDTF">2026-09-22T18:06:12Z</dcterms:modified>
</cp:coreProperties>
</file>